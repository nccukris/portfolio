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67" r:id="rId3"/>
    <p:sldId id="294" r:id="rId4"/>
    <p:sldId id="295" r:id="rId5"/>
    <p:sldId id="263" r:id="rId6"/>
    <p:sldId id="297" r:id="rId7"/>
    <p:sldId id="298" r:id="rId8"/>
    <p:sldId id="299" r:id="rId9"/>
    <p:sldId id="260" r:id="rId10"/>
    <p:sldId id="266" r:id="rId11"/>
    <p:sldId id="272" r:id="rId12"/>
    <p:sldId id="273" r:id="rId13"/>
    <p:sldId id="269"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62" r:id="rId34"/>
    <p:sldId id="271" r:id="rId35"/>
    <p:sldId id="296" r:id="rId36"/>
    <p:sldId id="293" r:id="rId37"/>
  </p:sldIdLst>
  <p:sldSz cx="9144000" cy="5143500" type="screen16x9"/>
  <p:notesSz cx="6858000" cy="9144000"/>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804">
          <p15:clr>
            <a:srgbClr val="A4A3A4"/>
          </p15:clr>
        </p15:guide>
        <p15:guide id="2" orient="horz" pos="2436">
          <p15:clr>
            <a:srgbClr val="A4A3A4"/>
          </p15:clr>
        </p15:guide>
        <p15:guide id="3" orient="horz" pos="1620">
          <p15:clr>
            <a:srgbClr val="A4A3A4"/>
          </p15:clr>
        </p15:guide>
        <p15:guide id="4" pos="4332">
          <p15:clr>
            <a:srgbClr val="A4A3A4"/>
          </p15:clr>
        </p15:guide>
        <p15:guide id="5" pos="1429">
          <p15:clr>
            <a:srgbClr val="A4A3A4"/>
          </p15:clr>
        </p15:guide>
        <p15:guide id="6"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0E0E0"/>
    <a:srgbClr val="F2747E"/>
    <a:srgbClr val="F5CA45"/>
    <a:srgbClr val="FFC000"/>
    <a:srgbClr val="05AFC8"/>
    <a:srgbClr val="6DD1C5"/>
    <a:srgbClr val="FA44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91" d="100"/>
          <a:sy n="91" d="100"/>
        </p:scale>
        <p:origin x="786" y="108"/>
      </p:cViewPr>
      <p:guideLst>
        <p:guide orient="horz" pos="804"/>
        <p:guide orient="horz" pos="2436"/>
        <p:guide orient="horz" pos="1620"/>
        <p:guide pos="4332"/>
        <p:guide pos="1429"/>
        <p:guide pos="2880"/>
      </p:guideLst>
    </p:cSldViewPr>
  </p:slideViewPr>
  <p:notesTextViewPr>
    <p:cViewPr>
      <p:scale>
        <a:sx n="1" d="1"/>
        <a:sy n="1" d="1"/>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D3EDC-DFD0-49DC-8242-32BF09DF6B28}" type="datetimeFigureOut">
              <a:rPr lang="zh-TW" altLang="en-US" smtClean="0"/>
              <a:t>2018/6/6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00215-FCCA-4C09-96F9-998E191A9D6F}" type="slidenum">
              <a:rPr lang="zh-TW" altLang="en-US" smtClean="0"/>
              <a:t>‹#›</a:t>
            </a:fld>
            <a:endParaRPr lang="zh-TW" altLang="en-US"/>
          </a:p>
        </p:txBody>
      </p:sp>
    </p:spTree>
    <p:extLst>
      <p:ext uri="{BB962C8B-B14F-4D97-AF65-F5344CB8AC3E}">
        <p14:creationId xmlns:p14="http://schemas.microsoft.com/office/powerpoint/2010/main" val="67496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B700215-FCCA-4C09-96F9-998E191A9D6F}" type="slidenum">
              <a:rPr lang="zh-TW" altLang="en-US" smtClean="0"/>
              <a:t>3</a:t>
            </a:fld>
            <a:endParaRPr lang="zh-TW" altLang="en-US"/>
          </a:p>
        </p:txBody>
      </p:sp>
    </p:spTree>
    <p:extLst>
      <p:ext uri="{BB962C8B-B14F-4D97-AF65-F5344CB8AC3E}">
        <p14:creationId xmlns:p14="http://schemas.microsoft.com/office/powerpoint/2010/main" val="102935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B700215-FCCA-4C09-96F9-998E191A9D6F}" type="slidenum">
              <a:rPr lang="zh-TW" altLang="en-US" smtClean="0"/>
              <a:t>4</a:t>
            </a:fld>
            <a:endParaRPr lang="zh-TW" altLang="en-US"/>
          </a:p>
        </p:txBody>
      </p:sp>
    </p:spTree>
    <p:extLst>
      <p:ext uri="{BB962C8B-B14F-4D97-AF65-F5344CB8AC3E}">
        <p14:creationId xmlns:p14="http://schemas.microsoft.com/office/powerpoint/2010/main" val="81352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B700215-FCCA-4C09-96F9-998E191A9D6F}" type="slidenum">
              <a:rPr lang="zh-TW" altLang="en-US" smtClean="0"/>
              <a:t>6</a:t>
            </a:fld>
            <a:endParaRPr lang="zh-TW" altLang="en-US"/>
          </a:p>
        </p:txBody>
      </p:sp>
    </p:spTree>
    <p:extLst>
      <p:ext uri="{BB962C8B-B14F-4D97-AF65-F5344CB8AC3E}">
        <p14:creationId xmlns:p14="http://schemas.microsoft.com/office/powerpoint/2010/main" val="118198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B700215-FCCA-4C09-96F9-998E191A9D6F}" type="slidenum">
              <a:rPr lang="zh-TW" altLang="en-US" smtClean="0"/>
              <a:t>8</a:t>
            </a:fld>
            <a:endParaRPr lang="zh-TW" altLang="en-US"/>
          </a:p>
        </p:txBody>
      </p:sp>
    </p:spTree>
    <p:extLst>
      <p:ext uri="{BB962C8B-B14F-4D97-AF65-F5344CB8AC3E}">
        <p14:creationId xmlns:p14="http://schemas.microsoft.com/office/powerpoint/2010/main" val="54824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B700215-FCCA-4C09-96F9-998E191A9D6F}" type="slidenum">
              <a:rPr lang="zh-TW" altLang="en-US" smtClean="0"/>
              <a:t>31</a:t>
            </a:fld>
            <a:endParaRPr lang="zh-TW" altLang="en-US"/>
          </a:p>
        </p:txBody>
      </p:sp>
    </p:spTree>
    <p:extLst>
      <p:ext uri="{BB962C8B-B14F-4D97-AF65-F5344CB8AC3E}">
        <p14:creationId xmlns:p14="http://schemas.microsoft.com/office/powerpoint/2010/main" val="894459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B700215-FCCA-4C09-96F9-998E191A9D6F}" type="slidenum">
              <a:rPr lang="zh-TW" altLang="en-US" smtClean="0"/>
              <a:t>32</a:t>
            </a:fld>
            <a:endParaRPr lang="zh-TW" altLang="en-US"/>
          </a:p>
        </p:txBody>
      </p:sp>
    </p:spTree>
    <p:extLst>
      <p:ext uri="{BB962C8B-B14F-4D97-AF65-F5344CB8AC3E}">
        <p14:creationId xmlns:p14="http://schemas.microsoft.com/office/powerpoint/2010/main" val="1430940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B700215-FCCA-4C09-96F9-998E191A9D6F}" type="slidenum">
              <a:rPr lang="zh-TW" altLang="en-US" smtClean="0"/>
              <a:t>35</a:t>
            </a:fld>
            <a:endParaRPr lang="zh-TW" altLang="en-US"/>
          </a:p>
        </p:txBody>
      </p:sp>
    </p:spTree>
    <p:extLst>
      <p:ext uri="{BB962C8B-B14F-4D97-AF65-F5344CB8AC3E}">
        <p14:creationId xmlns:p14="http://schemas.microsoft.com/office/powerpoint/2010/main" val="1900090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046A25A6-B6C2-4919-BB44-76CD9F434386}"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2967065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C59B2C09-8377-4DAC-B297-C262D23DF423}"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122940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1B1E1D71-1B49-4248-8410-16B0ACBD585F}"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3152325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A1010DFC-2EC5-489E-A8DE-F839042E3DF0}"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4034499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265DCB7B-53CC-46C7-A2CD-3C49F4740179}"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220207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88BBFB96-87BC-4ED8-AB1A-D14A00A40558}"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1730938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8E0FB145-661E-4A25-A42E-A2A85C2BD7F5}"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2582112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56CDFD61-B17B-49F1-8DDB-225D7A7AB09D}"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39137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1143AD53-AF45-4F54-8253-9F7FE4C80A41}"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728693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7DCB6691-E9D3-48CE-8571-CBBE382EAAD6}"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196275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E23809F1-EEC3-420A-BFC6-BEFA04DB55CE}"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862017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3"/>
            <a:ext cx="2133600" cy="274637"/>
          </a:xfrm>
        </p:spPr>
        <p:txBody>
          <a:bodyPr/>
          <a:lstStyle>
            <a:lvl1pPr>
              <a:defRPr/>
            </a:lvl1pPr>
          </a:lstStyle>
          <a:p>
            <a:fld id="{B56E6E29-45B7-4AF6-849B-1A2CC8795401}" type="datetime1">
              <a:rPr lang="zh-CN" altLang="en-US"/>
              <a:pPr/>
              <a:t>2018/6/6</a:t>
            </a:fld>
            <a:endParaRPr lang="zh-CN" altLang="en-US" sz="1800">
              <a:solidFill>
                <a:schemeClr val="tx1"/>
              </a:solidFill>
            </a:endParaRPr>
          </a:p>
        </p:txBody>
      </p:sp>
      <p:sp>
        <p:nvSpPr>
          <p:cNvPr id="4" name="页脚占位符 3"/>
          <p:cNvSpPr>
            <a:spLocks noGrp="1"/>
          </p:cNvSpPr>
          <p:nvPr>
            <p:ph type="ftr" sz="quarter" idx="11"/>
          </p:nvPr>
        </p:nvSpPr>
        <p:spPr>
          <a:xfrm>
            <a:off x="3124200" y="4767263"/>
            <a:ext cx="2895600" cy="274637"/>
          </a:xfrm>
        </p:spPr>
        <p:txBody>
          <a:bodyPr/>
          <a:lstStyle>
            <a:lvl1pPr>
              <a:defRPr/>
            </a:lvl1pPr>
          </a:lstStyle>
          <a:p>
            <a:endParaRPr lang="zh-CN" altLang="zh-CN"/>
          </a:p>
        </p:txBody>
      </p:sp>
      <p:sp>
        <p:nvSpPr>
          <p:cNvPr id="5" name="灯片编号占位符 4"/>
          <p:cNvSpPr>
            <a:spLocks noGrp="1"/>
          </p:cNvSpPr>
          <p:nvPr>
            <p:ph type="sldNum" sz="quarter" idx="12"/>
          </p:nvPr>
        </p:nvSpPr>
        <p:spPr>
          <a:xfrm>
            <a:off x="6553200" y="4767263"/>
            <a:ext cx="2133600" cy="274637"/>
          </a:xfrm>
        </p:spPr>
        <p:txBody>
          <a:bodyPr/>
          <a:lstStyle>
            <a:lvl1pPr>
              <a:defRPr/>
            </a:lvl1pPr>
          </a:lstStyle>
          <a:p>
            <a:fld id="{A557ACEA-8BB9-4C66-80A6-39D6E9455EC7}" type="slidenum">
              <a:rPr lang="zh-CN" altLang="en-US"/>
              <a:pPr/>
              <a:t>‹#›</a:t>
            </a:fld>
            <a:endParaRPr lang="zh-CN" altLang="en-US" sz="1800">
              <a:solidFill>
                <a:schemeClr val="tx1"/>
              </a:solidFill>
            </a:endParaRPr>
          </a:p>
        </p:txBody>
      </p:sp>
    </p:spTree>
    <p:extLst>
      <p:ext uri="{BB962C8B-B14F-4D97-AF65-F5344CB8AC3E}">
        <p14:creationId xmlns:p14="http://schemas.microsoft.com/office/powerpoint/2010/main" val="3424979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smtClean="0">
                <a:sym typeface="Calibri" pitchFamily="34" charset="0"/>
              </a:rPr>
              <a:t>单击此处编辑母版标题样式</a:t>
            </a:r>
          </a:p>
        </p:txBody>
      </p:sp>
      <p:sp>
        <p:nvSpPr>
          <p:cNvPr id="1027" name="文本占位符 2"/>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smtClean="0">
                <a:sym typeface="Calibri" pitchFamily="34" charset="0"/>
              </a:rPr>
              <a:t>单击此处编辑母版文本样式</a:t>
            </a:r>
          </a:p>
          <a:p>
            <a:pPr lvl="1"/>
            <a:r>
              <a:rPr lang="zh-CN" smtClean="0">
                <a:sym typeface="Calibri" pitchFamily="34" charset="0"/>
              </a:rPr>
              <a:t>第二级</a:t>
            </a:r>
          </a:p>
          <a:p>
            <a:pPr lvl="2"/>
            <a:r>
              <a:rPr lang="zh-CN" smtClean="0">
                <a:sym typeface="Calibri" pitchFamily="34" charset="0"/>
              </a:rPr>
              <a:t>第三级</a:t>
            </a:r>
          </a:p>
          <a:p>
            <a:pPr lvl="3"/>
            <a:r>
              <a:rPr lang="zh-CN" smtClean="0">
                <a:sym typeface="Calibri" pitchFamily="34" charset="0"/>
              </a:rPr>
              <a:t>第四级</a:t>
            </a:r>
          </a:p>
          <a:p>
            <a:pPr lvl="4"/>
            <a:r>
              <a:rPr lang="zh-CN" smtClean="0">
                <a:sym typeface="Calibri" pitchFamily="34" charset="0"/>
              </a:rPr>
              <a:t>第五级</a:t>
            </a:r>
          </a:p>
        </p:txBody>
      </p:sp>
      <p:sp>
        <p:nvSpPr>
          <p:cNvPr id="1028" name="日期占位符 3"/>
          <p:cNvSpPr>
            <a:spLocks noGrp="1" noChangeArrowheads="1"/>
          </p:cNvSpPr>
          <p:nvPr>
            <p:ph type="dt" sz="half" idx="2"/>
          </p:nvPr>
        </p:nvSpPr>
        <p:spPr bwMode="auto">
          <a:xfrm>
            <a:off x="457200" y="4767263"/>
            <a:ext cx="2133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B56E6E29-45B7-4AF6-849B-1A2CC8795401}" type="datetime1">
              <a:rPr lang="zh-CN" altLang="en-US"/>
              <a:pPr/>
              <a:t>2018/6/6</a:t>
            </a:fld>
            <a:endParaRPr lang="zh-CN" altLang="en-US" sz="1800">
              <a:solidFill>
                <a:schemeClr val="tx1"/>
              </a:solidFill>
            </a:endParaRPr>
          </a:p>
        </p:txBody>
      </p:sp>
      <p:sp>
        <p:nvSpPr>
          <p:cNvPr id="1029" name="页脚占位符 4"/>
          <p:cNvSpPr>
            <a:spLocks noGrp="1" noChangeArrowheads="1"/>
          </p:cNvSpPr>
          <p:nvPr>
            <p:ph type="ftr" sz="quarter" idx="3"/>
          </p:nvPr>
        </p:nvSpPr>
        <p:spPr bwMode="auto">
          <a:xfrm>
            <a:off x="3124200" y="4767263"/>
            <a:ext cx="2895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98989"/>
                </a:solidFill>
              </a:defRPr>
            </a:lvl1pPr>
          </a:lstStyle>
          <a:p>
            <a:endParaRPr lang="zh-CN" altLang="zh-CN"/>
          </a:p>
        </p:txBody>
      </p:sp>
      <p:sp>
        <p:nvSpPr>
          <p:cNvPr id="1030" name="灯片编号占位符 5"/>
          <p:cNvSpPr>
            <a:spLocks noGrp="1" noChangeArrowheads="1"/>
          </p:cNvSpPr>
          <p:nvPr>
            <p:ph type="sldNum" sz="quarter" idx="4"/>
          </p:nvPr>
        </p:nvSpPr>
        <p:spPr bwMode="auto">
          <a:xfrm>
            <a:off x="6553200" y="4767263"/>
            <a:ext cx="2133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1B0B2CEF-4FE7-4EA7-A65B-EAFB251AAD1C}" type="slidenum">
              <a:rPr lang="zh-CN" altLang="en-US"/>
              <a:pPr/>
              <a:t>‹#›</a:t>
            </a:fld>
            <a:endParaRPr lang="zh-CN" altLang="en-US" sz="1800">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marL="914400" indent="-914400" algn="ctr" rtl="0" fontAlgn="base">
        <a:spcBef>
          <a:spcPct val="0"/>
        </a:spcBef>
        <a:spcAft>
          <a:spcPct val="0"/>
        </a:spcAft>
        <a:defRPr sz="4400">
          <a:solidFill>
            <a:schemeClr val="tx1"/>
          </a:solidFill>
          <a:latin typeface="+mj-lt"/>
          <a:ea typeface="+mj-ea"/>
          <a:cs typeface="+mj-cs"/>
          <a:sym typeface="Calibri" pitchFamily="34" charset="0"/>
        </a:defRPr>
      </a:lvl1pPr>
      <a:lvl2pPr marL="9144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2pPr>
      <a:lvl3pPr marL="9144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3pPr>
      <a:lvl4pPr marL="9144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4pPr>
      <a:lvl5pPr marL="9144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5pPr>
      <a:lvl6pPr marL="13716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6pPr>
      <a:lvl7pPr marL="18288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7pPr>
      <a:lvl8pPr marL="22860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8pPr>
      <a:lvl9pPr marL="2743200" indent="-914400" algn="ctr" rtl="0" fontAlgn="base">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rtl="0" fontAlgn="base">
        <a:spcBef>
          <a:spcPct val="20000"/>
        </a:spcBef>
        <a:spcAft>
          <a:spcPct val="0"/>
        </a:spcAft>
        <a:buFont typeface="Arial" pitchFamily="34" charset="0"/>
        <a:buChar char="•"/>
        <a:defRPr sz="3200">
          <a:solidFill>
            <a:schemeClr val="tx1"/>
          </a:solidFill>
          <a:latin typeface="+mn-lt"/>
          <a:ea typeface="+mn-ea"/>
          <a:cs typeface="+mn-cs"/>
          <a:sym typeface="Calibri" pitchFamily="34" charset="0"/>
        </a:defRPr>
      </a:lvl1pPr>
      <a:lvl2pPr marL="742950" indent="-285750" algn="l" rtl="0" fontAlgn="base">
        <a:spcBef>
          <a:spcPct val="20000"/>
        </a:spcBef>
        <a:spcAft>
          <a:spcPct val="0"/>
        </a:spcAft>
        <a:buFont typeface="Arial" pitchFamily="34" charset="0"/>
        <a:buChar char="–"/>
        <a:defRPr sz="2800">
          <a:solidFill>
            <a:schemeClr val="tx1"/>
          </a:solidFill>
          <a:latin typeface="+mn-lt"/>
          <a:ea typeface="+mn-ea"/>
          <a:sym typeface="Calibri" pitchFamily="34" charset="0"/>
        </a:defRPr>
      </a:lvl2pPr>
      <a:lvl3pPr marL="1143000" indent="-228600" algn="l" rtl="0" fontAlgn="base">
        <a:spcBef>
          <a:spcPct val="20000"/>
        </a:spcBef>
        <a:spcAft>
          <a:spcPct val="0"/>
        </a:spcAft>
        <a:buFont typeface="Arial" pitchFamily="34" charset="0"/>
        <a:buChar char="•"/>
        <a:defRPr sz="2400">
          <a:solidFill>
            <a:schemeClr val="tx1"/>
          </a:solidFill>
          <a:latin typeface="+mn-lt"/>
          <a:ea typeface="+mn-ea"/>
          <a:sym typeface="Calibri" pitchFamily="34" charset="0"/>
        </a:defRPr>
      </a:lvl3pPr>
      <a:lvl4pPr marL="1600200" indent="-228600" algn="l" rtl="0" fontAlgn="base">
        <a:spcBef>
          <a:spcPct val="20000"/>
        </a:spcBef>
        <a:spcAft>
          <a:spcPct val="0"/>
        </a:spcAft>
        <a:buFont typeface="Arial" pitchFamily="34" charset="0"/>
        <a:buChar char="–"/>
        <a:defRPr sz="2000">
          <a:solidFill>
            <a:schemeClr val="tx1"/>
          </a:solidFill>
          <a:latin typeface="+mn-lt"/>
          <a:ea typeface="+mn-ea"/>
          <a:sym typeface="Calibri" pitchFamily="34" charset="0"/>
        </a:defRPr>
      </a:lvl4pPr>
      <a:lvl5pPr marL="2057400" indent="-228600" algn="l" rtl="0" fontAlgn="base">
        <a:spcBef>
          <a:spcPct val="20000"/>
        </a:spcBef>
        <a:spcAft>
          <a:spcPct val="0"/>
        </a:spcAft>
        <a:buFont typeface="Arial" pitchFamily="34" charset="0"/>
        <a:buChar char="»"/>
        <a:defRPr sz="2000">
          <a:solidFill>
            <a:schemeClr val="tx1"/>
          </a:solidFill>
          <a:latin typeface="+mn-lt"/>
          <a:ea typeface="+mn-ea"/>
          <a:sym typeface="Calibri" pitchFamily="34" charset="0"/>
        </a:defRPr>
      </a:lvl5pPr>
      <a:lvl6pPr marL="2514600" indent="-228600" algn="l" rtl="0" fontAlgn="base">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rtl="0" fontAlgn="base">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rtl="0" fontAlgn="base">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rtl="0" fontAlgn="base">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41"/>
          <p:cNvSpPr>
            <a:spLocks noChangeArrowheads="1"/>
          </p:cNvSpPr>
          <p:nvPr/>
        </p:nvSpPr>
        <p:spPr bwMode="auto">
          <a:xfrm>
            <a:off x="0" y="-34925"/>
            <a:ext cx="9144000" cy="5272088"/>
          </a:xfrm>
          <a:prstGeom prst="rect">
            <a:avLst/>
          </a:prstGeom>
          <a:solidFill>
            <a:srgbClr val="000000">
              <a:alpha val="12000"/>
            </a:srgbClr>
          </a:solidFill>
          <a:ln>
            <a:noFill/>
          </a:ln>
          <a:extLst>
            <a:ext uri="{91240B29-F687-4F45-9708-019B960494DF}">
              <a14:hiddenLine xmlns:a14="http://schemas.microsoft.com/office/drawing/2010/main" w="25400" cap="flat" cmpd="sng">
                <a:solidFill>
                  <a:srgbClr val="000000"/>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3075" name="矩形 1"/>
          <p:cNvSpPr>
            <a:spLocks noChangeArrowheads="1"/>
          </p:cNvSpPr>
          <p:nvPr/>
        </p:nvSpPr>
        <p:spPr bwMode="auto">
          <a:xfrm>
            <a:off x="-71438" y="-19050"/>
            <a:ext cx="9253538" cy="2282825"/>
          </a:xfrm>
          <a:prstGeom prst="rect">
            <a:avLst/>
          </a:prstGeom>
          <a:solidFill>
            <a:schemeClr val="bg2"/>
          </a:solidFill>
          <a:ln w="12700" cap="flat" cmpd="sng">
            <a:solidFill>
              <a:schemeClr val="bg1"/>
            </a:solidFill>
            <a:bevel/>
            <a:headEnd/>
            <a:tailEnd/>
          </a:ln>
        </p:spPr>
        <p:txBody>
          <a:bodyPr anchor="ctr"/>
          <a:lstStyle/>
          <a:p>
            <a:pPr algn="ctr"/>
            <a:endParaRPr lang="zh-CN" altLang="zh-CN">
              <a:solidFill>
                <a:srgbClr val="FFFFFF"/>
              </a:solidFill>
              <a:latin typeface="宋体" pitchFamily="2" charset="-122"/>
              <a:sym typeface="宋体" pitchFamily="2" charset="-122"/>
            </a:endParaRPr>
          </a:p>
        </p:txBody>
      </p:sp>
      <p:sp>
        <p:nvSpPr>
          <p:cNvPr id="3076" name="直接连接符 16"/>
          <p:cNvSpPr>
            <a:spLocks noChangeShapeType="1"/>
          </p:cNvSpPr>
          <p:nvPr/>
        </p:nvSpPr>
        <p:spPr bwMode="auto">
          <a:xfrm flipH="1">
            <a:off x="3851275" y="1131888"/>
            <a:ext cx="635000" cy="0"/>
          </a:xfrm>
          <a:prstGeom prst="line">
            <a:avLst/>
          </a:prstGeom>
          <a:noFill/>
          <a:ln w="12700" cap="flat" cmpd="sng">
            <a:solidFill>
              <a:schemeClr val="bg1"/>
            </a:solidFill>
            <a:prstDash val="sysDash"/>
            <a:bevel/>
            <a:headEnd/>
            <a:tail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3077" name="组合 38"/>
          <p:cNvGrpSpPr>
            <a:grpSpLocks/>
          </p:cNvGrpSpPr>
          <p:nvPr/>
        </p:nvGrpSpPr>
        <p:grpSpPr bwMode="auto">
          <a:xfrm>
            <a:off x="3736975" y="411163"/>
            <a:ext cx="1670050" cy="1439862"/>
            <a:chOff x="0" y="0"/>
            <a:chExt cx="1670586" cy="1440160"/>
          </a:xfrm>
        </p:grpSpPr>
        <p:sp>
          <p:nvSpPr>
            <p:cNvPr id="3078" name="六边形 2"/>
            <p:cNvSpPr>
              <a:spLocks noChangeArrowheads="1"/>
            </p:cNvSpPr>
            <p:nvPr/>
          </p:nvSpPr>
          <p:spPr bwMode="auto">
            <a:xfrm>
              <a:off x="0" y="0"/>
              <a:ext cx="1670586" cy="1440160"/>
            </a:xfrm>
            <a:prstGeom prst="hexagon">
              <a:avLst>
                <a:gd name="adj" fmla="val 24999"/>
                <a:gd name="vf" fmla="val 115470"/>
              </a:avLst>
            </a:prstGeom>
            <a:solidFill>
              <a:srgbClr val="3C3C37"/>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3079" name="直接连接符 4"/>
            <p:cNvSpPr>
              <a:spLocks noChangeShapeType="1"/>
            </p:cNvSpPr>
            <p:nvPr/>
          </p:nvSpPr>
          <p:spPr bwMode="auto">
            <a:xfrm flipV="1">
              <a:off x="832476" y="125678"/>
              <a:ext cx="403245" cy="576064"/>
            </a:xfrm>
            <a:prstGeom prst="line">
              <a:avLst/>
            </a:prstGeom>
            <a:noFill/>
            <a:ln w="12700" cap="flat" cmpd="sng">
              <a:solidFill>
                <a:schemeClr val="bg1"/>
              </a:solidFill>
              <a:prstDash val="sysDash"/>
              <a:bevel/>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080" name="直接连接符 6"/>
            <p:cNvSpPr>
              <a:spLocks noChangeShapeType="1"/>
            </p:cNvSpPr>
            <p:nvPr/>
          </p:nvSpPr>
          <p:spPr bwMode="auto">
            <a:xfrm flipV="1">
              <a:off x="962090" y="720080"/>
              <a:ext cx="547261" cy="10269"/>
            </a:xfrm>
            <a:prstGeom prst="line">
              <a:avLst/>
            </a:prstGeom>
            <a:noFill/>
            <a:ln w="12700" cap="flat" cmpd="sng">
              <a:solidFill>
                <a:schemeClr val="bg1"/>
              </a:solidFill>
              <a:prstDash val="sysDash"/>
              <a:bevel/>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081" name="直接连接符 8"/>
            <p:cNvSpPr>
              <a:spLocks noChangeShapeType="1"/>
            </p:cNvSpPr>
            <p:nvPr/>
          </p:nvSpPr>
          <p:spPr bwMode="auto">
            <a:xfrm>
              <a:off x="832476" y="748757"/>
              <a:ext cx="403245" cy="556642"/>
            </a:xfrm>
            <a:prstGeom prst="line">
              <a:avLst/>
            </a:prstGeom>
            <a:noFill/>
            <a:ln w="12700" cap="flat" cmpd="sng">
              <a:solidFill>
                <a:schemeClr val="bg1"/>
              </a:solidFill>
              <a:prstDash val="sysDash"/>
              <a:bevel/>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082" name="直接连接符 12"/>
            <p:cNvSpPr>
              <a:spLocks noChangeShapeType="1"/>
            </p:cNvSpPr>
            <p:nvPr/>
          </p:nvSpPr>
          <p:spPr bwMode="auto">
            <a:xfrm flipH="1">
              <a:off x="432048" y="730349"/>
              <a:ext cx="388843" cy="575320"/>
            </a:xfrm>
            <a:prstGeom prst="line">
              <a:avLst/>
            </a:prstGeom>
            <a:noFill/>
            <a:ln w="12700" cap="flat" cmpd="sng">
              <a:solidFill>
                <a:schemeClr val="bg1"/>
              </a:solidFill>
              <a:prstDash val="sysDash"/>
              <a:bevel/>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083" name="直接连接符 18"/>
            <p:cNvSpPr>
              <a:spLocks noChangeShapeType="1"/>
            </p:cNvSpPr>
            <p:nvPr/>
          </p:nvSpPr>
          <p:spPr bwMode="auto">
            <a:xfrm flipH="1" flipV="1">
              <a:off x="432048" y="144016"/>
              <a:ext cx="403245" cy="576064"/>
            </a:xfrm>
            <a:prstGeom prst="line">
              <a:avLst/>
            </a:prstGeom>
            <a:noFill/>
            <a:ln w="12700" cap="flat" cmpd="sng">
              <a:solidFill>
                <a:schemeClr val="bg1"/>
              </a:solidFill>
              <a:prstDash val="sysDash"/>
              <a:bevel/>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084" name="流程图: 联系 33"/>
            <p:cNvSpPr>
              <a:spLocks noChangeArrowheads="1"/>
            </p:cNvSpPr>
            <p:nvPr/>
          </p:nvSpPr>
          <p:spPr bwMode="auto">
            <a:xfrm>
              <a:off x="447154" y="360040"/>
              <a:ext cx="748179" cy="748179"/>
            </a:xfrm>
            <a:prstGeom prst="flowChartConnector">
              <a:avLst/>
            </a:prstGeom>
            <a:solidFill>
              <a:srgbClr val="3C3C37"/>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3085" name="TextBox 34"/>
            <p:cNvSpPr>
              <a:spLocks noChangeArrowheads="1"/>
            </p:cNvSpPr>
            <p:nvPr/>
          </p:nvSpPr>
          <p:spPr bwMode="auto">
            <a:xfrm>
              <a:off x="195830" y="550803"/>
              <a:ext cx="12501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TW" altLang="en-US" sz="1600" b="1" dirty="0" smtClean="0">
                  <a:solidFill>
                    <a:schemeClr val="bg1"/>
                  </a:solidFill>
                  <a:latin typeface="Calibri" pitchFamily="34" charset="0"/>
                  <a:sym typeface="宋体" pitchFamily="2" charset="-122"/>
                </a:rPr>
                <a:t>第十組</a:t>
              </a:r>
              <a:endParaRPr lang="zh-CN" altLang="en-US" sz="1600" b="1" dirty="0">
                <a:solidFill>
                  <a:schemeClr val="bg1"/>
                </a:solidFill>
                <a:latin typeface="Calibri" pitchFamily="34" charset="0"/>
                <a:sym typeface="宋体" pitchFamily="2" charset="-122"/>
              </a:endParaRPr>
            </a:p>
          </p:txBody>
        </p:sp>
        <p:sp>
          <p:nvSpPr>
            <p:cNvPr id="3086" name="六边形 35"/>
            <p:cNvSpPr>
              <a:spLocks noChangeArrowheads="1"/>
            </p:cNvSpPr>
            <p:nvPr/>
          </p:nvSpPr>
          <p:spPr bwMode="auto">
            <a:xfrm>
              <a:off x="70076" y="52570"/>
              <a:ext cx="1524799" cy="1314482"/>
            </a:xfrm>
            <a:prstGeom prst="hexagon">
              <a:avLst>
                <a:gd name="adj" fmla="val 24999"/>
                <a:gd name="vf" fmla="val 115470"/>
              </a:avLst>
            </a:prstGeom>
            <a:noFill/>
            <a:ln w="3175" cap="flat" cmpd="sng">
              <a:solidFill>
                <a:srgbClr val="7F7F7F"/>
              </a:solidFill>
              <a:prstDash val="sysDot"/>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3087" name="TextBox 53"/>
          <p:cNvSpPr>
            <a:spLocks noChangeArrowheads="1"/>
          </p:cNvSpPr>
          <p:nvPr/>
        </p:nvSpPr>
        <p:spPr bwMode="auto">
          <a:xfrm>
            <a:off x="957263" y="2495550"/>
            <a:ext cx="72009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sz="3600" b="1" dirty="0" smtClean="0">
                <a:solidFill>
                  <a:srgbClr val="595959"/>
                </a:solidFill>
                <a:latin typeface="方正小标宋简体" pitchFamily="2" charset="-122"/>
                <a:ea typeface="方正小标宋简体" pitchFamily="2" charset="-122"/>
                <a:sym typeface="方正小标宋简体" pitchFamily="2" charset="-122"/>
              </a:rPr>
              <a:t>新聞標題文字及內容分析</a:t>
            </a:r>
            <a:endParaRPr lang="zh-CN" altLang="en-US" sz="3600" b="1" dirty="0">
              <a:solidFill>
                <a:srgbClr val="595959"/>
              </a:solidFill>
              <a:latin typeface="方正小标宋简体" pitchFamily="2" charset="-122"/>
              <a:ea typeface="方正小标宋简体" pitchFamily="2" charset="-122"/>
              <a:sym typeface="方正小标宋简体" pitchFamily="2" charset="-122"/>
            </a:endParaRPr>
          </a:p>
        </p:txBody>
      </p:sp>
      <p:sp>
        <p:nvSpPr>
          <p:cNvPr id="3088" name="矩形 37"/>
          <p:cNvSpPr>
            <a:spLocks noChangeArrowheads="1"/>
          </p:cNvSpPr>
          <p:nvPr/>
        </p:nvSpPr>
        <p:spPr bwMode="auto">
          <a:xfrm>
            <a:off x="3363235" y="3143250"/>
            <a:ext cx="240482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50000"/>
              </a:lnSpc>
            </a:pPr>
            <a:r>
              <a:rPr lang="zh-TW" altLang="en-US" sz="1400" dirty="0" smtClean="0">
                <a:solidFill>
                  <a:srgbClr val="595959"/>
                </a:solidFill>
                <a:ea typeface="Arial Unicode MS" pitchFamily="34" charset="-122"/>
                <a:cs typeface="Arial Unicode MS" pitchFamily="34" charset="-122"/>
                <a:sym typeface="Arial" pitchFamily="34" charset="0"/>
              </a:rPr>
              <a:t>組員</a:t>
            </a:r>
            <a:endParaRPr lang="en-US" altLang="zh-TW" sz="1400" dirty="0" smtClean="0">
              <a:solidFill>
                <a:srgbClr val="595959"/>
              </a:solidFill>
              <a:ea typeface="Arial Unicode MS" pitchFamily="34" charset="-122"/>
              <a:cs typeface="Arial Unicode MS" pitchFamily="34" charset="-122"/>
              <a:sym typeface="Arial" pitchFamily="34" charset="0"/>
            </a:endParaRPr>
          </a:p>
          <a:p>
            <a:pPr algn="ctr">
              <a:lnSpc>
                <a:spcPct val="150000"/>
              </a:lnSpc>
            </a:pPr>
            <a:r>
              <a:rPr lang="zh-TW" altLang="en-US" sz="1400" dirty="0" smtClean="0">
                <a:solidFill>
                  <a:srgbClr val="595959"/>
                </a:solidFill>
                <a:ea typeface="Arial Unicode MS" pitchFamily="34" charset="-122"/>
                <a:cs typeface="Arial Unicode MS" pitchFamily="34" charset="-122"/>
                <a:sym typeface="Arial" pitchFamily="34" charset="0"/>
              </a:rPr>
              <a:t> </a:t>
            </a:r>
            <a:r>
              <a:rPr lang="en-US" altLang="zh-TW" sz="1400" dirty="0" smtClean="0">
                <a:solidFill>
                  <a:srgbClr val="595959"/>
                </a:solidFill>
                <a:ea typeface="Arial Unicode MS" pitchFamily="34" charset="-122"/>
                <a:cs typeface="Arial Unicode MS" pitchFamily="34" charset="-122"/>
                <a:sym typeface="Arial" pitchFamily="34" charset="0"/>
              </a:rPr>
              <a:t>104304041 </a:t>
            </a:r>
            <a:r>
              <a:rPr lang="zh-TW" altLang="en-US" sz="1400" dirty="0">
                <a:solidFill>
                  <a:srgbClr val="595959"/>
                </a:solidFill>
                <a:ea typeface="Arial Unicode MS" pitchFamily="34" charset="-122"/>
                <a:cs typeface="Arial Unicode MS" pitchFamily="34" charset="-122"/>
                <a:sym typeface="Arial" pitchFamily="34" charset="0"/>
              </a:rPr>
              <a:t>統計三 陳庭偉  </a:t>
            </a:r>
            <a:endParaRPr lang="en-US" altLang="zh-TW" sz="1400" dirty="0" smtClean="0">
              <a:solidFill>
                <a:srgbClr val="595959"/>
              </a:solidFill>
              <a:ea typeface="Arial Unicode MS" pitchFamily="34" charset="-122"/>
              <a:cs typeface="Arial Unicode MS" pitchFamily="34" charset="-122"/>
              <a:sym typeface="Arial" pitchFamily="34" charset="0"/>
            </a:endParaRPr>
          </a:p>
          <a:p>
            <a:pPr algn="ctr">
              <a:lnSpc>
                <a:spcPct val="150000"/>
              </a:lnSpc>
            </a:pPr>
            <a:r>
              <a:rPr lang="zh-TW" altLang="en-US" sz="1400" dirty="0" smtClean="0">
                <a:solidFill>
                  <a:srgbClr val="595959"/>
                </a:solidFill>
                <a:ea typeface="Arial Unicode MS" pitchFamily="34" charset="-122"/>
                <a:cs typeface="Arial Unicode MS" pitchFamily="34" charset="-122"/>
                <a:sym typeface="Arial" pitchFamily="34" charset="0"/>
              </a:rPr>
              <a:t> </a:t>
            </a:r>
            <a:r>
              <a:rPr lang="en-US" altLang="zh-TW" sz="1400" dirty="0" smtClean="0">
                <a:solidFill>
                  <a:srgbClr val="595959"/>
                </a:solidFill>
                <a:ea typeface="Arial Unicode MS" pitchFamily="34" charset="-122"/>
                <a:cs typeface="Arial Unicode MS" pitchFamily="34" charset="-122"/>
                <a:sym typeface="Arial" pitchFamily="34" charset="0"/>
              </a:rPr>
              <a:t>103304040 </a:t>
            </a:r>
            <a:r>
              <a:rPr lang="zh-TW" altLang="en-US" sz="1400" dirty="0">
                <a:solidFill>
                  <a:srgbClr val="595959"/>
                </a:solidFill>
                <a:ea typeface="Arial Unicode MS" pitchFamily="34" charset="-122"/>
                <a:cs typeface="Arial Unicode MS" pitchFamily="34" charset="-122"/>
                <a:sym typeface="Arial" pitchFamily="34" charset="0"/>
              </a:rPr>
              <a:t>統計四 陳立昕  </a:t>
            </a:r>
            <a:endParaRPr lang="en-US" altLang="zh-TW" sz="1400" dirty="0">
              <a:solidFill>
                <a:srgbClr val="595959"/>
              </a:solidFill>
              <a:ea typeface="Arial Unicode MS" pitchFamily="34" charset="-122"/>
              <a:cs typeface="Arial Unicode MS" pitchFamily="34" charset="-122"/>
              <a:sym typeface="Arial" pitchFamily="34" charset="0"/>
            </a:endParaRPr>
          </a:p>
          <a:p>
            <a:pPr algn="ctr">
              <a:lnSpc>
                <a:spcPct val="150000"/>
              </a:lnSpc>
            </a:pPr>
            <a:r>
              <a:rPr lang="en-US" altLang="zh-TW" sz="1400" dirty="0" smtClean="0">
                <a:solidFill>
                  <a:srgbClr val="595959"/>
                </a:solidFill>
                <a:ea typeface="Arial Unicode MS" pitchFamily="34" charset="-122"/>
                <a:cs typeface="Arial Unicode MS" pitchFamily="34" charset="-122"/>
                <a:sym typeface="Arial" pitchFamily="34" charset="0"/>
              </a:rPr>
              <a:t>106306152 </a:t>
            </a:r>
            <a:r>
              <a:rPr lang="zh-TW" altLang="en-US" sz="1400" dirty="0">
                <a:solidFill>
                  <a:srgbClr val="595959"/>
                </a:solidFill>
                <a:ea typeface="Arial Unicode MS" pitchFamily="34" charset="-122"/>
                <a:cs typeface="Arial Unicode MS" pitchFamily="34" charset="-122"/>
                <a:sym typeface="Arial" pitchFamily="34" charset="0"/>
              </a:rPr>
              <a:t>資管選 邱怡禎 </a:t>
            </a:r>
            <a:endParaRPr lang="en-US" sz="1400" dirty="0">
              <a:solidFill>
                <a:srgbClr val="595959"/>
              </a:solidFill>
              <a:ea typeface="Arial Unicode MS" pitchFamily="34" charset="-122"/>
              <a:cs typeface="Arial Unicode MS" pitchFamily="34" charset="-122"/>
              <a:sym typeface="Arial" pitchFamily="34" charset="0"/>
            </a:endParaRPr>
          </a:p>
        </p:txBody>
      </p:sp>
      <p:sp>
        <p:nvSpPr>
          <p:cNvPr id="3089" name="直接连接符 39"/>
          <p:cNvSpPr>
            <a:spLocks noChangeShapeType="1"/>
          </p:cNvSpPr>
          <p:nvPr/>
        </p:nvSpPr>
        <p:spPr bwMode="auto">
          <a:xfrm>
            <a:off x="3921125" y="1123950"/>
            <a:ext cx="274638" cy="12700"/>
          </a:xfrm>
          <a:prstGeom prst="line">
            <a:avLst/>
          </a:prstGeom>
          <a:noFill/>
          <a:ln w="12700" cap="flat" cmpd="sng">
            <a:solidFill>
              <a:schemeClr val="bg1"/>
            </a:solidFill>
            <a:prstDash val="sysDash"/>
            <a:bevel/>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090" name="TextBox 42"/>
          <p:cNvSpPr>
            <a:spLocks noChangeArrowheads="1"/>
          </p:cNvSpPr>
          <p:nvPr/>
        </p:nvSpPr>
        <p:spPr bwMode="auto">
          <a:xfrm>
            <a:off x="3819525" y="1778000"/>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dist"/>
            <a:r>
              <a:rPr lang="en-US" sz="5400" b="1" dirty="0">
                <a:solidFill>
                  <a:srgbClr val="05AFC8"/>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FC000"/>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A4453"/>
                </a:solidFill>
                <a:latin typeface="微软雅黑" pitchFamily="34" charset="-122"/>
                <a:ea typeface="微软雅黑" pitchFamily="34" charset="-122"/>
                <a:sym typeface="微软雅黑" pitchFamily="34" charset="-122"/>
              </a:rPr>
              <a:t>·</a:t>
            </a:r>
            <a:endParaRPr lang="zh-CN" altLang="en-US" sz="5400" b="1" dirty="0">
              <a:solidFill>
                <a:srgbClr val="FA4453"/>
              </a:solidFill>
              <a:latin typeface="微软雅黑" pitchFamily="34" charset="-122"/>
              <a:ea typeface="微软雅黑" pitchFamily="34" charset="-122"/>
              <a:sym typeface="微软雅黑" pitchFamily="34" charset="-122"/>
            </a:endParaRPr>
          </a:p>
        </p:txBody>
      </p:sp>
    </p:spTree>
  </p:cSld>
  <p:clrMapOvr>
    <a:masterClrMapping/>
  </p:clrMapOvr>
  <p:transition spd="slow">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sp>
        <p:nvSpPr>
          <p:cNvPr id="4100" name="直接连接符 5"/>
          <p:cNvSpPr>
            <a:spLocks noChangeShapeType="1"/>
          </p:cNvSpPr>
          <p:nvPr/>
        </p:nvSpPr>
        <p:spPr bwMode="auto">
          <a:xfrm>
            <a:off x="755650" y="771525"/>
            <a:ext cx="7705725" cy="0"/>
          </a:xfrm>
          <a:prstGeom prst="line">
            <a:avLst/>
          </a:prstGeom>
          <a:noFill/>
          <a:ln w="9525" cap="flat" cmpd="sng">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 name="直接连接符 7"/>
          <p:cNvSpPr>
            <a:spLocks noChangeShapeType="1"/>
          </p:cNvSpPr>
          <p:nvPr/>
        </p:nvSpPr>
        <p:spPr bwMode="auto">
          <a:xfrm flipV="1">
            <a:off x="1646238" y="339725"/>
            <a:ext cx="0" cy="288925"/>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2" name="TextBox 10"/>
          <p:cNvSpPr>
            <a:spLocks noChangeArrowheads="1"/>
          </p:cNvSpPr>
          <p:nvPr/>
        </p:nvSpPr>
        <p:spPr bwMode="auto">
          <a:xfrm>
            <a:off x="909638" y="282575"/>
            <a:ext cx="7826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sz="2000" b="1" dirty="0">
                <a:solidFill>
                  <a:srgbClr val="3F3F3F"/>
                </a:solidFill>
                <a:latin typeface="微软雅黑" pitchFamily="34" charset="-122"/>
                <a:ea typeface="微软雅黑" pitchFamily="34" charset="-122"/>
                <a:sym typeface="微软雅黑" pitchFamily="34" charset="-122"/>
              </a:rPr>
              <a:t>目錄</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4103" name="TextBox 11"/>
          <p:cNvSpPr>
            <a:spLocks noChangeArrowheads="1"/>
          </p:cNvSpPr>
          <p:nvPr/>
        </p:nvSpPr>
        <p:spPr bwMode="auto">
          <a:xfrm>
            <a:off x="1692275" y="330200"/>
            <a:ext cx="1511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b="1">
                <a:solidFill>
                  <a:srgbClr val="3F3F3F"/>
                </a:solidFill>
                <a:latin typeface="微软雅黑" pitchFamily="34" charset="-122"/>
                <a:ea typeface="微软雅黑" pitchFamily="34" charset="-122"/>
                <a:sym typeface="微软雅黑" pitchFamily="34" charset="-122"/>
              </a:rPr>
              <a:t>Contents</a:t>
            </a:r>
            <a:endParaRPr lang="zh-CN" altLang="en-US" b="1">
              <a:solidFill>
                <a:srgbClr val="3F3F3F"/>
              </a:solidFill>
              <a:latin typeface="微软雅黑" pitchFamily="34" charset="-122"/>
              <a:ea typeface="微软雅黑" pitchFamily="34" charset="-122"/>
              <a:sym typeface="微软雅黑" pitchFamily="34" charset="-122"/>
            </a:endParaRPr>
          </a:p>
        </p:txBody>
      </p:sp>
      <p:sp>
        <p:nvSpPr>
          <p:cNvPr id="4104" name="流程图: 联系 9"/>
          <p:cNvSpPr>
            <a:spLocks noChangeArrowheads="1"/>
          </p:cNvSpPr>
          <p:nvPr/>
        </p:nvSpPr>
        <p:spPr bwMode="auto">
          <a:xfrm>
            <a:off x="5992289" y="1454268"/>
            <a:ext cx="1008063" cy="1009650"/>
          </a:xfrm>
          <a:prstGeom prst="flowChartConnector">
            <a:avLst/>
          </a:prstGeom>
          <a:solidFill>
            <a:srgbClr val="05AFC8"/>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dirty="0">
              <a:solidFill>
                <a:srgbClr val="FFFFFF"/>
              </a:solidFill>
              <a:latin typeface="宋体" pitchFamily="2" charset="-122"/>
              <a:sym typeface="宋体" pitchFamily="2" charset="-122"/>
            </a:endParaRPr>
          </a:p>
        </p:txBody>
      </p:sp>
      <p:sp>
        <p:nvSpPr>
          <p:cNvPr id="4106" name="流程图: 联系 14"/>
          <p:cNvSpPr>
            <a:spLocks noChangeArrowheads="1"/>
          </p:cNvSpPr>
          <p:nvPr/>
        </p:nvSpPr>
        <p:spPr bwMode="auto">
          <a:xfrm>
            <a:off x="1588150" y="3401739"/>
            <a:ext cx="1008063" cy="1009650"/>
          </a:xfrm>
          <a:prstGeom prst="flowChartConnector">
            <a:avLst/>
          </a:prstGeom>
          <a:solidFill>
            <a:srgbClr val="FA44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dirty="0">
              <a:solidFill>
                <a:srgbClr val="FFFFFF"/>
              </a:solidFill>
              <a:latin typeface="宋体" pitchFamily="2" charset="-122"/>
              <a:sym typeface="宋体" pitchFamily="2" charset="-122"/>
            </a:endParaRPr>
          </a:p>
        </p:txBody>
      </p:sp>
      <p:sp>
        <p:nvSpPr>
          <p:cNvPr id="4108" name="TextBox 16"/>
          <p:cNvSpPr>
            <a:spLocks noChangeArrowheads="1"/>
          </p:cNvSpPr>
          <p:nvPr/>
        </p:nvSpPr>
        <p:spPr bwMode="auto">
          <a:xfrm>
            <a:off x="1300065" y="3718336"/>
            <a:ext cx="1655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b="1" dirty="0" smtClean="0">
                <a:solidFill>
                  <a:srgbClr val="3F3F3F"/>
                </a:solidFill>
                <a:latin typeface="微软雅黑" pitchFamily="34" charset="-122"/>
                <a:ea typeface="微软雅黑" pitchFamily="34" charset="-122"/>
                <a:sym typeface="微软雅黑" pitchFamily="34" charset="-122"/>
              </a:rPr>
              <a:t>資料說明</a:t>
            </a:r>
            <a:endParaRPr lang="zh-CN" altLang="en-US" b="1" dirty="0">
              <a:solidFill>
                <a:srgbClr val="3F3F3F"/>
              </a:solidFill>
              <a:latin typeface="微软雅黑" pitchFamily="34" charset="-122"/>
              <a:ea typeface="微软雅黑" pitchFamily="34" charset="-122"/>
              <a:sym typeface="微软雅黑" pitchFamily="34" charset="-122"/>
            </a:endParaRPr>
          </a:p>
        </p:txBody>
      </p:sp>
      <p:sp>
        <p:nvSpPr>
          <p:cNvPr id="4110" name="流程图: 联系 18"/>
          <p:cNvSpPr>
            <a:spLocks noChangeArrowheads="1"/>
          </p:cNvSpPr>
          <p:nvPr/>
        </p:nvSpPr>
        <p:spPr bwMode="auto">
          <a:xfrm>
            <a:off x="630803" y="1137949"/>
            <a:ext cx="1008063" cy="1009650"/>
          </a:xfrm>
          <a:prstGeom prst="flowChartConnector">
            <a:avLst/>
          </a:prstGeom>
          <a:solidFill>
            <a:srgbClr val="05AFC8"/>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dirty="0">
              <a:solidFill>
                <a:srgbClr val="FFFFFF"/>
              </a:solidFill>
              <a:latin typeface="宋体" pitchFamily="2" charset="-122"/>
              <a:sym typeface="宋体" pitchFamily="2" charset="-122"/>
            </a:endParaRPr>
          </a:p>
        </p:txBody>
      </p:sp>
      <p:sp>
        <p:nvSpPr>
          <p:cNvPr id="4111" name="流程图: 联系 19"/>
          <p:cNvSpPr>
            <a:spLocks noChangeArrowheads="1"/>
          </p:cNvSpPr>
          <p:nvPr/>
        </p:nvSpPr>
        <p:spPr bwMode="auto">
          <a:xfrm>
            <a:off x="3024187" y="1824155"/>
            <a:ext cx="1009650" cy="1009650"/>
          </a:xfrm>
          <a:prstGeom prst="flowChartConnector">
            <a:avLst/>
          </a:prstGeom>
          <a:solidFill>
            <a:srgbClr val="FFC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sz="1600" dirty="0">
              <a:solidFill>
                <a:srgbClr val="FFFFFF"/>
              </a:solidFill>
              <a:latin typeface="宋体" pitchFamily="2" charset="-122"/>
              <a:sym typeface="宋体" pitchFamily="2" charset="-122"/>
            </a:endParaRPr>
          </a:p>
        </p:txBody>
      </p:sp>
      <p:sp>
        <p:nvSpPr>
          <p:cNvPr id="4112" name="流程图: 联系 20"/>
          <p:cNvSpPr>
            <a:spLocks noChangeArrowheads="1"/>
          </p:cNvSpPr>
          <p:nvPr/>
        </p:nvSpPr>
        <p:spPr bwMode="auto">
          <a:xfrm>
            <a:off x="4623778" y="2573240"/>
            <a:ext cx="1008063" cy="1009650"/>
          </a:xfrm>
          <a:prstGeom prst="flowChartConnector">
            <a:avLst/>
          </a:prstGeom>
          <a:solidFill>
            <a:srgbClr val="FA44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dirty="0">
              <a:solidFill>
                <a:srgbClr val="FFFFFF"/>
              </a:solidFill>
              <a:latin typeface="宋体" pitchFamily="2" charset="-122"/>
              <a:sym typeface="宋体" pitchFamily="2" charset="-122"/>
            </a:endParaRPr>
          </a:p>
        </p:txBody>
      </p:sp>
      <p:sp>
        <p:nvSpPr>
          <p:cNvPr id="4109" name="TextBox 17"/>
          <p:cNvSpPr>
            <a:spLocks noChangeArrowheads="1"/>
          </p:cNvSpPr>
          <p:nvPr/>
        </p:nvSpPr>
        <p:spPr bwMode="auto">
          <a:xfrm>
            <a:off x="2701130" y="2134080"/>
            <a:ext cx="1655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b="1" dirty="0" smtClean="0">
                <a:solidFill>
                  <a:srgbClr val="3F3F3F"/>
                </a:solidFill>
                <a:latin typeface="微软雅黑" pitchFamily="34" charset="-122"/>
                <a:ea typeface="微软雅黑" pitchFamily="34" charset="-122"/>
                <a:sym typeface="微软雅黑" pitchFamily="34" charset="-122"/>
              </a:rPr>
              <a:t>研究方法</a:t>
            </a:r>
            <a:endParaRPr lang="zh-CN" altLang="en-US" b="1" dirty="0">
              <a:solidFill>
                <a:srgbClr val="3F3F3F"/>
              </a:solidFill>
              <a:latin typeface="微软雅黑" pitchFamily="34" charset="-122"/>
              <a:ea typeface="微软雅黑" pitchFamily="34" charset="-122"/>
              <a:sym typeface="微软雅黑" pitchFamily="34" charset="-122"/>
            </a:endParaRPr>
          </a:p>
        </p:txBody>
      </p:sp>
      <p:sp>
        <p:nvSpPr>
          <p:cNvPr id="4107" name="TextBox 15"/>
          <p:cNvSpPr>
            <a:spLocks noChangeArrowheads="1"/>
          </p:cNvSpPr>
          <p:nvPr/>
        </p:nvSpPr>
        <p:spPr bwMode="auto">
          <a:xfrm>
            <a:off x="306953" y="1457830"/>
            <a:ext cx="1655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b="1" dirty="0" smtClean="0">
                <a:solidFill>
                  <a:srgbClr val="3F3F3F"/>
                </a:solidFill>
                <a:latin typeface="微软雅黑" pitchFamily="34" charset="-122"/>
                <a:ea typeface="微软雅黑" pitchFamily="34" charset="-122"/>
                <a:sym typeface="微软雅黑" pitchFamily="34" charset="-122"/>
              </a:rPr>
              <a:t>研究</a:t>
            </a:r>
            <a:r>
              <a:rPr lang="zh-TW" altLang="en-US" b="1" dirty="0">
                <a:solidFill>
                  <a:srgbClr val="3F3F3F"/>
                </a:solidFill>
                <a:latin typeface="微软雅黑" pitchFamily="34" charset="-122"/>
                <a:ea typeface="微软雅黑" pitchFamily="34" charset="-122"/>
                <a:sym typeface="微软雅黑" pitchFamily="34" charset="-122"/>
              </a:rPr>
              <a:t>動機</a:t>
            </a:r>
            <a:endParaRPr lang="zh-CN" altLang="en-US" b="1" dirty="0">
              <a:solidFill>
                <a:srgbClr val="3F3F3F"/>
              </a:solidFill>
              <a:latin typeface="微软雅黑" pitchFamily="34" charset="-122"/>
              <a:ea typeface="微软雅黑" pitchFamily="34" charset="-122"/>
              <a:sym typeface="微软雅黑" pitchFamily="34" charset="-122"/>
            </a:endParaRPr>
          </a:p>
        </p:txBody>
      </p:sp>
      <p:cxnSp>
        <p:nvCxnSpPr>
          <p:cNvPr id="3" name="直線接點 2"/>
          <p:cNvCxnSpPr>
            <a:stCxn id="4110" idx="4"/>
            <a:endCxn id="4106" idx="1"/>
          </p:cNvCxnSpPr>
          <p:nvPr/>
        </p:nvCxnSpPr>
        <p:spPr bwMode="auto">
          <a:xfrm>
            <a:off x="1134835" y="2147599"/>
            <a:ext cx="600942" cy="1402000"/>
          </a:xfrm>
          <a:prstGeom prst="line">
            <a:avLst/>
          </a:prstGeom>
          <a:solidFill>
            <a:schemeClr val="accent1"/>
          </a:solidFill>
          <a:ln w="19050" cap="flat" cmpd="sng" algn="ctr">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線接點 5"/>
          <p:cNvCxnSpPr>
            <a:stCxn id="4106" idx="7"/>
            <a:endCxn id="4111" idx="2"/>
          </p:cNvCxnSpPr>
          <p:nvPr/>
        </p:nvCxnSpPr>
        <p:spPr bwMode="auto">
          <a:xfrm flipV="1">
            <a:off x="2448586" y="2328980"/>
            <a:ext cx="575601" cy="1220619"/>
          </a:xfrm>
          <a:prstGeom prst="line">
            <a:avLst/>
          </a:prstGeom>
          <a:solidFill>
            <a:schemeClr val="accent1"/>
          </a:solidFill>
          <a:ln w="19050" cap="flat" cmpd="sng" algn="ctr">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接點 9"/>
          <p:cNvCxnSpPr>
            <a:stCxn id="4111" idx="6"/>
            <a:endCxn id="4112" idx="2"/>
          </p:cNvCxnSpPr>
          <p:nvPr/>
        </p:nvCxnSpPr>
        <p:spPr bwMode="auto">
          <a:xfrm>
            <a:off x="4033837" y="2328980"/>
            <a:ext cx="589941" cy="749085"/>
          </a:xfrm>
          <a:prstGeom prst="line">
            <a:avLst/>
          </a:prstGeom>
          <a:solidFill>
            <a:schemeClr val="accent1"/>
          </a:solidFill>
          <a:ln w="19050" cap="flat" cmpd="sng" algn="ctr">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線接點 16"/>
          <p:cNvCxnSpPr>
            <a:stCxn id="4112" idx="6"/>
            <a:endCxn id="4104" idx="3"/>
          </p:cNvCxnSpPr>
          <p:nvPr/>
        </p:nvCxnSpPr>
        <p:spPr bwMode="auto">
          <a:xfrm flipV="1">
            <a:off x="5631841" y="2316058"/>
            <a:ext cx="508075" cy="762007"/>
          </a:xfrm>
          <a:prstGeom prst="line">
            <a:avLst/>
          </a:prstGeom>
          <a:solidFill>
            <a:schemeClr val="accent1"/>
          </a:solidFill>
          <a:ln w="19050" cap="flat" cmpd="sng" algn="ctr">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流程图: 联系 19"/>
          <p:cNvSpPr>
            <a:spLocks noChangeArrowheads="1"/>
          </p:cNvSpPr>
          <p:nvPr/>
        </p:nvSpPr>
        <p:spPr bwMode="auto">
          <a:xfrm>
            <a:off x="7451725" y="3771626"/>
            <a:ext cx="1009650" cy="1009650"/>
          </a:xfrm>
          <a:prstGeom prst="flowChartConnector">
            <a:avLst/>
          </a:prstGeom>
          <a:solidFill>
            <a:srgbClr val="FFC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sz="1600" dirty="0">
              <a:solidFill>
                <a:srgbClr val="FFFFFF"/>
              </a:solidFill>
              <a:latin typeface="宋体" pitchFamily="2" charset="-122"/>
              <a:sym typeface="宋体" pitchFamily="2" charset="-122"/>
            </a:endParaRPr>
          </a:p>
        </p:txBody>
      </p:sp>
      <p:cxnSp>
        <p:nvCxnSpPr>
          <p:cNvPr id="41" name="直線接點 40"/>
          <p:cNvCxnSpPr>
            <a:stCxn id="4104" idx="5"/>
            <a:endCxn id="58" idx="1"/>
          </p:cNvCxnSpPr>
          <p:nvPr/>
        </p:nvCxnSpPr>
        <p:spPr bwMode="auto">
          <a:xfrm>
            <a:off x="6852725" y="2316058"/>
            <a:ext cx="746860" cy="1603428"/>
          </a:xfrm>
          <a:prstGeom prst="line">
            <a:avLst/>
          </a:prstGeom>
          <a:solidFill>
            <a:schemeClr val="accent1"/>
          </a:solidFill>
          <a:ln w="19050" cap="flat" cmpd="sng" algn="ctr">
            <a:solidFill>
              <a:schemeClr val="accent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Box 17"/>
          <p:cNvSpPr>
            <a:spLocks noChangeArrowheads="1"/>
          </p:cNvSpPr>
          <p:nvPr/>
        </p:nvSpPr>
        <p:spPr bwMode="auto">
          <a:xfrm>
            <a:off x="5668438" y="1777712"/>
            <a:ext cx="1655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b="1" dirty="0">
                <a:solidFill>
                  <a:srgbClr val="3F3F3F"/>
                </a:solidFill>
                <a:latin typeface="微软雅黑" pitchFamily="34" charset="-122"/>
                <a:ea typeface="微软雅黑" pitchFamily="34" charset="-122"/>
                <a:sym typeface="微软雅黑" pitchFamily="34" charset="-122"/>
              </a:rPr>
              <a:t>結論</a:t>
            </a:r>
            <a:endParaRPr lang="zh-CN" altLang="en-US" b="1" dirty="0">
              <a:solidFill>
                <a:srgbClr val="3F3F3F"/>
              </a:solidFill>
              <a:latin typeface="微软雅黑" pitchFamily="34" charset="-122"/>
              <a:ea typeface="微软雅黑" pitchFamily="34" charset="-122"/>
              <a:sym typeface="微软雅黑" pitchFamily="34" charset="-122"/>
            </a:endParaRPr>
          </a:p>
        </p:txBody>
      </p:sp>
      <p:sp>
        <p:nvSpPr>
          <p:cNvPr id="62" name="TextBox 17"/>
          <p:cNvSpPr>
            <a:spLocks noChangeArrowheads="1"/>
          </p:cNvSpPr>
          <p:nvPr/>
        </p:nvSpPr>
        <p:spPr bwMode="auto">
          <a:xfrm>
            <a:off x="4283853" y="2893122"/>
            <a:ext cx="1655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b="1" dirty="0" smtClean="0">
                <a:solidFill>
                  <a:srgbClr val="3F3F3F"/>
                </a:solidFill>
                <a:latin typeface="微软雅黑" pitchFamily="34" charset="-122"/>
                <a:ea typeface="微软雅黑" pitchFamily="34" charset="-122"/>
                <a:sym typeface="微软雅黑" pitchFamily="34" charset="-122"/>
              </a:rPr>
              <a:t>研究結果</a:t>
            </a:r>
            <a:endParaRPr lang="zh-CN" altLang="en-US" b="1" dirty="0">
              <a:solidFill>
                <a:srgbClr val="3F3F3F"/>
              </a:solidFill>
              <a:latin typeface="微软雅黑" pitchFamily="34" charset="-122"/>
              <a:ea typeface="微软雅黑" pitchFamily="34" charset="-122"/>
              <a:sym typeface="微软雅黑" pitchFamily="34" charset="-122"/>
            </a:endParaRPr>
          </a:p>
        </p:txBody>
      </p:sp>
      <p:sp>
        <p:nvSpPr>
          <p:cNvPr id="70" name="TextBox 17"/>
          <p:cNvSpPr>
            <a:spLocks noChangeArrowheads="1"/>
          </p:cNvSpPr>
          <p:nvPr/>
        </p:nvSpPr>
        <p:spPr bwMode="auto">
          <a:xfrm>
            <a:off x="7128668" y="4091507"/>
            <a:ext cx="1655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b="1" dirty="0" smtClean="0">
                <a:solidFill>
                  <a:srgbClr val="3F3F3F"/>
                </a:solidFill>
                <a:latin typeface="微软雅黑" pitchFamily="34" charset="-122"/>
                <a:ea typeface="微软雅黑" pitchFamily="34" charset="-122"/>
                <a:sym typeface="微软雅黑" pitchFamily="34" charset="-122"/>
              </a:rPr>
              <a:t>參考資料</a:t>
            </a:r>
            <a:endParaRPr lang="zh-CN" altLang="en-US" b="1" dirty="0">
              <a:solidFill>
                <a:srgbClr val="3F3F3F"/>
              </a:solidFill>
              <a:latin typeface="微软雅黑" pitchFamily="34" charset="-122"/>
              <a:ea typeface="微软雅黑" pitchFamily="34" charset="-122"/>
              <a:sym typeface="微软雅黑" pitchFamily="34" charset="-122"/>
            </a:endParaRPr>
          </a:p>
        </p:txBody>
      </p:sp>
      <p:sp>
        <p:nvSpPr>
          <p:cNvPr id="78" name="流程图: 合并 43"/>
          <p:cNvSpPr>
            <a:spLocks noChangeArrowheads="1"/>
          </p:cNvSpPr>
          <p:nvPr/>
        </p:nvSpPr>
        <p:spPr bwMode="auto">
          <a:xfrm rot="6204290" flipH="1" flipV="1">
            <a:off x="2452142" y="3875934"/>
            <a:ext cx="611201" cy="1300047"/>
          </a:xfrm>
          <a:prstGeom prst="flowChartMerge">
            <a:avLst/>
          </a:prstGeom>
          <a:noFill/>
          <a:ln w="6350" cap="flat" cmpd="sng">
            <a:solidFill>
              <a:schemeClr val="accent3"/>
            </a:solidFill>
            <a:prstDash val="solid"/>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79" name="流程图: 合并 43"/>
          <p:cNvSpPr>
            <a:spLocks noChangeArrowheads="1"/>
          </p:cNvSpPr>
          <p:nvPr/>
        </p:nvSpPr>
        <p:spPr bwMode="auto">
          <a:xfrm rot="8692050">
            <a:off x="6824263" y="2624100"/>
            <a:ext cx="1447681" cy="282058"/>
          </a:xfrm>
          <a:prstGeom prst="flowChartMerge">
            <a:avLst/>
          </a:prstGeom>
          <a:noFill/>
          <a:ln w="6350" cap="flat" cmpd="sng">
            <a:solidFill>
              <a:schemeClr val="accent3"/>
            </a:solidFill>
            <a:prstDash val="solid"/>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80" name="流程图: 合并 43"/>
          <p:cNvSpPr>
            <a:spLocks noChangeArrowheads="1"/>
          </p:cNvSpPr>
          <p:nvPr/>
        </p:nvSpPr>
        <p:spPr bwMode="auto">
          <a:xfrm rot="4263474">
            <a:off x="5371495" y="3418326"/>
            <a:ext cx="431800" cy="287338"/>
          </a:xfrm>
          <a:prstGeom prst="flowChartMerge">
            <a:avLst/>
          </a:prstGeom>
          <a:noFill/>
          <a:ln w="6350" cap="flat" cmpd="sng">
            <a:solidFill>
              <a:schemeClr val="accent3"/>
            </a:solidFill>
            <a:prstDash val="solid"/>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81" name="流程图: 合并 43"/>
          <p:cNvSpPr>
            <a:spLocks noChangeArrowheads="1"/>
          </p:cNvSpPr>
          <p:nvPr/>
        </p:nvSpPr>
        <p:spPr bwMode="auto">
          <a:xfrm rot="8692050">
            <a:off x="7167913" y="4337323"/>
            <a:ext cx="431800" cy="563708"/>
          </a:xfrm>
          <a:prstGeom prst="flowChartMerge">
            <a:avLst/>
          </a:prstGeom>
          <a:noFill/>
          <a:ln w="6350" cap="flat" cmpd="sng">
            <a:solidFill>
              <a:schemeClr val="accent3"/>
            </a:solidFill>
            <a:prstDash val="solid"/>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82" name="流程图: 合并 43"/>
          <p:cNvSpPr>
            <a:spLocks noChangeArrowheads="1"/>
          </p:cNvSpPr>
          <p:nvPr/>
        </p:nvSpPr>
        <p:spPr bwMode="auto">
          <a:xfrm rot="13880791">
            <a:off x="883146" y="2368165"/>
            <a:ext cx="408285" cy="842516"/>
          </a:xfrm>
          <a:prstGeom prst="flowChartMerge">
            <a:avLst/>
          </a:prstGeom>
          <a:noFill/>
          <a:ln w="6350" cap="flat" cmpd="sng">
            <a:solidFill>
              <a:schemeClr val="accent3"/>
            </a:solidFill>
            <a:prstDash val="solid"/>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Tree>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群組 1"/>
          <p:cNvGrpSpPr/>
          <p:nvPr/>
        </p:nvGrpSpPr>
        <p:grpSpPr>
          <a:xfrm rot="5400000">
            <a:off x="-3096419" y="3464717"/>
            <a:ext cx="7200900" cy="1008063"/>
            <a:chOff x="971550" y="4156075"/>
            <a:chExt cx="7200900" cy="1008063"/>
          </a:xfrm>
        </p:grpSpPr>
        <p:sp>
          <p:nvSpPr>
            <p:cNvPr id="5123" name="流程图: 合并 38"/>
            <p:cNvSpPr>
              <a:spLocks noChangeArrowheads="1"/>
            </p:cNvSpPr>
            <p:nvPr/>
          </p:nvSpPr>
          <p:spPr bwMode="auto">
            <a:xfrm rot="10800000">
              <a:off x="971550" y="4156075"/>
              <a:ext cx="7200900" cy="1008063"/>
            </a:xfrm>
            <a:prstGeom prst="flowChartMerge">
              <a:avLst/>
            </a:prstGeom>
            <a:solidFill>
              <a:srgbClr val="05AFC8">
                <a:alpha val="68999"/>
              </a:srgbClr>
            </a:solidFill>
            <a:ln>
              <a:noFill/>
            </a:ln>
            <a:extLst>
              <a:ext uri="{91240B29-F687-4F45-9708-019B960494DF}">
                <a14:hiddenLine xmlns:a14="http://schemas.microsoft.com/office/drawing/2010/main" w="9525"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124" name="流程图: 合并 40"/>
            <p:cNvSpPr>
              <a:spLocks noChangeArrowheads="1"/>
            </p:cNvSpPr>
            <p:nvPr/>
          </p:nvSpPr>
          <p:spPr bwMode="auto">
            <a:xfrm rot="10800000">
              <a:off x="1187450" y="4227513"/>
              <a:ext cx="6769100" cy="9366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grpSp>
      <p:sp>
        <p:nvSpPr>
          <p:cNvPr id="5126" name="流程图: 合并 43"/>
          <p:cNvSpPr>
            <a:spLocks noChangeArrowheads="1"/>
          </p:cNvSpPr>
          <p:nvPr/>
        </p:nvSpPr>
        <p:spPr bwMode="auto">
          <a:xfrm>
            <a:off x="3222529" y="2437796"/>
            <a:ext cx="431800" cy="2889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5127" name="TextBox 48"/>
          <p:cNvSpPr>
            <a:spLocks noChangeArrowheads="1"/>
          </p:cNvSpPr>
          <p:nvPr/>
        </p:nvSpPr>
        <p:spPr bwMode="auto">
          <a:xfrm>
            <a:off x="1152525" y="2316163"/>
            <a:ext cx="68405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sz="2800" b="1" dirty="0" smtClean="0">
                <a:solidFill>
                  <a:srgbClr val="000000"/>
                </a:solidFill>
                <a:latin typeface="+mj-ea"/>
                <a:ea typeface="+mj-ea"/>
                <a:sym typeface="微软雅黑" pitchFamily="34" charset="-122"/>
              </a:rPr>
              <a:t>研究動機</a:t>
            </a:r>
            <a:endParaRPr lang="zh-CN" altLang="en-US" sz="2800" b="1" dirty="0">
              <a:solidFill>
                <a:srgbClr val="000000"/>
              </a:solidFill>
              <a:latin typeface="+mj-ea"/>
              <a:ea typeface="+mj-ea"/>
              <a:sym typeface="微软雅黑" pitchFamily="34" charset="-122"/>
            </a:endParaRPr>
          </a:p>
        </p:txBody>
      </p:sp>
      <p:grpSp>
        <p:nvGrpSpPr>
          <p:cNvPr id="11" name="群組 10"/>
          <p:cNvGrpSpPr/>
          <p:nvPr/>
        </p:nvGrpSpPr>
        <p:grpSpPr>
          <a:xfrm rot="16200000">
            <a:off x="4048859" y="-433401"/>
            <a:ext cx="7200900" cy="2986352"/>
            <a:chOff x="971550" y="4156075"/>
            <a:chExt cx="7200900" cy="1008063"/>
          </a:xfrm>
        </p:grpSpPr>
        <p:sp>
          <p:nvSpPr>
            <p:cNvPr id="12" name="流程图: 合并 38"/>
            <p:cNvSpPr>
              <a:spLocks noChangeArrowheads="1"/>
            </p:cNvSpPr>
            <p:nvPr/>
          </p:nvSpPr>
          <p:spPr bwMode="auto">
            <a:xfrm rot="10800000">
              <a:off x="971550" y="4156075"/>
              <a:ext cx="7200900" cy="1008063"/>
            </a:xfrm>
            <a:prstGeom prst="flowChartMerge">
              <a:avLst/>
            </a:prstGeom>
            <a:solidFill>
              <a:srgbClr val="05AFC8">
                <a:alpha val="68999"/>
              </a:srgbClr>
            </a:solidFill>
            <a:ln>
              <a:noFill/>
            </a:ln>
            <a:extLst>
              <a:ext uri="{91240B29-F687-4F45-9708-019B960494DF}">
                <a14:hiddenLine xmlns:a14="http://schemas.microsoft.com/office/drawing/2010/main" w="9525"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3" name="流程图: 合并 40"/>
            <p:cNvSpPr>
              <a:spLocks noChangeArrowheads="1"/>
            </p:cNvSpPr>
            <p:nvPr/>
          </p:nvSpPr>
          <p:spPr bwMode="auto">
            <a:xfrm rot="10800000">
              <a:off x="1187450" y="4227513"/>
              <a:ext cx="6769100" cy="9366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grpSp>
      <p:sp>
        <p:nvSpPr>
          <p:cNvPr id="14" name="TextBox 41"/>
          <p:cNvSpPr>
            <a:spLocks noChangeArrowheads="1"/>
          </p:cNvSpPr>
          <p:nvPr/>
        </p:nvSpPr>
        <p:spPr bwMode="auto">
          <a:xfrm>
            <a:off x="6084695" y="494388"/>
            <a:ext cx="2590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6000" b="1" dirty="0" smtClean="0">
                <a:solidFill>
                  <a:schemeClr val="bg1"/>
                </a:solidFill>
                <a:latin typeface="BatangChe" pitchFamily="49" charset="-127"/>
                <a:ea typeface="BatangChe" pitchFamily="49" charset="-127"/>
                <a:sym typeface="BatangChe" pitchFamily="49" charset="-127"/>
              </a:rPr>
              <a:t>01</a:t>
            </a:r>
            <a:endParaRPr lang="zh-CN" altLang="en-US" sz="6000" b="1" dirty="0">
              <a:solidFill>
                <a:schemeClr val="bg1"/>
              </a:solidFill>
              <a:latin typeface="BatangChe" pitchFamily="49" charset="-127"/>
              <a:ea typeface="BatangChe" pitchFamily="49" charset="-127"/>
              <a:sym typeface="BatangChe" pitchFamily="49" charset="-127"/>
            </a:endParaRPr>
          </a:p>
        </p:txBody>
      </p:sp>
    </p:spTree>
    <p:extLst>
      <p:ext uri="{BB962C8B-B14F-4D97-AF65-F5344CB8AC3E}">
        <p14:creationId xmlns:p14="http://schemas.microsoft.com/office/powerpoint/2010/main" val="2106904586"/>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4" name="矩形 1"/>
          <p:cNvSpPr>
            <a:spLocks noChangeArrowheads="1"/>
          </p:cNvSpPr>
          <p:nvPr/>
        </p:nvSpPr>
        <p:spPr bwMode="auto">
          <a:xfrm>
            <a:off x="2483826" y="1923696"/>
            <a:ext cx="6142510" cy="2592216"/>
          </a:xfrm>
          <a:prstGeom prst="rect">
            <a:avLst/>
          </a:prstGeom>
          <a:solidFill>
            <a:srgbClr val="05AFC8"/>
          </a:solidFill>
          <a:ln>
            <a:noFill/>
          </a:ln>
          <a:extLst/>
        </p:spPr>
        <p:txBody>
          <a:bodyPr anchor="ctr"/>
          <a:lstStyle/>
          <a:p>
            <a:r>
              <a:rPr lang="zh-TW" altLang="en-US" dirty="0" smtClean="0">
                <a:solidFill>
                  <a:srgbClr val="FFFFFF"/>
                </a:solidFill>
                <a:latin typeface="微软雅黑" pitchFamily="34" charset="-122"/>
                <a:ea typeface="微软雅黑" pitchFamily="34" charset="-122"/>
                <a:sym typeface="微软雅黑" pitchFamily="34" charset="-122"/>
              </a:rPr>
              <a:t>       在資訊</a:t>
            </a:r>
            <a:r>
              <a:rPr lang="zh-TW" altLang="en-US" dirty="0">
                <a:solidFill>
                  <a:srgbClr val="FFFFFF"/>
                </a:solidFill>
                <a:latin typeface="微软雅黑" pitchFamily="34" charset="-122"/>
                <a:ea typeface="微软雅黑" pitchFamily="34" charset="-122"/>
                <a:sym typeface="微软雅黑" pitchFamily="34" charset="-122"/>
              </a:rPr>
              <a:t>過於氾濫的今天，我們往往很難在龐大的資料中找到需要的資訊， 即便從大量的資料中找到一些有幫助的文章，可能也因為篇幅過長而需要花費 更多時間與精力消化內容，然而這項工作既耗時又繁瑣，本組報告希望透過羅 吉斯回歸的方法依新聞標題幫助新聞的歸類，並利用分析文章中字詞出現的頻 率，以及和這些出現頻率較高的字一起出現的字詞來了解文章的內容。 </a:t>
            </a:r>
          </a:p>
        </p:txBody>
      </p:sp>
      <p:pic>
        <p:nvPicPr>
          <p:cNvPr id="6" name="圖片 5"/>
          <p:cNvPicPr>
            <a:picLocks noChangeAspect="1"/>
          </p:cNvPicPr>
          <p:nvPr/>
        </p:nvPicPr>
        <p:blipFill rotWithShape="1">
          <a:blip r:embed="rId3"/>
          <a:srcRect b="11256"/>
          <a:stretch/>
        </p:blipFill>
        <p:spPr>
          <a:xfrm>
            <a:off x="971700" y="915612"/>
            <a:ext cx="1368114" cy="1275104"/>
          </a:xfrm>
          <a:prstGeom prst="flowChartConnector">
            <a:avLst/>
          </a:prstGeom>
        </p:spPr>
      </p:pic>
      <p:grpSp>
        <p:nvGrpSpPr>
          <p:cNvPr id="8" name="组合 1"/>
          <p:cNvGrpSpPr>
            <a:grpSpLocks/>
          </p:cNvGrpSpPr>
          <p:nvPr/>
        </p:nvGrpSpPr>
        <p:grpSpPr bwMode="auto">
          <a:xfrm>
            <a:off x="5335888" y="220442"/>
            <a:ext cx="3816350" cy="406400"/>
            <a:chOff x="0" y="0"/>
            <a:chExt cx="3816672" cy="405750"/>
          </a:xfrm>
        </p:grpSpPr>
        <p:sp>
          <p:nvSpPr>
            <p:cNvPr id="9"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smtClean="0">
                  <a:solidFill>
                    <a:srgbClr val="3F3F3F"/>
                  </a:solidFill>
                  <a:latin typeface="微软雅黑" pitchFamily="34" charset="-122"/>
                  <a:ea typeface="微软雅黑" pitchFamily="34" charset="-122"/>
                  <a:sym typeface="微软雅黑" pitchFamily="34" charset="-122"/>
                </a:rPr>
                <a:t>1</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1"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研究動</a:t>
              </a:r>
              <a:r>
                <a:rPr lang="zh-TW" altLang="en-US" b="1" dirty="0">
                  <a:solidFill>
                    <a:srgbClr val="3F3F3F"/>
                  </a:solidFill>
                  <a:latin typeface="微软雅黑" pitchFamily="34" charset="-122"/>
                  <a:ea typeface="微软雅黑" pitchFamily="34" charset="-122"/>
                  <a:sym typeface="微软雅黑" pitchFamily="34" charset="-122"/>
                </a:rPr>
                <a:t>機</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
        <p:nvSpPr>
          <p:cNvPr id="12"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dirty="0">
                <a:solidFill>
                  <a:srgbClr val="05AFC8"/>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FC000"/>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A4453"/>
                </a:solidFill>
                <a:latin typeface="微软雅黑" pitchFamily="34" charset="-122"/>
                <a:ea typeface="微软雅黑" pitchFamily="34" charset="-122"/>
                <a:sym typeface="微软雅黑" pitchFamily="34" charset="-122"/>
              </a:rPr>
              <a:t>·</a:t>
            </a:r>
            <a:endParaRPr lang="zh-CN" altLang="en-US" sz="5400" b="1" dirty="0">
              <a:solidFill>
                <a:srgbClr val="FA4453"/>
              </a:solidFill>
              <a:latin typeface="微软雅黑" pitchFamily="34" charset="-122"/>
              <a:ea typeface="微软雅黑" pitchFamily="34" charset="-122"/>
              <a:sym typeface="微软雅黑" pitchFamily="34" charset="-122"/>
            </a:endParaRPr>
          </a:p>
        </p:txBody>
      </p:sp>
    </p:spTree>
    <p:extLst>
      <p:ext uri="{BB962C8B-B14F-4D97-AF65-F5344CB8AC3E}">
        <p14:creationId xmlns:p14="http://schemas.microsoft.com/office/powerpoint/2010/main" val="25384089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15"/>
          <p:cNvSpPr>
            <a:spLocks noChangeArrowheads="1"/>
          </p:cNvSpPr>
          <p:nvPr/>
        </p:nvSpPr>
        <p:spPr bwMode="auto">
          <a:xfrm>
            <a:off x="0" y="-34925"/>
            <a:ext cx="9144000" cy="5272088"/>
          </a:xfrm>
          <a:prstGeom prst="rect">
            <a:avLst/>
          </a:prstGeom>
          <a:solidFill>
            <a:srgbClr val="000000">
              <a:alpha val="12000"/>
            </a:srgbClr>
          </a:solidFill>
          <a:ln>
            <a:noFill/>
          </a:ln>
          <a:extLst>
            <a:ext uri="{91240B29-F687-4F45-9708-019B960494DF}">
              <a14:hiddenLine xmlns:a14="http://schemas.microsoft.com/office/drawing/2010/main" w="25400" cap="flat" cmpd="sng">
                <a:solidFill>
                  <a:srgbClr val="000000"/>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0243" name="流程图: 合并 38"/>
          <p:cNvSpPr>
            <a:spLocks noChangeArrowheads="1"/>
          </p:cNvSpPr>
          <p:nvPr/>
        </p:nvSpPr>
        <p:spPr bwMode="auto">
          <a:xfrm rot="16200000">
            <a:off x="-1171575" y="2011362"/>
            <a:ext cx="5329238" cy="3135313"/>
          </a:xfrm>
          <a:prstGeom prst="flowChartMerge">
            <a:avLst/>
          </a:prstGeom>
          <a:solidFill>
            <a:srgbClr val="F5CA45"/>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0244" name="流程图: 合并 40"/>
          <p:cNvSpPr>
            <a:spLocks noChangeArrowheads="1"/>
          </p:cNvSpPr>
          <p:nvPr/>
        </p:nvSpPr>
        <p:spPr bwMode="auto">
          <a:xfrm rot="16200000">
            <a:off x="-811213" y="2211388"/>
            <a:ext cx="4606925" cy="2736850"/>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10245" name="流程图: 合并 43"/>
          <p:cNvSpPr>
            <a:spLocks noChangeArrowheads="1"/>
          </p:cNvSpPr>
          <p:nvPr/>
        </p:nvSpPr>
        <p:spPr bwMode="auto">
          <a:xfrm rot="5400000">
            <a:off x="6084094" y="3429794"/>
            <a:ext cx="431800" cy="287338"/>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10246" name="TextBox 9"/>
          <p:cNvSpPr>
            <a:spLocks noChangeArrowheads="1"/>
          </p:cNvSpPr>
          <p:nvPr/>
        </p:nvSpPr>
        <p:spPr bwMode="auto">
          <a:xfrm>
            <a:off x="3070225" y="3311525"/>
            <a:ext cx="308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sz="2800" dirty="0" smtClean="0">
                <a:sym typeface="微软雅黑" pitchFamily="34" charset="-122"/>
              </a:rPr>
              <a:t>資料說</a:t>
            </a:r>
            <a:r>
              <a:rPr lang="zh-TW" altLang="en-US" sz="2800" dirty="0">
                <a:sym typeface="微软雅黑" pitchFamily="34" charset="-122"/>
              </a:rPr>
              <a:t>明</a:t>
            </a:r>
            <a:endParaRPr lang="zh-CN" altLang="en-US" sz="2800" b="1" dirty="0">
              <a:solidFill>
                <a:srgbClr val="000000"/>
              </a:solidFill>
              <a:latin typeface="微软雅黑" pitchFamily="34" charset="-122"/>
              <a:ea typeface="微软雅黑" pitchFamily="34" charset="-122"/>
              <a:sym typeface="微软雅黑" pitchFamily="34" charset="-122"/>
            </a:endParaRPr>
          </a:p>
        </p:txBody>
      </p:sp>
      <p:sp>
        <p:nvSpPr>
          <p:cNvPr id="10247" name="TextBox 11"/>
          <p:cNvSpPr>
            <a:spLocks noChangeArrowheads="1"/>
          </p:cNvSpPr>
          <p:nvPr/>
        </p:nvSpPr>
        <p:spPr bwMode="auto">
          <a:xfrm>
            <a:off x="941388" y="3117850"/>
            <a:ext cx="12969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5400" b="1" dirty="0" smtClean="0">
                <a:solidFill>
                  <a:schemeClr val="bg1"/>
                </a:solidFill>
                <a:latin typeface="BatangChe" pitchFamily="49" charset="-127"/>
                <a:ea typeface="BatangChe" pitchFamily="49" charset="-127"/>
                <a:sym typeface="BatangChe" pitchFamily="49" charset="-127"/>
              </a:rPr>
              <a:t>02</a:t>
            </a:r>
            <a:endParaRPr lang="zh-CN" altLang="en-US" sz="5400" b="1" dirty="0">
              <a:solidFill>
                <a:schemeClr val="bg1"/>
              </a:solidFill>
              <a:latin typeface="BatangChe" pitchFamily="49" charset="-127"/>
              <a:ea typeface="BatangChe" pitchFamily="49" charset="-127"/>
              <a:sym typeface="BatangChe" pitchFamily="49" charset="-127"/>
            </a:endParaRPr>
          </a:p>
        </p:txBody>
      </p:sp>
      <p:sp>
        <p:nvSpPr>
          <p:cNvPr id="10248" name="矩形 58"/>
          <p:cNvSpPr>
            <a:spLocks noChangeArrowheads="1"/>
          </p:cNvSpPr>
          <p:nvPr/>
        </p:nvSpPr>
        <p:spPr bwMode="auto">
          <a:xfrm>
            <a:off x="0" y="5019675"/>
            <a:ext cx="9144000" cy="215900"/>
          </a:xfrm>
          <a:prstGeom prst="rect">
            <a:avLst/>
          </a:prstGeom>
          <a:solidFill>
            <a:srgbClr val="F5CA45">
              <a:alpha val="68999"/>
            </a:srgb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Tree>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4" name="矩形 1"/>
          <p:cNvSpPr>
            <a:spLocks noChangeArrowheads="1"/>
          </p:cNvSpPr>
          <p:nvPr/>
        </p:nvSpPr>
        <p:spPr bwMode="auto">
          <a:xfrm>
            <a:off x="2452498" y="1851690"/>
            <a:ext cx="6142510" cy="2664222"/>
          </a:xfrm>
          <a:prstGeom prst="rect">
            <a:avLst/>
          </a:prstGeom>
          <a:solidFill>
            <a:srgbClr val="F5CA45"/>
          </a:solidFill>
          <a:ln>
            <a:noFill/>
          </a:ln>
          <a:extLst/>
        </p:spPr>
        <p:txBody>
          <a:bodyPr anchor="ctr"/>
          <a:lstStyle/>
          <a:p>
            <a:endParaRPr lang="en-US" altLang="zh-TW" dirty="0" smtClean="0">
              <a:solidFill>
                <a:srgbClr val="FFFFFF"/>
              </a:solidFill>
              <a:latin typeface="微软雅黑" pitchFamily="34" charset="-122"/>
              <a:ea typeface="微软雅黑" pitchFamily="34" charset="-122"/>
              <a:sym typeface="微软雅黑" pitchFamily="34" charset="-122"/>
            </a:endParaRPr>
          </a:p>
          <a:p>
            <a:r>
              <a:rPr lang="zh-TW" altLang="en-US" dirty="0" smtClean="0">
                <a:solidFill>
                  <a:srgbClr val="FFFFFF"/>
                </a:solidFill>
                <a:latin typeface="微软雅黑" pitchFamily="34" charset="-122"/>
                <a:ea typeface="微软雅黑" pitchFamily="34" charset="-122"/>
                <a:sym typeface="微软雅黑" pitchFamily="34" charset="-122"/>
              </a:rPr>
              <a:t>       資料</a:t>
            </a:r>
            <a:r>
              <a:rPr lang="zh-TW" altLang="en-US" dirty="0">
                <a:solidFill>
                  <a:srgbClr val="FFFFFF"/>
                </a:solidFill>
                <a:latin typeface="微软雅黑" pitchFamily="34" charset="-122"/>
                <a:ea typeface="微软雅黑" pitchFamily="34" charset="-122"/>
                <a:sym typeface="微软雅黑" pitchFamily="34" charset="-122"/>
              </a:rPr>
              <a:t>為從 </a:t>
            </a:r>
            <a:r>
              <a:rPr lang="en-US" altLang="zh-TW" dirty="0">
                <a:solidFill>
                  <a:srgbClr val="FFFFFF"/>
                </a:solidFill>
                <a:latin typeface="微软雅黑" pitchFamily="34" charset="-122"/>
                <a:ea typeface="微软雅黑" pitchFamily="34" charset="-122"/>
                <a:sym typeface="微软雅黑" pitchFamily="34" charset="-122"/>
              </a:rPr>
              <a:t>2014 </a:t>
            </a:r>
            <a:r>
              <a:rPr lang="zh-TW" altLang="en-US" dirty="0">
                <a:solidFill>
                  <a:srgbClr val="FFFFFF"/>
                </a:solidFill>
                <a:latin typeface="微软雅黑" pitchFamily="34" charset="-122"/>
                <a:ea typeface="微软雅黑" pitchFamily="34" charset="-122"/>
                <a:sym typeface="微软雅黑" pitchFamily="34" charset="-122"/>
              </a:rPr>
              <a:t>年 </a:t>
            </a:r>
            <a:r>
              <a:rPr lang="en-US" altLang="zh-TW" dirty="0">
                <a:solidFill>
                  <a:srgbClr val="FFFFFF"/>
                </a:solidFill>
                <a:latin typeface="微软雅黑" pitchFamily="34" charset="-122"/>
                <a:ea typeface="微软雅黑" pitchFamily="34" charset="-122"/>
                <a:sym typeface="微软雅黑" pitchFamily="34" charset="-122"/>
              </a:rPr>
              <a:t>3 </a:t>
            </a:r>
            <a:r>
              <a:rPr lang="zh-TW" altLang="en-US" dirty="0">
                <a:solidFill>
                  <a:srgbClr val="FFFFFF"/>
                </a:solidFill>
                <a:latin typeface="微软雅黑" pitchFamily="34" charset="-122"/>
                <a:ea typeface="微软雅黑" pitchFamily="34" charset="-122"/>
                <a:sym typeface="微软雅黑" pitchFamily="34" charset="-122"/>
              </a:rPr>
              <a:t>月 </a:t>
            </a:r>
            <a:r>
              <a:rPr lang="en-US" altLang="zh-TW" dirty="0">
                <a:solidFill>
                  <a:srgbClr val="FFFFFF"/>
                </a:solidFill>
                <a:latin typeface="微软雅黑" pitchFamily="34" charset="-122"/>
                <a:ea typeface="微软雅黑" pitchFamily="34" charset="-122"/>
                <a:sym typeface="微软雅黑" pitchFamily="34" charset="-122"/>
              </a:rPr>
              <a:t>10 </a:t>
            </a:r>
            <a:r>
              <a:rPr lang="zh-TW" altLang="en-US" dirty="0">
                <a:solidFill>
                  <a:srgbClr val="FFFFFF"/>
                </a:solidFill>
                <a:latin typeface="微软雅黑" pitchFamily="34" charset="-122"/>
                <a:ea typeface="微软雅黑" pitchFamily="34" charset="-122"/>
                <a:sym typeface="微软雅黑" pitchFamily="34" charset="-122"/>
              </a:rPr>
              <a:t>日至 </a:t>
            </a:r>
            <a:r>
              <a:rPr lang="en-US" altLang="zh-TW" dirty="0">
                <a:solidFill>
                  <a:srgbClr val="FFFFFF"/>
                </a:solidFill>
                <a:latin typeface="微软雅黑" pitchFamily="34" charset="-122"/>
                <a:ea typeface="微软雅黑" pitchFamily="34" charset="-122"/>
                <a:sym typeface="微软雅黑" pitchFamily="34" charset="-122"/>
              </a:rPr>
              <a:t>2014 </a:t>
            </a:r>
            <a:r>
              <a:rPr lang="zh-TW" altLang="en-US" dirty="0">
                <a:solidFill>
                  <a:srgbClr val="FFFFFF"/>
                </a:solidFill>
                <a:latin typeface="微软雅黑" pitchFamily="34" charset="-122"/>
                <a:ea typeface="微软雅黑" pitchFamily="34" charset="-122"/>
                <a:sym typeface="微软雅黑" pitchFamily="34" charset="-122"/>
              </a:rPr>
              <a:t>年 </a:t>
            </a:r>
            <a:r>
              <a:rPr lang="en-US" altLang="zh-TW" dirty="0">
                <a:solidFill>
                  <a:srgbClr val="FFFFFF"/>
                </a:solidFill>
                <a:latin typeface="微软雅黑" pitchFamily="34" charset="-122"/>
                <a:ea typeface="微软雅黑" pitchFamily="34" charset="-122"/>
                <a:sym typeface="微软雅黑" pitchFamily="34" charset="-122"/>
              </a:rPr>
              <a:t>8 </a:t>
            </a:r>
            <a:r>
              <a:rPr lang="zh-TW" altLang="en-US" dirty="0">
                <a:solidFill>
                  <a:srgbClr val="FFFFFF"/>
                </a:solidFill>
                <a:latin typeface="微软雅黑" pitchFamily="34" charset="-122"/>
                <a:ea typeface="微软雅黑" pitchFamily="34" charset="-122"/>
                <a:sym typeface="微软雅黑" pitchFamily="34" charset="-122"/>
              </a:rPr>
              <a:t>月 </a:t>
            </a:r>
            <a:r>
              <a:rPr lang="en-US" altLang="zh-TW" dirty="0">
                <a:solidFill>
                  <a:srgbClr val="FFFFFF"/>
                </a:solidFill>
                <a:latin typeface="微软雅黑" pitchFamily="34" charset="-122"/>
                <a:ea typeface="微软雅黑" pitchFamily="34" charset="-122"/>
                <a:sym typeface="微软雅黑" pitchFamily="34" charset="-122"/>
              </a:rPr>
              <a:t>10 </a:t>
            </a:r>
            <a:r>
              <a:rPr lang="zh-TW" altLang="en-US" dirty="0">
                <a:solidFill>
                  <a:srgbClr val="FFFFFF"/>
                </a:solidFill>
                <a:latin typeface="微软雅黑" pitchFamily="34" charset="-122"/>
                <a:ea typeface="微软雅黑" pitchFamily="34" charset="-122"/>
                <a:sym typeface="微软雅黑" pitchFamily="34" charset="-122"/>
              </a:rPr>
              <a:t>日的新聞相關資料，</a:t>
            </a:r>
            <a:r>
              <a:rPr lang="en-US" altLang="zh-TW" dirty="0">
                <a:solidFill>
                  <a:srgbClr val="FFFFFF"/>
                </a:solidFill>
                <a:latin typeface="微软雅黑" pitchFamily="34" charset="-122"/>
                <a:ea typeface="微软雅黑" pitchFamily="34" charset="-122"/>
                <a:sym typeface="微软雅黑" pitchFamily="34" charset="-122"/>
              </a:rPr>
              <a:t>&lt;ucinews-aggregator.csv&gt;</a:t>
            </a:r>
            <a:r>
              <a:rPr lang="zh-TW" altLang="en-US" dirty="0">
                <a:solidFill>
                  <a:srgbClr val="FFFFFF"/>
                </a:solidFill>
                <a:latin typeface="微软雅黑" pitchFamily="34" charset="-122"/>
                <a:ea typeface="微软雅黑" pitchFamily="34" charset="-122"/>
                <a:sym typeface="微软雅黑" pitchFamily="34" charset="-122"/>
              </a:rPr>
              <a:t>，八個欄位，其中包含新聞 </a:t>
            </a:r>
            <a:r>
              <a:rPr lang="en-US" altLang="zh-TW" dirty="0">
                <a:solidFill>
                  <a:srgbClr val="FFFFFF"/>
                </a:solidFill>
                <a:latin typeface="微软雅黑" pitchFamily="34" charset="-122"/>
                <a:ea typeface="微软雅黑" pitchFamily="34" charset="-122"/>
                <a:sym typeface="微软雅黑" pitchFamily="34" charset="-122"/>
              </a:rPr>
              <a:t>ID</a:t>
            </a:r>
            <a:r>
              <a:rPr lang="zh-TW" altLang="en-US" dirty="0">
                <a:solidFill>
                  <a:srgbClr val="FFFFFF"/>
                </a:solidFill>
                <a:latin typeface="微软雅黑" pitchFamily="34" charset="-122"/>
                <a:ea typeface="微软雅黑" pitchFamily="34" charset="-122"/>
                <a:sym typeface="微软雅黑" pitchFamily="34" charset="-122"/>
              </a:rPr>
              <a:t>、新聞標題、新聞連結、新 聞媒體名稱等，總共有 </a:t>
            </a:r>
            <a:r>
              <a:rPr lang="en-US" altLang="zh-TW" dirty="0">
                <a:solidFill>
                  <a:srgbClr val="FFFFFF"/>
                </a:solidFill>
                <a:latin typeface="微软雅黑" pitchFamily="34" charset="-122"/>
                <a:ea typeface="微软雅黑" pitchFamily="34" charset="-122"/>
                <a:sym typeface="微软雅黑" pitchFamily="34" charset="-122"/>
              </a:rPr>
              <a:t>421295 </a:t>
            </a:r>
            <a:r>
              <a:rPr lang="zh-TW" altLang="en-US" dirty="0">
                <a:solidFill>
                  <a:srgbClr val="FFFFFF"/>
                </a:solidFill>
                <a:latin typeface="微软雅黑" pitchFamily="34" charset="-122"/>
                <a:ea typeface="微软雅黑" pitchFamily="34" charset="-122"/>
                <a:sym typeface="微软雅黑" pitchFamily="34" charset="-122"/>
              </a:rPr>
              <a:t>筆資料。</a:t>
            </a:r>
            <a:endParaRPr lang="en-US" altLang="zh-TW" dirty="0">
              <a:solidFill>
                <a:srgbClr val="FFFFFF"/>
              </a:solidFill>
              <a:latin typeface="微软雅黑" pitchFamily="34" charset="-122"/>
              <a:ea typeface="微软雅黑" pitchFamily="34" charset="-122"/>
              <a:sym typeface="微软雅黑" pitchFamily="34" charset="-122"/>
            </a:endParaRPr>
          </a:p>
          <a:p>
            <a:r>
              <a:rPr lang="zh-TW" altLang="en-US" dirty="0">
                <a:solidFill>
                  <a:srgbClr val="FFFFFF"/>
                </a:solidFill>
                <a:latin typeface="微软雅黑" pitchFamily="34" charset="-122"/>
                <a:ea typeface="微软雅黑" pitchFamily="34" charset="-122"/>
                <a:sym typeface="微软雅黑" pitchFamily="34" charset="-122"/>
              </a:rPr>
              <a:t>      本組隨機抽樣 </a:t>
            </a:r>
            <a:r>
              <a:rPr lang="en-US" altLang="zh-TW" dirty="0">
                <a:solidFill>
                  <a:srgbClr val="FFFFFF"/>
                </a:solidFill>
                <a:latin typeface="微软雅黑" pitchFamily="34" charset="-122"/>
                <a:ea typeface="微软雅黑" pitchFamily="34" charset="-122"/>
                <a:sym typeface="微软雅黑" pitchFamily="34" charset="-122"/>
              </a:rPr>
              <a:t>10000 </a:t>
            </a:r>
            <a:r>
              <a:rPr lang="zh-TW" altLang="en-US" dirty="0">
                <a:solidFill>
                  <a:srgbClr val="FFFFFF"/>
                </a:solidFill>
                <a:latin typeface="微软雅黑" pitchFamily="34" charset="-122"/>
                <a:ea typeface="微软雅黑" pitchFamily="34" charset="-122"/>
                <a:sym typeface="微软雅黑" pitchFamily="34" charset="-122"/>
              </a:rPr>
              <a:t>筆資料，僅利用新聞 </a:t>
            </a:r>
            <a:r>
              <a:rPr lang="en-US" altLang="zh-TW" dirty="0">
                <a:solidFill>
                  <a:srgbClr val="FFFFFF"/>
                </a:solidFill>
                <a:latin typeface="微软雅黑" pitchFamily="34" charset="-122"/>
                <a:ea typeface="微软雅黑" pitchFamily="34" charset="-122"/>
                <a:sym typeface="微软雅黑" pitchFamily="34" charset="-122"/>
              </a:rPr>
              <a:t>ID</a:t>
            </a:r>
            <a:r>
              <a:rPr lang="zh-TW" altLang="en-US" dirty="0">
                <a:solidFill>
                  <a:srgbClr val="FFFFFF"/>
                </a:solidFill>
                <a:latin typeface="微软雅黑" pitchFamily="34" charset="-122"/>
                <a:ea typeface="微软雅黑" pitchFamily="34" charset="-122"/>
                <a:sym typeface="微软雅黑" pitchFamily="34" charset="-122"/>
              </a:rPr>
              <a:t>、新聞標題與新聞類別作深 入探討，其中新聞被分為 </a:t>
            </a:r>
            <a:r>
              <a:rPr lang="en-US" altLang="zh-TW" dirty="0">
                <a:solidFill>
                  <a:srgbClr val="FFFFFF"/>
                </a:solidFill>
                <a:latin typeface="微软雅黑" pitchFamily="34" charset="-122"/>
                <a:ea typeface="微软雅黑" pitchFamily="34" charset="-122"/>
                <a:sym typeface="微软雅黑" pitchFamily="34" charset="-122"/>
              </a:rPr>
              <a:t>b</a:t>
            </a:r>
            <a:r>
              <a:rPr lang="zh-TW" altLang="en-US" dirty="0">
                <a:solidFill>
                  <a:srgbClr val="FFFFFF"/>
                </a:solidFill>
                <a:latin typeface="微软雅黑" pitchFamily="34" charset="-122"/>
                <a:ea typeface="微软雅黑" pitchFamily="34" charset="-122"/>
                <a:sym typeface="微软雅黑" pitchFamily="34" charset="-122"/>
              </a:rPr>
              <a:t>、</a:t>
            </a:r>
            <a:r>
              <a:rPr lang="en-US" altLang="zh-TW" dirty="0">
                <a:solidFill>
                  <a:srgbClr val="FFFFFF"/>
                </a:solidFill>
                <a:latin typeface="微软雅黑" pitchFamily="34" charset="-122"/>
                <a:ea typeface="微软雅黑" pitchFamily="34" charset="-122"/>
                <a:sym typeface="微软雅黑" pitchFamily="34" charset="-122"/>
              </a:rPr>
              <a:t>t</a:t>
            </a:r>
            <a:r>
              <a:rPr lang="zh-TW" altLang="en-US" dirty="0">
                <a:solidFill>
                  <a:srgbClr val="FFFFFF"/>
                </a:solidFill>
                <a:latin typeface="微软雅黑" pitchFamily="34" charset="-122"/>
                <a:ea typeface="微软雅黑" pitchFamily="34" charset="-122"/>
                <a:sym typeface="微软雅黑" pitchFamily="34" charset="-122"/>
              </a:rPr>
              <a:t>、</a:t>
            </a:r>
            <a:r>
              <a:rPr lang="en-US" altLang="zh-TW" dirty="0">
                <a:solidFill>
                  <a:srgbClr val="FFFFFF"/>
                </a:solidFill>
                <a:latin typeface="微软雅黑" pitchFamily="34" charset="-122"/>
                <a:ea typeface="微软雅黑" pitchFamily="34" charset="-122"/>
                <a:sym typeface="微软雅黑" pitchFamily="34" charset="-122"/>
              </a:rPr>
              <a:t>e</a:t>
            </a:r>
            <a:r>
              <a:rPr lang="zh-TW" altLang="en-US" dirty="0">
                <a:solidFill>
                  <a:srgbClr val="FFFFFF"/>
                </a:solidFill>
                <a:latin typeface="微软雅黑" pitchFamily="34" charset="-122"/>
                <a:ea typeface="微软雅黑" pitchFamily="34" charset="-122"/>
                <a:sym typeface="微软雅黑" pitchFamily="34" charset="-122"/>
              </a:rPr>
              <a:t>、</a:t>
            </a:r>
            <a:r>
              <a:rPr lang="en-US" altLang="zh-TW" dirty="0">
                <a:solidFill>
                  <a:srgbClr val="FFFFFF"/>
                </a:solidFill>
                <a:latin typeface="微软雅黑" pitchFamily="34" charset="-122"/>
                <a:ea typeface="微软雅黑" pitchFamily="34" charset="-122"/>
                <a:sym typeface="微软雅黑" pitchFamily="34" charset="-122"/>
              </a:rPr>
              <a:t>m </a:t>
            </a:r>
            <a:r>
              <a:rPr lang="zh-TW" altLang="en-US" dirty="0">
                <a:solidFill>
                  <a:srgbClr val="FFFFFF"/>
                </a:solidFill>
                <a:latin typeface="微软雅黑" pitchFamily="34" charset="-122"/>
                <a:ea typeface="微软雅黑" pitchFamily="34" charset="-122"/>
                <a:sym typeface="微软雅黑" pitchFamily="34" charset="-122"/>
              </a:rPr>
              <a:t>四類，分別是</a:t>
            </a:r>
            <a:r>
              <a:rPr lang="en-US" altLang="zh-TW" dirty="0">
                <a:solidFill>
                  <a:srgbClr val="FFFFFF"/>
                </a:solidFill>
                <a:latin typeface="微软雅黑" pitchFamily="34" charset="-122"/>
                <a:ea typeface="微软雅黑" pitchFamily="34" charset="-122"/>
                <a:sym typeface="微软雅黑" pitchFamily="34" charset="-122"/>
              </a:rPr>
              <a:t>:</a:t>
            </a:r>
          </a:p>
          <a:p>
            <a:r>
              <a:rPr lang="en-US" altLang="zh-TW" dirty="0">
                <a:solidFill>
                  <a:srgbClr val="FFFFFF"/>
                </a:solidFill>
                <a:latin typeface="微软雅黑" pitchFamily="34" charset="-122"/>
                <a:ea typeface="微软雅黑" pitchFamily="34" charset="-122"/>
                <a:sym typeface="微软雅黑" pitchFamily="34" charset="-122"/>
              </a:rPr>
              <a:t>b: business  </a:t>
            </a:r>
            <a:r>
              <a:rPr lang="zh-TW" altLang="en-US" dirty="0">
                <a:solidFill>
                  <a:srgbClr val="FFFFFF"/>
                </a:solidFill>
                <a:latin typeface="微软雅黑" pitchFamily="34" charset="-122"/>
                <a:ea typeface="微软雅黑" pitchFamily="34" charset="-122"/>
                <a:sym typeface="微软雅黑" pitchFamily="34" charset="-122"/>
              </a:rPr>
              <a:t>                </a:t>
            </a:r>
            <a:r>
              <a:rPr lang="en-US" altLang="zh-TW" dirty="0">
                <a:solidFill>
                  <a:srgbClr val="FFFFFF"/>
                </a:solidFill>
                <a:latin typeface="微软雅黑" pitchFamily="34" charset="-122"/>
                <a:ea typeface="微软雅黑" pitchFamily="34" charset="-122"/>
                <a:sym typeface="微软雅黑" pitchFamily="34" charset="-122"/>
              </a:rPr>
              <a:t>t: science and technology</a:t>
            </a:r>
          </a:p>
          <a:p>
            <a:r>
              <a:rPr lang="en-US" altLang="zh-TW" dirty="0">
                <a:solidFill>
                  <a:srgbClr val="FFFFFF"/>
                </a:solidFill>
                <a:latin typeface="微软雅黑" pitchFamily="34" charset="-122"/>
                <a:ea typeface="微软雅黑" pitchFamily="34" charset="-122"/>
                <a:sym typeface="微软雅黑" pitchFamily="34" charset="-122"/>
              </a:rPr>
              <a:t>e: entertainment  </a:t>
            </a:r>
            <a:r>
              <a:rPr lang="zh-TW" altLang="en-US" dirty="0">
                <a:solidFill>
                  <a:srgbClr val="FFFFFF"/>
                </a:solidFill>
                <a:latin typeface="微软雅黑" pitchFamily="34" charset="-122"/>
                <a:ea typeface="微软雅黑" pitchFamily="34" charset="-122"/>
                <a:sym typeface="微软雅黑" pitchFamily="34" charset="-122"/>
              </a:rPr>
              <a:t>     </a:t>
            </a:r>
            <a:r>
              <a:rPr lang="en-US" altLang="zh-TW" dirty="0">
                <a:solidFill>
                  <a:srgbClr val="FFFFFF"/>
                </a:solidFill>
                <a:latin typeface="微软雅黑" pitchFamily="34" charset="-122"/>
                <a:ea typeface="微软雅黑" pitchFamily="34" charset="-122"/>
                <a:sym typeface="微软雅黑" pitchFamily="34" charset="-122"/>
              </a:rPr>
              <a:t>m: health </a:t>
            </a:r>
            <a:endParaRPr lang="zh-TW" altLang="en-US" dirty="0">
              <a:solidFill>
                <a:srgbClr val="FFFFFF"/>
              </a:solidFill>
              <a:latin typeface="微软雅黑" pitchFamily="34" charset="-122"/>
              <a:ea typeface="微软雅黑" pitchFamily="34" charset="-122"/>
              <a:sym typeface="微软雅黑" pitchFamily="34" charset="-122"/>
            </a:endParaRPr>
          </a:p>
          <a:p>
            <a:endParaRPr lang="zh-TW" altLang="en-US" dirty="0">
              <a:solidFill>
                <a:srgbClr val="FFFFFF"/>
              </a:solidFill>
              <a:latin typeface="微软雅黑" pitchFamily="34" charset="-122"/>
              <a:ea typeface="微软雅黑" pitchFamily="34" charset="-122"/>
              <a:sym typeface="微软雅黑" pitchFamily="34" charset="-122"/>
            </a:endParaRPr>
          </a:p>
        </p:txBody>
      </p:sp>
      <p:grpSp>
        <p:nvGrpSpPr>
          <p:cNvPr id="8" name="组合 1"/>
          <p:cNvGrpSpPr>
            <a:grpSpLocks/>
          </p:cNvGrpSpPr>
          <p:nvPr/>
        </p:nvGrpSpPr>
        <p:grpSpPr bwMode="auto">
          <a:xfrm>
            <a:off x="5335888" y="220442"/>
            <a:ext cx="3816350" cy="406400"/>
            <a:chOff x="0" y="0"/>
            <a:chExt cx="3816672" cy="405750"/>
          </a:xfrm>
        </p:grpSpPr>
        <p:sp>
          <p:nvSpPr>
            <p:cNvPr id="9"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2</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1"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資料說</a:t>
              </a:r>
              <a:r>
                <a:rPr lang="zh-TW" altLang="en-US" b="1" dirty="0">
                  <a:solidFill>
                    <a:srgbClr val="3F3F3F"/>
                  </a:solidFill>
                  <a:latin typeface="微软雅黑" pitchFamily="34" charset="-122"/>
                  <a:ea typeface="微软雅黑" pitchFamily="34" charset="-122"/>
                  <a:sym typeface="微软雅黑" pitchFamily="34" charset="-122"/>
                </a:rPr>
                <a:t>明</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
        <p:nvSpPr>
          <p:cNvPr id="12"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dirty="0">
                <a:solidFill>
                  <a:srgbClr val="05AFC8"/>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FC000"/>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A4453"/>
                </a:solidFill>
                <a:latin typeface="微软雅黑" pitchFamily="34" charset="-122"/>
                <a:ea typeface="微软雅黑" pitchFamily="34" charset="-122"/>
                <a:sym typeface="微软雅黑" pitchFamily="34" charset="-122"/>
              </a:rPr>
              <a:t>·</a:t>
            </a:r>
            <a:endParaRPr lang="zh-CN" altLang="en-US" sz="5400" b="1" dirty="0">
              <a:solidFill>
                <a:srgbClr val="FA4453"/>
              </a:solidFill>
              <a:latin typeface="微软雅黑" pitchFamily="34" charset="-122"/>
              <a:ea typeface="微软雅黑" pitchFamily="34" charset="-122"/>
              <a:sym typeface="微软雅黑" pitchFamily="34" charset="-122"/>
            </a:endParaRPr>
          </a:p>
        </p:txBody>
      </p:sp>
      <p:pic>
        <p:nvPicPr>
          <p:cNvPr id="5" name="圖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688" y="607899"/>
            <a:ext cx="1463836" cy="1463836"/>
          </a:xfrm>
          <a:prstGeom prst="rect">
            <a:avLst/>
          </a:prstGeom>
        </p:spPr>
      </p:pic>
    </p:spTree>
    <p:extLst>
      <p:ext uri="{BB962C8B-B14F-4D97-AF65-F5344CB8AC3E}">
        <p14:creationId xmlns:p14="http://schemas.microsoft.com/office/powerpoint/2010/main" val="10714921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群組 1"/>
          <p:cNvGrpSpPr/>
          <p:nvPr/>
        </p:nvGrpSpPr>
        <p:grpSpPr>
          <a:xfrm>
            <a:off x="900113" y="-36180"/>
            <a:ext cx="7200900" cy="1029955"/>
            <a:chOff x="971550" y="4134183"/>
            <a:chExt cx="7200900" cy="1029955"/>
          </a:xfrm>
        </p:grpSpPr>
        <p:sp>
          <p:nvSpPr>
            <p:cNvPr id="5123" name="流程图: 合并 38"/>
            <p:cNvSpPr>
              <a:spLocks noChangeArrowheads="1"/>
            </p:cNvSpPr>
            <p:nvPr/>
          </p:nvSpPr>
          <p:spPr bwMode="auto">
            <a:xfrm rot="21600000">
              <a:off x="971550" y="4156075"/>
              <a:ext cx="7200900" cy="1008063"/>
            </a:xfrm>
            <a:prstGeom prst="flowChartMerge">
              <a:avLst/>
            </a:prstGeom>
            <a:solidFill>
              <a:srgbClr val="F2747E">
                <a:alpha val="68999"/>
              </a:srgbClr>
            </a:solidFill>
            <a:ln>
              <a:noFill/>
            </a:ln>
            <a:extLst>
              <a:ext uri="{91240B29-F687-4F45-9708-019B960494DF}">
                <a14:hiddenLine xmlns:a14="http://schemas.microsoft.com/office/drawing/2010/main" w="9525"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124" name="流程图: 合并 40"/>
            <p:cNvSpPr>
              <a:spLocks noChangeArrowheads="1"/>
            </p:cNvSpPr>
            <p:nvPr/>
          </p:nvSpPr>
          <p:spPr bwMode="auto">
            <a:xfrm rot="21600000">
              <a:off x="1187450" y="4227513"/>
              <a:ext cx="6769100" cy="9366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5125" name="TextBox 41"/>
            <p:cNvSpPr>
              <a:spLocks noChangeArrowheads="1"/>
            </p:cNvSpPr>
            <p:nvPr/>
          </p:nvSpPr>
          <p:spPr bwMode="auto">
            <a:xfrm>
              <a:off x="3276600" y="4134183"/>
              <a:ext cx="2590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6000" b="1" dirty="0" smtClean="0">
                  <a:solidFill>
                    <a:schemeClr val="bg1"/>
                  </a:solidFill>
                  <a:latin typeface="BatangChe" pitchFamily="49" charset="-127"/>
                  <a:ea typeface="BatangChe" pitchFamily="49" charset="-127"/>
                  <a:sym typeface="BatangChe" pitchFamily="49" charset="-127"/>
                </a:rPr>
                <a:t>03</a:t>
              </a:r>
              <a:endParaRPr lang="zh-CN" altLang="en-US" sz="6000" b="1" dirty="0">
                <a:solidFill>
                  <a:schemeClr val="bg1"/>
                </a:solidFill>
                <a:latin typeface="BatangChe" pitchFamily="49" charset="-127"/>
                <a:ea typeface="BatangChe" pitchFamily="49" charset="-127"/>
                <a:sym typeface="BatangChe" pitchFamily="49" charset="-127"/>
              </a:endParaRPr>
            </a:p>
          </p:txBody>
        </p:sp>
      </p:grpSp>
      <p:sp>
        <p:nvSpPr>
          <p:cNvPr id="5126" name="流程图: 合并 43"/>
          <p:cNvSpPr>
            <a:spLocks noChangeArrowheads="1"/>
          </p:cNvSpPr>
          <p:nvPr/>
        </p:nvSpPr>
        <p:spPr bwMode="auto">
          <a:xfrm rot="10800000">
            <a:off x="4356894" y="2931780"/>
            <a:ext cx="431800" cy="2889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5127" name="TextBox 48"/>
          <p:cNvSpPr>
            <a:spLocks noChangeArrowheads="1"/>
          </p:cNvSpPr>
          <p:nvPr/>
        </p:nvSpPr>
        <p:spPr bwMode="auto">
          <a:xfrm>
            <a:off x="1152525" y="2316163"/>
            <a:ext cx="68405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sz="2800" b="1" dirty="0" smtClean="0">
                <a:solidFill>
                  <a:srgbClr val="000000"/>
                </a:solidFill>
                <a:latin typeface="+mj-ea"/>
                <a:ea typeface="+mj-ea"/>
                <a:sym typeface="微软雅黑" pitchFamily="34" charset="-122"/>
              </a:rPr>
              <a:t>研究方</a:t>
            </a:r>
            <a:r>
              <a:rPr lang="zh-TW" altLang="en-US" sz="2800" b="1" dirty="0">
                <a:solidFill>
                  <a:srgbClr val="000000"/>
                </a:solidFill>
                <a:latin typeface="+mj-ea"/>
                <a:ea typeface="+mj-ea"/>
                <a:sym typeface="微软雅黑" pitchFamily="34" charset="-122"/>
              </a:rPr>
              <a:t>法</a:t>
            </a:r>
            <a:endParaRPr lang="zh-CN" altLang="en-US" sz="2800" b="1" dirty="0">
              <a:solidFill>
                <a:srgbClr val="000000"/>
              </a:solidFill>
              <a:latin typeface="+mj-ea"/>
              <a:ea typeface="+mj-ea"/>
              <a:sym typeface="微软雅黑" pitchFamily="34" charset="-122"/>
            </a:endParaRPr>
          </a:p>
        </p:txBody>
      </p:sp>
      <p:sp>
        <p:nvSpPr>
          <p:cNvPr id="5128" name="流程图: 合并 53"/>
          <p:cNvSpPr>
            <a:spLocks noChangeArrowheads="1"/>
          </p:cNvSpPr>
          <p:nvPr/>
        </p:nvSpPr>
        <p:spPr bwMode="auto">
          <a:xfrm rot="10800000">
            <a:off x="8258421" y="4817546"/>
            <a:ext cx="1008063" cy="349250"/>
          </a:xfrm>
          <a:prstGeom prst="flowChartMerge">
            <a:avLst/>
          </a:prstGeom>
          <a:solidFill>
            <a:srgbClr val="F2747E"/>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129" name="流程图: 合并 54"/>
          <p:cNvSpPr>
            <a:spLocks noChangeArrowheads="1"/>
          </p:cNvSpPr>
          <p:nvPr/>
        </p:nvSpPr>
        <p:spPr bwMode="auto">
          <a:xfrm rot="10800000">
            <a:off x="8366371" y="4817546"/>
            <a:ext cx="755650" cy="290513"/>
          </a:xfrm>
          <a:prstGeom prst="flowChartMerge">
            <a:avLst/>
          </a:prstGeom>
          <a:noFill/>
          <a:ln w="6350" cap="flat" cmpd="sng">
            <a:solidFill>
              <a:srgbClr val="7F7F7F"/>
            </a:solidFill>
            <a:prstDash val="sysDot"/>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Tree>
    <p:extLst>
      <p:ext uri="{BB962C8B-B14F-4D97-AF65-F5344CB8AC3E}">
        <p14:creationId xmlns:p14="http://schemas.microsoft.com/office/powerpoint/2010/main" val="1844364470"/>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4" name="矩形 1"/>
          <p:cNvSpPr>
            <a:spLocks noChangeArrowheads="1"/>
          </p:cNvSpPr>
          <p:nvPr/>
        </p:nvSpPr>
        <p:spPr bwMode="auto">
          <a:xfrm>
            <a:off x="2501008" y="1107393"/>
            <a:ext cx="6142510" cy="3648996"/>
          </a:xfrm>
          <a:prstGeom prst="rect">
            <a:avLst/>
          </a:prstGeom>
          <a:solidFill>
            <a:srgbClr val="F2747E"/>
          </a:solidFill>
          <a:ln>
            <a:noFill/>
          </a:ln>
          <a:extLst/>
        </p:spPr>
        <p:txBody>
          <a:bodyPr anchor="ctr"/>
          <a:lstStyle/>
          <a:p>
            <a:r>
              <a:rPr lang="zh-TW" altLang="en-US" dirty="0" smtClean="0">
                <a:solidFill>
                  <a:srgbClr val="FFFFFF"/>
                </a:solidFill>
                <a:latin typeface="微软雅黑" pitchFamily="34" charset="-122"/>
                <a:ea typeface="微软雅黑" pitchFamily="34" charset="-122"/>
                <a:sym typeface="微软雅黑" pitchFamily="34" charset="-122"/>
              </a:rPr>
              <a:t>      本</a:t>
            </a:r>
            <a:r>
              <a:rPr lang="zh-TW" altLang="en-US" dirty="0">
                <a:solidFill>
                  <a:srgbClr val="FFFFFF"/>
                </a:solidFill>
                <a:latin typeface="微软雅黑" pitchFamily="34" charset="-122"/>
                <a:ea typeface="微软雅黑" pitchFamily="34" charset="-122"/>
                <a:sym typeface="微软雅黑" pitchFamily="34" charset="-122"/>
              </a:rPr>
              <a:t>組將研究報告分為兩部分，第一部分主要的工作是將資料隨機分為兩 組，</a:t>
            </a:r>
            <a:r>
              <a:rPr lang="en-US" altLang="zh-TW" dirty="0">
                <a:solidFill>
                  <a:srgbClr val="FFFFFF"/>
                </a:solidFill>
                <a:latin typeface="微软雅黑" pitchFamily="34" charset="-122"/>
                <a:ea typeface="微软雅黑" pitchFamily="34" charset="-122"/>
                <a:sym typeface="微软雅黑" pitchFamily="34" charset="-122"/>
              </a:rPr>
              <a:t>70%</a:t>
            </a:r>
            <a:r>
              <a:rPr lang="zh-TW" altLang="en-US" dirty="0">
                <a:solidFill>
                  <a:srgbClr val="FFFFFF"/>
                </a:solidFill>
                <a:latin typeface="微软雅黑" pitchFamily="34" charset="-122"/>
                <a:ea typeface="微软雅黑" pitchFamily="34" charset="-122"/>
                <a:sym typeface="微软雅黑" pitchFamily="34" charset="-122"/>
              </a:rPr>
              <a:t>的資料作為訓練資料，另外 </a:t>
            </a:r>
            <a:r>
              <a:rPr lang="en-US" altLang="zh-TW" dirty="0">
                <a:solidFill>
                  <a:srgbClr val="FFFFFF"/>
                </a:solidFill>
                <a:latin typeface="微软雅黑" pitchFamily="34" charset="-122"/>
                <a:ea typeface="微软雅黑" pitchFamily="34" charset="-122"/>
                <a:sym typeface="微软雅黑" pitchFamily="34" charset="-122"/>
              </a:rPr>
              <a:t>30%</a:t>
            </a:r>
            <a:r>
              <a:rPr lang="zh-TW" altLang="en-US" dirty="0">
                <a:solidFill>
                  <a:srgbClr val="FFFFFF"/>
                </a:solidFill>
                <a:latin typeface="微软雅黑" pitchFamily="34" charset="-122"/>
                <a:ea typeface="微软雅黑" pitchFamily="34" charset="-122"/>
                <a:sym typeface="微软雅黑" pitchFamily="34" charset="-122"/>
              </a:rPr>
              <a:t>的資料做為測試資料，將訓練資料輸 入後利用羅吉斯回歸建立模型，再用剩下的 </a:t>
            </a:r>
            <a:r>
              <a:rPr lang="en-US" altLang="zh-TW" dirty="0">
                <a:solidFill>
                  <a:srgbClr val="FFFFFF"/>
                </a:solidFill>
                <a:latin typeface="微软雅黑" pitchFamily="34" charset="-122"/>
                <a:ea typeface="微软雅黑" pitchFamily="34" charset="-122"/>
                <a:sym typeface="微软雅黑" pitchFamily="34" charset="-122"/>
              </a:rPr>
              <a:t>30%</a:t>
            </a:r>
            <a:r>
              <a:rPr lang="zh-TW" altLang="en-US" dirty="0">
                <a:solidFill>
                  <a:srgbClr val="FFFFFF"/>
                </a:solidFill>
                <a:latin typeface="微软雅黑" pitchFamily="34" charset="-122"/>
                <a:ea typeface="微软雅黑" pitchFamily="34" charset="-122"/>
                <a:sym typeface="微软雅黑" pitchFamily="34" charset="-122"/>
              </a:rPr>
              <a:t>資料驗證模型是否能正確地將 新聞標題分。</a:t>
            </a:r>
            <a:r>
              <a:rPr lang="zh-TW" altLang="en-US" dirty="0" smtClean="0">
                <a:solidFill>
                  <a:srgbClr val="FFFFFF"/>
                </a:solidFill>
                <a:latin typeface="微软雅黑" pitchFamily="34" charset="-122"/>
                <a:ea typeface="微软雅黑" pitchFamily="34" charset="-122"/>
                <a:sym typeface="微软雅黑" pitchFamily="34" charset="-122"/>
              </a:rPr>
              <a:t>此外，再</a:t>
            </a:r>
            <a:r>
              <a:rPr lang="zh-TW" altLang="en-US" dirty="0">
                <a:solidFill>
                  <a:srgbClr val="FFFFFF"/>
                </a:solidFill>
                <a:latin typeface="微软雅黑" pitchFamily="34" charset="-122"/>
                <a:ea typeface="微软雅黑" pitchFamily="34" charset="-122"/>
                <a:sym typeface="微软雅黑" pitchFamily="34" charset="-122"/>
              </a:rPr>
              <a:t>以 </a:t>
            </a:r>
            <a:r>
              <a:rPr lang="en-US" altLang="zh-TW" dirty="0" err="1">
                <a:solidFill>
                  <a:srgbClr val="FFFFFF"/>
                </a:solidFill>
                <a:latin typeface="微软雅黑" pitchFamily="34" charset="-122"/>
                <a:ea typeface="微软雅黑" pitchFamily="34" charset="-122"/>
                <a:sym typeface="微软雅黑" pitchFamily="34" charset="-122"/>
              </a:rPr>
              <a:t>tf-idf</a:t>
            </a:r>
            <a:r>
              <a:rPr lang="en-US" altLang="zh-TW" dirty="0">
                <a:solidFill>
                  <a:srgbClr val="FFFFFF"/>
                </a:solidFill>
                <a:latin typeface="微软雅黑" pitchFamily="34" charset="-122"/>
                <a:ea typeface="微软雅黑" pitchFamily="34" charset="-122"/>
                <a:sym typeface="微软雅黑" pitchFamily="34" charset="-122"/>
              </a:rPr>
              <a:t> </a:t>
            </a:r>
            <a:r>
              <a:rPr lang="zh-TW" altLang="en-US" dirty="0">
                <a:solidFill>
                  <a:srgbClr val="FFFFFF"/>
                </a:solidFill>
                <a:latin typeface="微软雅黑" pitchFamily="34" charset="-122"/>
                <a:ea typeface="微软雅黑" pitchFamily="34" charset="-122"/>
                <a:sym typeface="微软雅黑" pitchFamily="34" charset="-122"/>
              </a:rPr>
              <a:t>的資料型態跑一次羅吉斯回歸模型，來比較兩模 型的預測結果的差異。  </a:t>
            </a:r>
            <a:endParaRPr lang="en-US" altLang="zh-TW" dirty="0" smtClean="0">
              <a:solidFill>
                <a:srgbClr val="FFFFFF"/>
              </a:solidFill>
              <a:latin typeface="微软雅黑" pitchFamily="34" charset="-122"/>
              <a:ea typeface="微软雅黑" pitchFamily="34" charset="-122"/>
              <a:sym typeface="微软雅黑" pitchFamily="34" charset="-122"/>
            </a:endParaRPr>
          </a:p>
          <a:p>
            <a:r>
              <a:rPr lang="zh-TW" altLang="en-US" dirty="0">
                <a:solidFill>
                  <a:srgbClr val="FFFFFF"/>
                </a:solidFill>
                <a:latin typeface="微软雅黑" pitchFamily="34" charset="-122"/>
                <a:ea typeface="微软雅黑" pitchFamily="34" charset="-122"/>
                <a:sym typeface="微软雅黑" pitchFamily="34" charset="-122"/>
              </a:rPr>
              <a:t> </a:t>
            </a:r>
            <a:r>
              <a:rPr lang="zh-TW" altLang="en-US" dirty="0" smtClean="0">
                <a:solidFill>
                  <a:srgbClr val="FFFFFF"/>
                </a:solidFill>
                <a:latin typeface="微软雅黑" pitchFamily="34" charset="-122"/>
                <a:ea typeface="微软雅黑" pitchFamily="34" charset="-122"/>
                <a:sym typeface="微软雅黑" pitchFamily="34" charset="-122"/>
              </a:rPr>
              <a:t>      第二</a:t>
            </a:r>
            <a:r>
              <a:rPr lang="zh-TW" altLang="en-US" dirty="0">
                <a:solidFill>
                  <a:srgbClr val="FFFFFF"/>
                </a:solidFill>
                <a:latin typeface="微软雅黑" pitchFamily="34" charset="-122"/>
                <a:ea typeface="微软雅黑" pitchFamily="34" charset="-122"/>
                <a:sym typeface="微软雅黑" pitchFamily="34" charset="-122"/>
              </a:rPr>
              <a:t>部分是以 </a:t>
            </a:r>
            <a:r>
              <a:rPr lang="en-US" altLang="zh-TW" dirty="0">
                <a:solidFill>
                  <a:srgbClr val="FFFFFF"/>
                </a:solidFill>
                <a:latin typeface="微软雅黑" pitchFamily="34" charset="-122"/>
                <a:ea typeface="微软雅黑" pitchFamily="34" charset="-122"/>
                <a:sym typeface="微软雅黑" pitchFamily="34" charset="-122"/>
              </a:rPr>
              <a:t>b : business </a:t>
            </a:r>
            <a:r>
              <a:rPr lang="zh-TW" altLang="en-US" dirty="0">
                <a:solidFill>
                  <a:srgbClr val="FFFFFF"/>
                </a:solidFill>
                <a:latin typeface="微软雅黑" pitchFamily="34" charset="-122"/>
                <a:ea typeface="微软雅黑" pitchFamily="34" charset="-122"/>
                <a:sym typeface="微软雅黑" pitchFamily="34" charset="-122"/>
              </a:rPr>
              <a:t>這個新聞分類為</a:t>
            </a:r>
            <a:r>
              <a:rPr lang="zh-TW" altLang="en-US" dirty="0" smtClean="0">
                <a:solidFill>
                  <a:srgbClr val="FFFFFF"/>
                </a:solidFill>
                <a:latin typeface="微软雅黑" pitchFamily="34" charset="-122"/>
                <a:ea typeface="微软雅黑" pitchFamily="34" charset="-122"/>
                <a:sym typeface="微软雅黑" pitchFamily="34" charset="-122"/>
              </a:rPr>
              <a:t>例，利用</a:t>
            </a:r>
            <a:r>
              <a:rPr lang="zh-TW" altLang="en-US" dirty="0">
                <a:solidFill>
                  <a:srgbClr val="FFFFFF"/>
                </a:solidFill>
                <a:latin typeface="微软雅黑" pitchFamily="34" charset="-122"/>
                <a:ea typeface="微软雅黑" pitchFamily="34" charset="-122"/>
                <a:sym typeface="微软雅黑" pitchFamily="34" charset="-122"/>
              </a:rPr>
              <a:t>第一部份模型判斷選出 </a:t>
            </a:r>
            <a:r>
              <a:rPr lang="en-US" altLang="zh-TW" dirty="0">
                <a:solidFill>
                  <a:srgbClr val="FFFFFF"/>
                </a:solidFill>
                <a:latin typeface="微软雅黑" pitchFamily="34" charset="-122"/>
                <a:ea typeface="微软雅黑" pitchFamily="34" charset="-122"/>
                <a:sym typeface="微软雅黑" pitchFamily="34" charset="-122"/>
              </a:rPr>
              <a:t>business </a:t>
            </a:r>
            <a:r>
              <a:rPr lang="zh-TW" altLang="en-US" dirty="0">
                <a:solidFill>
                  <a:srgbClr val="FFFFFF"/>
                </a:solidFill>
                <a:latin typeface="微软雅黑" pitchFamily="34" charset="-122"/>
                <a:ea typeface="微软雅黑" pitchFamily="34" charset="-122"/>
                <a:sym typeface="微软雅黑" pitchFamily="34" charset="-122"/>
              </a:rPr>
              <a:t>類的文章進行文本分析。首先將模型選出的文章內容進行資料清洗</a:t>
            </a:r>
            <a:r>
              <a:rPr lang="zh-TW" altLang="en-US" dirty="0" smtClean="0">
                <a:solidFill>
                  <a:srgbClr val="FFFFFF"/>
                </a:solidFill>
                <a:latin typeface="微软雅黑" pitchFamily="34" charset="-122"/>
                <a:ea typeface="微软雅黑" pitchFamily="34" charset="-122"/>
                <a:sym typeface="微软雅黑" pitchFamily="34" charset="-122"/>
              </a:rPr>
              <a:t>，刪除 </a:t>
            </a:r>
            <a:r>
              <a:rPr lang="en-US" altLang="zh-TW" dirty="0" err="1">
                <a:solidFill>
                  <a:srgbClr val="FFFFFF"/>
                </a:solidFill>
                <a:latin typeface="微软雅黑" pitchFamily="34" charset="-122"/>
                <a:ea typeface="微软雅黑" pitchFamily="34" charset="-122"/>
                <a:sym typeface="微软雅黑" pitchFamily="34" charset="-122"/>
              </a:rPr>
              <a:t>stopword</a:t>
            </a:r>
            <a:r>
              <a:rPr lang="zh-TW" altLang="en-US" dirty="0">
                <a:solidFill>
                  <a:srgbClr val="FFFFFF"/>
                </a:solidFill>
                <a:latin typeface="微软雅黑" pitchFamily="34" charset="-122"/>
                <a:ea typeface="微软雅黑" pitchFamily="34" charset="-122"/>
                <a:sym typeface="微软雅黑" pitchFamily="34" charset="-122"/>
              </a:rPr>
              <a:t>、標點符號、以及將所有字改為小寫以選出文章中最常出現的字 詞，最後找出這些字附近出現頻率最高的 </a:t>
            </a:r>
            <a:r>
              <a:rPr lang="en-US" altLang="zh-TW" dirty="0">
                <a:solidFill>
                  <a:srgbClr val="FFFFFF"/>
                </a:solidFill>
                <a:latin typeface="微软雅黑" pitchFamily="34" charset="-122"/>
                <a:ea typeface="微软雅黑" pitchFamily="34" charset="-122"/>
                <a:sym typeface="微软雅黑" pitchFamily="34" charset="-122"/>
              </a:rPr>
              <a:t>20 </a:t>
            </a:r>
            <a:r>
              <a:rPr lang="zh-TW" altLang="en-US" dirty="0">
                <a:solidFill>
                  <a:srgbClr val="FFFFFF"/>
                </a:solidFill>
                <a:latin typeface="微软雅黑" pitchFamily="34" charset="-122"/>
                <a:ea typeface="微软雅黑" pitchFamily="34" charset="-122"/>
                <a:sym typeface="微软雅黑" pitchFamily="34" charset="-122"/>
              </a:rPr>
              <a:t>字，用以推測這些文章的內容</a:t>
            </a:r>
            <a:r>
              <a:rPr lang="zh-TW" altLang="en-US" dirty="0" smtClean="0">
                <a:solidFill>
                  <a:srgbClr val="FFFFFF"/>
                </a:solidFill>
                <a:latin typeface="微软雅黑" pitchFamily="34" charset="-122"/>
                <a:ea typeface="微软雅黑" pitchFamily="34" charset="-122"/>
                <a:sym typeface="微软雅黑" pitchFamily="34" charset="-122"/>
              </a:rPr>
              <a:t>摘要</a:t>
            </a:r>
            <a:r>
              <a:rPr lang="zh-TW" altLang="en-US" dirty="0">
                <a:solidFill>
                  <a:srgbClr val="FFFFFF"/>
                </a:solidFill>
                <a:latin typeface="微软雅黑" pitchFamily="34" charset="-122"/>
                <a:ea typeface="微软雅黑" pitchFamily="34" charset="-122"/>
                <a:sym typeface="微软雅黑" pitchFamily="34" charset="-122"/>
              </a:rPr>
              <a:t>。 </a:t>
            </a:r>
          </a:p>
        </p:txBody>
      </p:sp>
      <p:grpSp>
        <p:nvGrpSpPr>
          <p:cNvPr id="8" name="组合 1"/>
          <p:cNvGrpSpPr>
            <a:grpSpLocks/>
          </p:cNvGrpSpPr>
          <p:nvPr/>
        </p:nvGrpSpPr>
        <p:grpSpPr bwMode="auto">
          <a:xfrm>
            <a:off x="5335888" y="220442"/>
            <a:ext cx="3816350" cy="406400"/>
            <a:chOff x="0" y="0"/>
            <a:chExt cx="3816672" cy="405750"/>
          </a:xfrm>
        </p:grpSpPr>
        <p:sp>
          <p:nvSpPr>
            <p:cNvPr id="9"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smtClean="0">
                  <a:solidFill>
                    <a:srgbClr val="3F3F3F"/>
                  </a:solidFill>
                  <a:latin typeface="微软雅黑" pitchFamily="34" charset="-122"/>
                  <a:ea typeface="微软雅黑" pitchFamily="34" charset="-122"/>
                  <a:sym typeface="微软雅黑" pitchFamily="34" charset="-122"/>
                </a:rPr>
                <a:t>3</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1"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研究方</a:t>
              </a:r>
              <a:r>
                <a:rPr lang="zh-TW" altLang="en-US" b="1" dirty="0">
                  <a:solidFill>
                    <a:srgbClr val="3F3F3F"/>
                  </a:solidFill>
                  <a:latin typeface="微软雅黑" pitchFamily="34" charset="-122"/>
                  <a:ea typeface="微软雅黑" pitchFamily="34" charset="-122"/>
                  <a:sym typeface="微软雅黑" pitchFamily="34" charset="-122"/>
                </a:rPr>
                <a:t>法</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
        <p:nvSpPr>
          <p:cNvPr id="12"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dirty="0">
                <a:solidFill>
                  <a:srgbClr val="05AFC8"/>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FC000"/>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A4453"/>
                </a:solidFill>
                <a:latin typeface="微软雅黑" pitchFamily="34" charset="-122"/>
                <a:ea typeface="微软雅黑" pitchFamily="34" charset="-122"/>
                <a:sym typeface="微软雅黑" pitchFamily="34" charset="-122"/>
              </a:rPr>
              <a:t>·</a:t>
            </a:r>
            <a:endParaRPr lang="zh-CN" altLang="en-US" sz="5400" b="1" dirty="0">
              <a:solidFill>
                <a:srgbClr val="FA4453"/>
              </a:solidFill>
              <a:latin typeface="微软雅黑" pitchFamily="34" charset="-122"/>
              <a:ea typeface="微软雅黑" pitchFamily="34" charset="-122"/>
              <a:sym typeface="微软雅黑" pitchFamily="34" charset="-122"/>
            </a:endParaRPr>
          </a:p>
        </p:txBody>
      </p:sp>
      <p:pic>
        <p:nvPicPr>
          <p:cNvPr id="5" name="圖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7688" y="607899"/>
            <a:ext cx="1463836" cy="1463836"/>
          </a:xfrm>
          <a:prstGeom prst="rect">
            <a:avLst/>
          </a:prstGeom>
        </p:spPr>
      </p:pic>
    </p:spTree>
    <p:extLst>
      <p:ext uri="{BB962C8B-B14F-4D97-AF65-F5344CB8AC3E}">
        <p14:creationId xmlns:p14="http://schemas.microsoft.com/office/powerpoint/2010/main" val="20149972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60"/>
          <p:cNvSpPr>
            <a:spLocks noChangeArrowheads="1"/>
          </p:cNvSpPr>
          <p:nvPr/>
        </p:nvSpPr>
        <p:spPr bwMode="auto">
          <a:xfrm>
            <a:off x="0" y="-34925"/>
            <a:ext cx="9144000" cy="5272088"/>
          </a:xfrm>
          <a:prstGeom prst="rect">
            <a:avLst/>
          </a:prstGeom>
          <a:solidFill>
            <a:srgbClr val="000000">
              <a:alpha val="12000"/>
            </a:srgbClr>
          </a:solidFill>
          <a:ln>
            <a:noFill/>
          </a:ln>
          <a:extLst>
            <a:ext uri="{91240B29-F687-4F45-9708-019B960494DF}">
              <a14:hiddenLine xmlns:a14="http://schemas.microsoft.com/office/drawing/2010/main" w="25400" cap="flat" cmpd="sng">
                <a:solidFill>
                  <a:srgbClr val="000000"/>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123" name="流程图: 合并 38"/>
          <p:cNvSpPr>
            <a:spLocks noChangeArrowheads="1"/>
          </p:cNvSpPr>
          <p:nvPr/>
        </p:nvSpPr>
        <p:spPr bwMode="auto">
          <a:xfrm rot="10800000">
            <a:off x="971550" y="4156075"/>
            <a:ext cx="7200900" cy="1008063"/>
          </a:xfrm>
          <a:prstGeom prst="flowChartMerge">
            <a:avLst/>
          </a:prstGeom>
          <a:solidFill>
            <a:srgbClr val="05AFC8">
              <a:alpha val="68999"/>
            </a:srgbClr>
          </a:solidFill>
          <a:ln>
            <a:noFill/>
          </a:ln>
          <a:extLst>
            <a:ext uri="{91240B29-F687-4F45-9708-019B960494DF}">
              <a14:hiddenLine xmlns:a14="http://schemas.microsoft.com/office/drawing/2010/main" w="9525"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124" name="流程图: 合并 40"/>
          <p:cNvSpPr>
            <a:spLocks noChangeArrowheads="1"/>
          </p:cNvSpPr>
          <p:nvPr/>
        </p:nvSpPr>
        <p:spPr bwMode="auto">
          <a:xfrm rot="10800000">
            <a:off x="1187450" y="4227513"/>
            <a:ext cx="6769100" cy="9366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5125" name="TextBox 41"/>
          <p:cNvSpPr>
            <a:spLocks noChangeArrowheads="1"/>
          </p:cNvSpPr>
          <p:nvPr/>
        </p:nvSpPr>
        <p:spPr bwMode="auto">
          <a:xfrm>
            <a:off x="3276600" y="4095750"/>
            <a:ext cx="2590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6000" b="1" dirty="0" smtClean="0">
                <a:solidFill>
                  <a:schemeClr val="bg1"/>
                </a:solidFill>
                <a:latin typeface="BatangChe" pitchFamily="49" charset="-127"/>
                <a:ea typeface="BatangChe" pitchFamily="49" charset="-127"/>
                <a:sym typeface="BatangChe" pitchFamily="49" charset="-127"/>
              </a:rPr>
              <a:t>04</a:t>
            </a:r>
            <a:endParaRPr lang="zh-CN" altLang="en-US" sz="6000" b="1" dirty="0">
              <a:solidFill>
                <a:schemeClr val="bg1"/>
              </a:solidFill>
              <a:latin typeface="BatangChe" pitchFamily="49" charset="-127"/>
              <a:ea typeface="BatangChe" pitchFamily="49" charset="-127"/>
              <a:sym typeface="BatangChe" pitchFamily="49" charset="-127"/>
            </a:endParaRPr>
          </a:p>
        </p:txBody>
      </p:sp>
      <p:sp>
        <p:nvSpPr>
          <p:cNvPr id="5126" name="流程图: 合并 43"/>
          <p:cNvSpPr>
            <a:spLocks noChangeArrowheads="1"/>
          </p:cNvSpPr>
          <p:nvPr/>
        </p:nvSpPr>
        <p:spPr bwMode="auto">
          <a:xfrm>
            <a:off x="4356100" y="1995488"/>
            <a:ext cx="431800" cy="2889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5127" name="TextBox 48"/>
          <p:cNvSpPr>
            <a:spLocks noChangeArrowheads="1"/>
          </p:cNvSpPr>
          <p:nvPr/>
        </p:nvSpPr>
        <p:spPr bwMode="auto">
          <a:xfrm>
            <a:off x="1152525" y="2316163"/>
            <a:ext cx="68405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sz="2800" b="1" dirty="0" smtClean="0">
                <a:solidFill>
                  <a:srgbClr val="000000"/>
                </a:solidFill>
                <a:latin typeface="+mj-ea"/>
                <a:ea typeface="+mj-ea"/>
                <a:sym typeface="微软雅黑" pitchFamily="34" charset="-122"/>
              </a:rPr>
              <a:t>研究結果</a:t>
            </a:r>
            <a:endParaRPr lang="zh-CN" altLang="en-US" sz="2800" b="1" dirty="0">
              <a:solidFill>
                <a:srgbClr val="000000"/>
              </a:solidFill>
              <a:latin typeface="+mj-ea"/>
              <a:ea typeface="+mj-ea"/>
              <a:sym typeface="微软雅黑" pitchFamily="34" charset="-122"/>
            </a:endParaRPr>
          </a:p>
        </p:txBody>
      </p:sp>
      <p:sp>
        <p:nvSpPr>
          <p:cNvPr id="5128" name="流程图: 合并 53"/>
          <p:cNvSpPr>
            <a:spLocks noChangeArrowheads="1"/>
          </p:cNvSpPr>
          <p:nvPr/>
        </p:nvSpPr>
        <p:spPr bwMode="auto">
          <a:xfrm>
            <a:off x="-107950" y="-22225"/>
            <a:ext cx="1008063" cy="349250"/>
          </a:xfrm>
          <a:prstGeom prst="flowChartMerge">
            <a:avLst/>
          </a:prstGeom>
          <a:solidFill>
            <a:srgbClr val="05AFC8"/>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129" name="流程图: 合并 54"/>
          <p:cNvSpPr>
            <a:spLocks noChangeArrowheads="1"/>
          </p:cNvSpPr>
          <p:nvPr/>
        </p:nvSpPr>
        <p:spPr bwMode="auto">
          <a:xfrm>
            <a:off x="0" y="-22225"/>
            <a:ext cx="755650" cy="290513"/>
          </a:xfrm>
          <a:prstGeom prst="flowChartMerge">
            <a:avLst/>
          </a:prstGeom>
          <a:noFill/>
          <a:ln w="6350" cap="flat" cmpd="sng">
            <a:solidFill>
              <a:srgbClr val="7F7F7F"/>
            </a:solidFill>
            <a:prstDash val="sysDot"/>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grpSp>
        <p:nvGrpSpPr>
          <p:cNvPr id="11267" name="组合 1"/>
          <p:cNvGrpSpPr>
            <a:grpSpLocks/>
          </p:cNvGrpSpPr>
          <p:nvPr/>
        </p:nvGrpSpPr>
        <p:grpSpPr bwMode="auto">
          <a:xfrm>
            <a:off x="5502988" y="189464"/>
            <a:ext cx="3816350" cy="406400"/>
            <a:chOff x="0" y="0"/>
            <a:chExt cx="3816672" cy="405750"/>
          </a:xfrm>
        </p:grpSpPr>
        <p:sp>
          <p:nvSpPr>
            <p:cNvPr id="11268"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1270"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dirty="0">
                <a:solidFill>
                  <a:srgbClr val="05AFC8"/>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FC000"/>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A4453"/>
                </a:solidFill>
                <a:latin typeface="微软雅黑" pitchFamily="34" charset="-122"/>
                <a:ea typeface="微软雅黑" pitchFamily="34" charset="-122"/>
                <a:sym typeface="微软雅黑" pitchFamily="34" charset="-122"/>
              </a:rPr>
              <a:t>·</a:t>
            </a:r>
            <a:endParaRPr lang="zh-CN" altLang="en-US" sz="5400" b="1" dirty="0">
              <a:solidFill>
                <a:srgbClr val="FA4453"/>
              </a:solidFill>
              <a:latin typeface="微软雅黑" pitchFamily="34" charset="-122"/>
              <a:ea typeface="微软雅黑" pitchFamily="34" charset="-122"/>
              <a:sym typeface="微软雅黑" pitchFamily="34" charset="-122"/>
            </a:endParaRPr>
          </a:p>
        </p:txBody>
      </p:sp>
      <p:sp>
        <p:nvSpPr>
          <p:cNvPr id="11273" name="矩形 9"/>
          <p:cNvSpPr>
            <a:spLocks noChangeArrowheads="1"/>
          </p:cNvSpPr>
          <p:nvPr/>
        </p:nvSpPr>
        <p:spPr bwMode="auto">
          <a:xfrm>
            <a:off x="468777" y="731319"/>
            <a:ext cx="5040420"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40783" y="812501"/>
            <a:ext cx="4896408"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algn="ctr"/>
            <a:r>
              <a:rPr lang="zh-TW" altLang="zh-TW" dirty="0"/>
              <a:t>隨機取</a:t>
            </a:r>
            <a:r>
              <a:rPr lang="en-US" altLang="zh-TW" dirty="0"/>
              <a:t>10000</a:t>
            </a:r>
            <a:r>
              <a:rPr lang="zh-TW" altLang="zh-TW" dirty="0"/>
              <a:t>筆資料，並合併為新的資料框架</a:t>
            </a:r>
            <a:endParaRPr lang="zh-CN" altLang="zh-CN" dirty="0">
              <a:solidFill>
                <a:srgbClr val="FFFFFF"/>
              </a:solidFill>
              <a:latin typeface="宋体" pitchFamily="2" charset="-122"/>
              <a:sym typeface="宋体" pitchFamily="2" charset="-122"/>
            </a:endParaRPr>
          </a:p>
        </p:txBody>
      </p:sp>
      <p:sp>
        <p:nvSpPr>
          <p:cNvPr id="23" name="矩形 22"/>
          <p:cNvSpPr/>
          <p:nvPr/>
        </p:nvSpPr>
        <p:spPr>
          <a:xfrm>
            <a:off x="1173206" y="1442367"/>
            <a:ext cx="6984582" cy="15674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smtClean="0">
                <a:solidFill>
                  <a:prstClr val="black"/>
                </a:solidFill>
                <a:latin typeface="Consolas" panose="020B0609020204030204" pitchFamily="49" charset="0"/>
                <a:cs typeface="+mj-cs"/>
              </a:rPr>
              <a:t>&gt; </a:t>
            </a:r>
            <a:r>
              <a:rPr lang="en-US" altLang="zh-TW" dirty="0" err="1" smtClean="0">
                <a:solidFill>
                  <a:prstClr val="black"/>
                </a:solidFill>
                <a:latin typeface="Consolas" panose="020B0609020204030204" pitchFamily="49" charset="0"/>
                <a:cs typeface="+mj-cs"/>
              </a:rPr>
              <a:t>set.seed</a:t>
            </a:r>
            <a:r>
              <a:rPr lang="en-US" altLang="zh-TW" dirty="0" smtClean="0">
                <a:solidFill>
                  <a:prstClr val="black"/>
                </a:solidFill>
                <a:latin typeface="Consolas" panose="020B0609020204030204" pitchFamily="49" charset="0"/>
                <a:cs typeface="+mj-cs"/>
              </a:rPr>
              <a:t>(2018</a:t>
            </a:r>
            <a:r>
              <a:rPr lang="en-US" altLang="zh-TW" dirty="0">
                <a:solidFill>
                  <a:prstClr val="black"/>
                </a:solidFill>
                <a:latin typeface="Consolas" panose="020B0609020204030204" pitchFamily="49" charset="0"/>
                <a:cs typeface="+mj-cs"/>
              </a:rPr>
              <a:t>)</a:t>
            </a:r>
            <a:r>
              <a:rPr lang="zh-TW" altLang="zh-TW" dirty="0">
                <a:solidFill>
                  <a:prstClr val="black"/>
                </a:solidFill>
                <a:latin typeface="Consolas" panose="020B0609020204030204" pitchFamily="49" charset="0"/>
                <a:cs typeface="+mj-cs"/>
              </a:rPr>
              <a:t/>
            </a:r>
            <a:br>
              <a:rPr lang="zh-TW" altLang="zh-TW" dirty="0">
                <a:solidFill>
                  <a:prstClr val="black"/>
                </a:solidFill>
                <a:latin typeface="Consolas" panose="020B0609020204030204" pitchFamily="49" charset="0"/>
                <a:cs typeface="+mj-cs"/>
              </a:rPr>
            </a:br>
            <a:r>
              <a:rPr lang="en-US" altLang="zh-TW" dirty="0" smtClean="0">
                <a:solidFill>
                  <a:prstClr val="black"/>
                </a:solidFill>
                <a:latin typeface="Consolas" panose="020B0609020204030204" pitchFamily="49" charset="0"/>
                <a:cs typeface="+mj-cs"/>
              </a:rPr>
              <a:t>&gt; id=sample(1:dim(</a:t>
            </a:r>
            <a:r>
              <a:rPr lang="en-US" altLang="zh-TW" dirty="0" err="1" smtClean="0">
                <a:solidFill>
                  <a:prstClr val="black"/>
                </a:solidFill>
                <a:latin typeface="Consolas" panose="020B0609020204030204" pitchFamily="49" charset="0"/>
                <a:cs typeface="+mj-cs"/>
              </a:rPr>
              <a:t>uci_news_aggregator</a:t>
            </a:r>
            <a:r>
              <a:rPr lang="en-US" altLang="zh-TW" dirty="0">
                <a:solidFill>
                  <a:prstClr val="black"/>
                </a:solidFill>
                <a:latin typeface="Consolas" panose="020B0609020204030204" pitchFamily="49" charset="0"/>
                <a:cs typeface="+mj-cs"/>
              </a:rPr>
              <a:t>)[1],10000)</a:t>
            </a:r>
            <a:r>
              <a:rPr lang="zh-TW" altLang="zh-TW" dirty="0">
                <a:solidFill>
                  <a:prstClr val="black"/>
                </a:solidFill>
                <a:latin typeface="Consolas" panose="020B0609020204030204" pitchFamily="49" charset="0"/>
                <a:cs typeface="+mj-cs"/>
              </a:rPr>
              <a:t/>
            </a:r>
            <a:br>
              <a:rPr lang="zh-TW" altLang="zh-TW" dirty="0">
                <a:solidFill>
                  <a:prstClr val="black"/>
                </a:solidFill>
                <a:latin typeface="Consolas" panose="020B0609020204030204" pitchFamily="49" charset="0"/>
                <a:cs typeface="+mj-cs"/>
              </a:rPr>
            </a:br>
            <a:r>
              <a:rPr lang="en-US" altLang="zh-TW" dirty="0" smtClean="0">
                <a:solidFill>
                  <a:prstClr val="black"/>
                </a:solidFill>
                <a:latin typeface="Consolas" panose="020B0609020204030204" pitchFamily="49" charset="0"/>
                <a:cs typeface="+mj-cs"/>
              </a:rPr>
              <a:t>&gt; news=</a:t>
            </a:r>
            <a:r>
              <a:rPr lang="en-US" altLang="zh-TW" dirty="0" err="1" smtClean="0">
                <a:solidFill>
                  <a:prstClr val="black"/>
                </a:solidFill>
                <a:latin typeface="Consolas" panose="020B0609020204030204" pitchFamily="49" charset="0"/>
                <a:cs typeface="+mj-cs"/>
              </a:rPr>
              <a:t>uci_news_aggregator</a:t>
            </a:r>
            <a:r>
              <a:rPr lang="en-US" altLang="zh-TW" dirty="0" smtClean="0">
                <a:solidFill>
                  <a:prstClr val="black"/>
                </a:solidFill>
                <a:latin typeface="Consolas" panose="020B0609020204030204" pitchFamily="49" charset="0"/>
                <a:cs typeface="+mj-cs"/>
              </a:rPr>
              <a:t>[id</a:t>
            </a:r>
            <a:r>
              <a:rPr lang="en-US" altLang="zh-TW" dirty="0">
                <a:solidFill>
                  <a:prstClr val="black"/>
                </a:solidFill>
                <a:latin typeface="Consolas" panose="020B0609020204030204" pitchFamily="49" charset="0"/>
                <a:cs typeface="+mj-cs"/>
              </a:rPr>
              <a:t>,]</a:t>
            </a:r>
            <a:r>
              <a:rPr lang="zh-TW" altLang="zh-TW" dirty="0">
                <a:solidFill>
                  <a:prstClr val="black"/>
                </a:solidFill>
                <a:latin typeface="Consolas" panose="020B0609020204030204" pitchFamily="49" charset="0"/>
                <a:cs typeface="+mj-cs"/>
              </a:rPr>
              <a:t/>
            </a:r>
            <a:br>
              <a:rPr lang="zh-TW" altLang="zh-TW" dirty="0">
                <a:solidFill>
                  <a:prstClr val="black"/>
                </a:solidFill>
                <a:latin typeface="Consolas" panose="020B0609020204030204" pitchFamily="49" charset="0"/>
                <a:cs typeface="+mj-cs"/>
              </a:rPr>
            </a:br>
            <a:r>
              <a:rPr lang="en-US" altLang="zh-TW" dirty="0" smtClean="0">
                <a:solidFill>
                  <a:prstClr val="black"/>
                </a:solidFill>
                <a:latin typeface="Consolas" panose="020B0609020204030204" pitchFamily="49" charset="0"/>
                <a:cs typeface="+mj-cs"/>
              </a:rPr>
              <a:t>&gt; news=</a:t>
            </a:r>
            <a:r>
              <a:rPr lang="en-US" altLang="zh-TW" dirty="0" err="1" smtClean="0">
                <a:solidFill>
                  <a:prstClr val="black"/>
                </a:solidFill>
                <a:latin typeface="Consolas" panose="020B0609020204030204" pitchFamily="49" charset="0"/>
                <a:cs typeface="+mj-cs"/>
              </a:rPr>
              <a:t>as.data.frame</a:t>
            </a:r>
            <a:r>
              <a:rPr lang="en-US" altLang="zh-TW" dirty="0" smtClean="0">
                <a:solidFill>
                  <a:prstClr val="black"/>
                </a:solidFill>
                <a:latin typeface="Consolas" panose="020B0609020204030204" pitchFamily="49" charset="0"/>
                <a:cs typeface="+mj-cs"/>
              </a:rPr>
              <a:t>(</a:t>
            </a:r>
            <a:r>
              <a:rPr lang="en-US" altLang="zh-TW" dirty="0" err="1" smtClean="0">
                <a:solidFill>
                  <a:prstClr val="black"/>
                </a:solidFill>
                <a:latin typeface="Consolas" panose="020B0609020204030204" pitchFamily="49" charset="0"/>
                <a:cs typeface="+mj-cs"/>
              </a:rPr>
              <a:t>cbind</a:t>
            </a:r>
            <a:r>
              <a:rPr lang="en-US" altLang="zh-TW" dirty="0" smtClean="0">
                <a:solidFill>
                  <a:prstClr val="black"/>
                </a:solidFill>
                <a:latin typeface="Consolas" panose="020B0609020204030204" pitchFamily="49" charset="0"/>
                <a:cs typeface="+mj-cs"/>
              </a:rPr>
              <a:t>(</a:t>
            </a:r>
            <a:r>
              <a:rPr lang="en-US" altLang="zh-TW" dirty="0" err="1" smtClean="0">
                <a:solidFill>
                  <a:prstClr val="black"/>
                </a:solidFill>
                <a:latin typeface="Consolas" panose="020B0609020204030204" pitchFamily="49" charset="0"/>
                <a:cs typeface="+mj-cs"/>
              </a:rPr>
              <a:t>news$ID,news$TITLE</a:t>
            </a:r>
            <a:r>
              <a:rPr lang="en-US" altLang="zh-TW" dirty="0">
                <a:solidFill>
                  <a:prstClr val="black"/>
                </a:solidFill>
                <a:latin typeface="Consolas" panose="020B0609020204030204" pitchFamily="49" charset="0"/>
                <a:cs typeface="+mj-cs"/>
              </a:rPr>
              <a:t>,</a:t>
            </a:r>
            <a:br>
              <a:rPr lang="en-US" altLang="zh-TW" dirty="0">
                <a:solidFill>
                  <a:prstClr val="black"/>
                </a:solidFill>
                <a:latin typeface="Consolas" panose="020B0609020204030204" pitchFamily="49" charset="0"/>
                <a:cs typeface="+mj-cs"/>
              </a:rPr>
            </a:br>
            <a:r>
              <a:rPr lang="en-US" altLang="zh-TW" dirty="0">
                <a:solidFill>
                  <a:prstClr val="black"/>
                </a:solidFill>
                <a:latin typeface="Consolas" panose="020B0609020204030204" pitchFamily="49" charset="0"/>
                <a:cs typeface="+mj-cs"/>
              </a:rPr>
              <a:t>	</a:t>
            </a:r>
            <a:r>
              <a:rPr lang="en-US" altLang="zh-TW" dirty="0" err="1">
                <a:solidFill>
                  <a:prstClr val="black"/>
                </a:solidFill>
                <a:latin typeface="Consolas" panose="020B0609020204030204" pitchFamily="49" charset="0"/>
                <a:cs typeface="+mj-cs"/>
              </a:rPr>
              <a:t>news$CATEGORY</a:t>
            </a:r>
            <a:r>
              <a:rPr lang="en-US" altLang="zh-TW" dirty="0" smtClean="0">
                <a:solidFill>
                  <a:prstClr val="black"/>
                </a:solidFill>
                <a:latin typeface="Consolas" panose="020B0609020204030204" pitchFamily="49" charset="0"/>
                <a:cs typeface="+mj-cs"/>
              </a:rPr>
              <a:t>))</a:t>
            </a:r>
            <a:endParaRPr lang="zh-TW" altLang="en-US" sz="1200" dirty="0">
              <a:latin typeface="Consolas" panose="020B0609020204030204" pitchFamily="49" charset="0"/>
            </a:endParaRPr>
          </a:p>
        </p:txBody>
      </p:sp>
      <p:sp>
        <p:nvSpPr>
          <p:cNvPr id="31" name="矩形 9"/>
          <p:cNvSpPr>
            <a:spLocks noChangeArrowheads="1"/>
          </p:cNvSpPr>
          <p:nvPr/>
        </p:nvSpPr>
        <p:spPr bwMode="auto">
          <a:xfrm>
            <a:off x="462568" y="3121972"/>
            <a:ext cx="5040420"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29" name="矩形 7"/>
          <p:cNvSpPr>
            <a:spLocks noChangeArrowheads="1"/>
          </p:cNvSpPr>
          <p:nvPr/>
        </p:nvSpPr>
        <p:spPr bwMode="auto">
          <a:xfrm>
            <a:off x="540783" y="3194618"/>
            <a:ext cx="4896408"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algn="ctr"/>
            <a:r>
              <a:rPr lang="zh-TW" altLang="en-US" dirty="0"/>
              <a:t>選出</a:t>
            </a:r>
            <a:r>
              <a:rPr lang="en-US" altLang="zh-TW" dirty="0"/>
              <a:t>Business</a:t>
            </a:r>
            <a:r>
              <a:rPr lang="zh-TW" altLang="en-US" dirty="0"/>
              <a:t>類的標題</a:t>
            </a:r>
          </a:p>
        </p:txBody>
      </p:sp>
      <p:sp>
        <p:nvSpPr>
          <p:cNvPr id="30" name="矩形 29"/>
          <p:cNvSpPr/>
          <p:nvPr/>
        </p:nvSpPr>
        <p:spPr>
          <a:xfrm>
            <a:off x="1172830" y="3883014"/>
            <a:ext cx="6984582" cy="855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a:solidFill>
                  <a:prstClr val="black"/>
                </a:solidFill>
                <a:latin typeface="Consolas" panose="020B0609020204030204" pitchFamily="49" charset="0"/>
              </a:rPr>
              <a:t>&gt; business=news[which(news$V3==“b”),]</a:t>
            </a:r>
            <a:r>
              <a:rPr lang="zh-TW" altLang="zh-TW" dirty="0">
                <a:solidFill>
                  <a:prstClr val="black"/>
                </a:solidFill>
                <a:latin typeface="Consolas" panose="020B0609020204030204" pitchFamily="49" charset="0"/>
              </a:rPr>
              <a:t/>
            </a:r>
            <a:br>
              <a:rPr lang="zh-TW" altLang="zh-TW" dirty="0">
                <a:solidFill>
                  <a:prstClr val="black"/>
                </a:solidFill>
                <a:latin typeface="Consolas" panose="020B0609020204030204" pitchFamily="49" charset="0"/>
              </a:rPr>
            </a:br>
            <a:r>
              <a:rPr lang="en-US" altLang="zh-TW" dirty="0">
                <a:solidFill>
                  <a:prstClr val="black"/>
                </a:solidFill>
                <a:latin typeface="Consolas" panose="020B0609020204030204" pitchFamily="49" charset="0"/>
              </a:rPr>
              <a:t>&gt; </a:t>
            </a:r>
            <a:r>
              <a:rPr lang="en-US" altLang="zh-TW" dirty="0" err="1">
                <a:solidFill>
                  <a:prstClr val="black"/>
                </a:solidFill>
                <a:latin typeface="Consolas" panose="020B0609020204030204" pitchFamily="49" charset="0"/>
              </a:rPr>
              <a:t>business_corpus</a:t>
            </a:r>
            <a:r>
              <a:rPr lang="en-US" altLang="zh-TW" dirty="0">
                <a:solidFill>
                  <a:prstClr val="black"/>
                </a:solidFill>
                <a:latin typeface="Consolas" panose="020B0609020204030204" pitchFamily="49" charset="0"/>
              </a:rPr>
              <a:t>&lt;-</a:t>
            </a:r>
            <a:r>
              <a:rPr lang="en-US" altLang="zh-TW" dirty="0" err="1">
                <a:solidFill>
                  <a:prstClr val="black"/>
                </a:solidFill>
                <a:latin typeface="Consolas" panose="020B0609020204030204" pitchFamily="49" charset="0"/>
              </a:rPr>
              <a:t>VCorpus</a:t>
            </a:r>
            <a:r>
              <a:rPr lang="en-US" altLang="zh-TW" dirty="0">
                <a:solidFill>
                  <a:prstClr val="black"/>
                </a:solidFill>
                <a:latin typeface="Consolas" panose="020B0609020204030204" pitchFamily="49" charset="0"/>
              </a:rPr>
              <a:t>(</a:t>
            </a:r>
            <a:r>
              <a:rPr lang="en-US" altLang="zh-TW" dirty="0" err="1">
                <a:solidFill>
                  <a:prstClr val="black"/>
                </a:solidFill>
                <a:latin typeface="Consolas" panose="020B0609020204030204" pitchFamily="49" charset="0"/>
              </a:rPr>
              <a:t>VectorSource</a:t>
            </a:r>
            <a:r>
              <a:rPr lang="en-US" altLang="zh-TW" dirty="0">
                <a:solidFill>
                  <a:prstClr val="black"/>
                </a:solidFill>
                <a:latin typeface="Consolas" panose="020B0609020204030204" pitchFamily="49" charset="0"/>
              </a:rPr>
              <a:t>(business$V2</a:t>
            </a:r>
            <a:r>
              <a:rPr lang="en-US" altLang="zh-TW" dirty="0" smtClean="0">
                <a:solidFill>
                  <a:prstClr val="black"/>
                </a:solidFill>
                <a:latin typeface="Consolas" panose="020B0609020204030204" pitchFamily="49" charset="0"/>
              </a:rPr>
              <a:t>))</a:t>
            </a:r>
            <a:endParaRPr lang="zh-TW" altLang="en-US" sz="1200" dirty="0">
              <a:latin typeface="Consolas" panose="020B0609020204030204" pitchFamily="49" charset="0"/>
            </a:endParaRPr>
          </a:p>
        </p:txBody>
      </p:sp>
    </p:spTree>
  </p:cSld>
  <p:clrMapOvr>
    <a:masterClrMapping/>
  </p:clrMapOvr>
  <p:transition spd="slow">
    <p:push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1273" name="矩形 9"/>
          <p:cNvSpPr>
            <a:spLocks noChangeArrowheads="1"/>
          </p:cNvSpPr>
          <p:nvPr/>
        </p:nvSpPr>
        <p:spPr bwMode="auto">
          <a:xfrm>
            <a:off x="468777" y="731319"/>
            <a:ext cx="4607265"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40783" y="812501"/>
            <a:ext cx="4463253"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r>
              <a:rPr lang="zh-TW" altLang="en-US" dirty="0"/>
              <a:t>轉成</a:t>
            </a:r>
            <a:r>
              <a:rPr lang="en-US" altLang="zh-TW" dirty="0" err="1"/>
              <a:t>TermDocumentMatrix</a:t>
            </a:r>
            <a:r>
              <a:rPr lang="zh-TW" altLang="en-US" dirty="0"/>
              <a:t>，並做資料清洗</a:t>
            </a:r>
          </a:p>
        </p:txBody>
      </p:sp>
      <p:sp>
        <p:nvSpPr>
          <p:cNvPr id="23" name="矩形 22"/>
          <p:cNvSpPr/>
          <p:nvPr/>
        </p:nvSpPr>
        <p:spPr>
          <a:xfrm>
            <a:off x="1173206" y="1442367"/>
            <a:ext cx="6984582" cy="25695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business_dtm</a:t>
            </a:r>
            <a:r>
              <a:rPr lang="en-US" altLang="zh-TW" dirty="0">
                <a:solidFill>
                  <a:prstClr val="black"/>
                </a:solidFill>
                <a:latin typeface="Consolas" panose="020B0609020204030204" pitchFamily="49" charset="0"/>
                <a:ea typeface="新細明體" panose="02020500000000000000" pitchFamily="18" charset="-120"/>
              </a:rPr>
              <a:t>&lt;-</a:t>
            </a:r>
            <a:r>
              <a:rPr lang="en-US" altLang="zh-TW" dirty="0" err="1">
                <a:solidFill>
                  <a:prstClr val="black"/>
                </a:solidFill>
                <a:latin typeface="Consolas" panose="020B0609020204030204" pitchFamily="49" charset="0"/>
                <a:ea typeface="新細明體" panose="02020500000000000000" pitchFamily="18" charset="-120"/>
              </a:rPr>
              <a:t>TermDocumentMatrix</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business_corpus,control</a:t>
            </a:r>
            <a:r>
              <a:rPr lang="en-US" altLang="zh-TW" dirty="0">
                <a:solidFill>
                  <a:prstClr val="black"/>
                </a:solidFill>
                <a:latin typeface="Consolas" panose="020B0609020204030204" pitchFamily="49" charset="0"/>
                <a:ea typeface="新細明體" panose="02020500000000000000" pitchFamily="18" charset="-120"/>
              </a:rPr>
              <a:t> = list( </a:t>
            </a:r>
            <a:r>
              <a:rPr lang="zh-TW" altLang="zh-TW" dirty="0">
                <a:solidFill>
                  <a:prstClr val="black"/>
                </a:solidFill>
                <a:latin typeface="Consolas" panose="020B0609020204030204" pitchFamily="49" charset="0"/>
                <a:ea typeface="新細明體" panose="02020500000000000000" pitchFamily="18" charset="-120"/>
              </a:rPr>
              <a:t/>
            </a:r>
            <a:br>
              <a:rPr lang="zh-TW"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tolower</a:t>
            </a:r>
            <a:r>
              <a:rPr lang="en-US" altLang="zh-TW" dirty="0">
                <a:solidFill>
                  <a:prstClr val="black"/>
                </a:solidFill>
                <a:latin typeface="Consolas" panose="020B0609020204030204" pitchFamily="49" charset="0"/>
                <a:ea typeface="新細明體" panose="02020500000000000000" pitchFamily="18" charset="-120"/>
              </a:rPr>
              <a:t>=TRUE,</a:t>
            </a:r>
            <a:r>
              <a:rPr lang="zh-TW" altLang="zh-TW" dirty="0">
                <a:solidFill>
                  <a:prstClr val="black"/>
                </a:solidFill>
                <a:latin typeface="Consolas" panose="020B0609020204030204" pitchFamily="49" charset="0"/>
                <a:ea typeface="新細明體" panose="02020500000000000000" pitchFamily="18" charset="-120"/>
              </a:rPr>
              <a:t/>
            </a:r>
            <a:br>
              <a:rPr lang="zh-TW"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removeNumbers</a:t>
            </a:r>
            <a:r>
              <a:rPr lang="en-US" altLang="zh-TW" dirty="0">
                <a:solidFill>
                  <a:prstClr val="black"/>
                </a:solidFill>
                <a:latin typeface="Consolas" panose="020B0609020204030204" pitchFamily="49" charset="0"/>
                <a:ea typeface="新細明體" panose="02020500000000000000" pitchFamily="18" charset="-120"/>
              </a:rPr>
              <a:t>=TRUE,</a:t>
            </a:r>
            <a:r>
              <a:rPr lang="zh-TW" altLang="zh-TW" dirty="0">
                <a:solidFill>
                  <a:prstClr val="black"/>
                </a:solidFill>
                <a:latin typeface="Consolas" panose="020B0609020204030204" pitchFamily="49" charset="0"/>
                <a:ea typeface="新細明體" panose="02020500000000000000" pitchFamily="18" charset="-120"/>
              </a:rPr>
              <a:t/>
            </a:r>
            <a:br>
              <a:rPr lang="zh-TW"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stopwords</a:t>
            </a:r>
            <a:r>
              <a:rPr lang="en-US" altLang="zh-TW" dirty="0">
                <a:solidFill>
                  <a:prstClr val="black"/>
                </a:solidFill>
                <a:latin typeface="Consolas" panose="020B0609020204030204" pitchFamily="49" charset="0"/>
                <a:ea typeface="新細明體" panose="02020500000000000000" pitchFamily="18" charset="-120"/>
              </a:rPr>
              <a:t>=TRUE,</a:t>
            </a:r>
            <a:r>
              <a:rPr lang="zh-TW" altLang="zh-TW" dirty="0">
                <a:solidFill>
                  <a:prstClr val="black"/>
                </a:solidFill>
                <a:latin typeface="Consolas" panose="020B0609020204030204" pitchFamily="49" charset="0"/>
                <a:ea typeface="新細明體" panose="02020500000000000000" pitchFamily="18" charset="-120"/>
              </a:rPr>
              <a:t/>
            </a:r>
            <a:br>
              <a:rPr lang="zh-TW"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removePunctuation</a:t>
            </a:r>
            <a:r>
              <a:rPr lang="en-US" altLang="zh-TW" dirty="0">
                <a:solidFill>
                  <a:prstClr val="black"/>
                </a:solidFill>
                <a:latin typeface="Consolas" panose="020B0609020204030204" pitchFamily="49" charset="0"/>
                <a:ea typeface="新細明體" panose="02020500000000000000" pitchFamily="18" charset="-120"/>
              </a:rPr>
              <a:t>=TRUE</a:t>
            </a:r>
            <a:r>
              <a:rPr lang="zh-TW" altLang="zh-TW" dirty="0">
                <a:solidFill>
                  <a:prstClr val="black"/>
                </a:solidFill>
                <a:latin typeface="Consolas" panose="020B0609020204030204" pitchFamily="49" charset="0"/>
                <a:ea typeface="新細明體" panose="02020500000000000000" pitchFamily="18" charset="-120"/>
              </a:rPr>
              <a:t/>
            </a:r>
            <a:br>
              <a:rPr lang="zh-TW"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a:t>
            </a:r>
            <a:r>
              <a:rPr lang="zh-TW" altLang="zh-TW" dirty="0">
                <a:solidFill>
                  <a:prstClr val="black"/>
                </a:solidFill>
                <a:latin typeface="Consolas" panose="020B0609020204030204" pitchFamily="49" charset="0"/>
                <a:ea typeface="新細明體" panose="02020500000000000000" pitchFamily="18" charset="-120"/>
              </a:rPr>
              <a:t/>
            </a:r>
            <a:br>
              <a:rPr lang="zh-TW"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b_mat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as.matrix</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business_dtm</a:t>
            </a:r>
            <a:r>
              <a:rPr lang="en-US" altLang="zh-TW" dirty="0">
                <a:solidFill>
                  <a:prstClr val="black"/>
                </a:solidFill>
                <a:latin typeface="Consolas" panose="020B0609020204030204" pitchFamily="49" charset="0"/>
                <a:ea typeface="新細明體" panose="02020500000000000000" pitchFamily="18" charset="-120"/>
              </a:rPr>
              <a:t>)</a:t>
            </a:r>
          </a:p>
        </p:txBody>
      </p:sp>
      <p:grpSp>
        <p:nvGrpSpPr>
          <p:cNvPr id="15" name="组合 1"/>
          <p:cNvGrpSpPr>
            <a:grpSpLocks/>
          </p:cNvGrpSpPr>
          <p:nvPr/>
        </p:nvGrpSpPr>
        <p:grpSpPr bwMode="auto">
          <a:xfrm>
            <a:off x="5502988" y="189464"/>
            <a:ext cx="3816350" cy="406400"/>
            <a:chOff x="0" y="0"/>
            <a:chExt cx="3816672" cy="405750"/>
          </a:xfrm>
        </p:grpSpPr>
        <p:sp>
          <p:nvSpPr>
            <p:cNvPr id="16"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8"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3489099848"/>
      </p:ext>
    </p:extLst>
  </p:cSld>
  <p:clrMapOvr>
    <a:masterClrMapping/>
  </p:clrMapOvr>
  <p:transition spd="slow">
    <p:push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1273" name="矩形 9"/>
          <p:cNvSpPr>
            <a:spLocks noChangeArrowheads="1"/>
          </p:cNvSpPr>
          <p:nvPr/>
        </p:nvSpPr>
        <p:spPr bwMode="auto">
          <a:xfrm>
            <a:off x="468777" y="731319"/>
            <a:ext cx="4607265"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40783" y="812501"/>
            <a:ext cx="4463253"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r>
              <a:rPr lang="en-US" altLang="zh-TW" dirty="0" err="1"/>
              <a:t>bussiness</a:t>
            </a:r>
            <a:r>
              <a:rPr lang="zh-TW" altLang="zh-TW" dirty="0"/>
              <a:t>類的標題各自字詞出現的頻率</a:t>
            </a:r>
            <a:endParaRPr lang="zh-TW" altLang="en-US" dirty="0"/>
          </a:p>
        </p:txBody>
      </p:sp>
      <p:sp>
        <p:nvSpPr>
          <p:cNvPr id="23" name="矩形 22"/>
          <p:cNvSpPr/>
          <p:nvPr/>
        </p:nvSpPr>
        <p:spPr>
          <a:xfrm>
            <a:off x="1173206" y="1442367"/>
            <a:ext cx="6984582" cy="6926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a:t>
            </a:r>
            <a:r>
              <a:rPr lang="en-US" altLang="zh-TW" dirty="0">
                <a:solidFill>
                  <a:prstClr val="black"/>
                </a:solidFill>
                <a:latin typeface="Consolas" panose="020B0609020204030204" pitchFamily="49" charset="0"/>
                <a:ea typeface="新細明體" panose="02020500000000000000" pitchFamily="18" charset="-120"/>
              </a:rPr>
              <a:t>v &lt;- sort(</a:t>
            </a:r>
            <a:r>
              <a:rPr lang="en-US" altLang="zh-TW" dirty="0" err="1">
                <a:solidFill>
                  <a:prstClr val="black"/>
                </a:solidFill>
                <a:latin typeface="Consolas" panose="020B0609020204030204" pitchFamily="49" charset="0"/>
                <a:ea typeface="新細明體" panose="02020500000000000000" pitchFamily="18" charset="-120"/>
              </a:rPr>
              <a:t>rowSums</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b_mat</a:t>
            </a:r>
            <a:r>
              <a:rPr lang="en-US" altLang="zh-TW" dirty="0">
                <a:solidFill>
                  <a:prstClr val="black"/>
                </a:solidFill>
                <a:latin typeface="Consolas" panose="020B0609020204030204" pitchFamily="49" charset="0"/>
                <a:ea typeface="新細明體" panose="02020500000000000000" pitchFamily="18" charset="-120"/>
              </a:rPr>
              <a:t>),decreasing=TRUE)</a:t>
            </a:r>
            <a:br>
              <a:rPr lang="en-US"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&gt; d &lt;- </a:t>
            </a:r>
            <a:r>
              <a:rPr lang="en-US" altLang="zh-TW" dirty="0" err="1">
                <a:solidFill>
                  <a:prstClr val="black"/>
                </a:solidFill>
                <a:latin typeface="Consolas" panose="020B0609020204030204" pitchFamily="49" charset="0"/>
                <a:ea typeface="新細明體" panose="02020500000000000000" pitchFamily="18" charset="-120"/>
              </a:rPr>
              <a:t>data.frame</a:t>
            </a:r>
            <a:r>
              <a:rPr lang="en-US" altLang="zh-TW" dirty="0">
                <a:solidFill>
                  <a:prstClr val="black"/>
                </a:solidFill>
                <a:latin typeface="Consolas" panose="020B0609020204030204" pitchFamily="49" charset="0"/>
                <a:ea typeface="新細明體" panose="02020500000000000000" pitchFamily="18" charset="-120"/>
              </a:rPr>
              <a:t>(word = names(v),</a:t>
            </a:r>
            <a:r>
              <a:rPr lang="en-US" altLang="zh-TW" dirty="0" err="1">
                <a:solidFill>
                  <a:prstClr val="black"/>
                </a:solidFill>
                <a:latin typeface="Consolas" panose="020B0609020204030204" pitchFamily="49" charset="0"/>
                <a:ea typeface="新細明體" panose="02020500000000000000" pitchFamily="18" charset="-120"/>
              </a:rPr>
              <a:t>freq</a:t>
            </a:r>
            <a:r>
              <a:rPr lang="en-US" altLang="zh-TW" dirty="0">
                <a:solidFill>
                  <a:prstClr val="black"/>
                </a:solidFill>
                <a:latin typeface="Consolas" panose="020B0609020204030204" pitchFamily="49" charset="0"/>
                <a:ea typeface="新細明體" panose="02020500000000000000" pitchFamily="18" charset="-120"/>
              </a:rPr>
              <a:t>=v)</a:t>
            </a:r>
            <a:br>
              <a:rPr lang="en-US" altLang="zh-TW" dirty="0">
                <a:solidFill>
                  <a:prstClr val="black"/>
                </a:solidFill>
                <a:latin typeface="Consolas" panose="020B0609020204030204" pitchFamily="49" charset="0"/>
                <a:ea typeface="新細明體" panose="02020500000000000000" pitchFamily="18" charset="-120"/>
              </a:rPr>
            </a:br>
            <a:endParaRPr lang="en-US" altLang="zh-TW" dirty="0">
              <a:solidFill>
                <a:prstClr val="black"/>
              </a:solidFill>
              <a:latin typeface="Consolas" panose="020B0609020204030204" pitchFamily="49" charset="0"/>
              <a:ea typeface="新細明體" panose="02020500000000000000" pitchFamily="18" charset="-120"/>
            </a:endParaRPr>
          </a:p>
        </p:txBody>
      </p:sp>
      <p:sp>
        <p:nvSpPr>
          <p:cNvPr id="12" name="矩形 9"/>
          <p:cNvSpPr>
            <a:spLocks noChangeArrowheads="1"/>
          </p:cNvSpPr>
          <p:nvPr/>
        </p:nvSpPr>
        <p:spPr bwMode="auto">
          <a:xfrm>
            <a:off x="464062" y="2203607"/>
            <a:ext cx="4607265"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3" name="矩形 7"/>
          <p:cNvSpPr>
            <a:spLocks noChangeArrowheads="1"/>
          </p:cNvSpPr>
          <p:nvPr/>
        </p:nvSpPr>
        <p:spPr bwMode="auto">
          <a:xfrm>
            <a:off x="540783" y="2289501"/>
            <a:ext cx="4463253"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r>
              <a:rPr lang="zh-TW" altLang="zh-TW" dirty="0"/>
              <a:t>前</a:t>
            </a:r>
            <a:r>
              <a:rPr lang="en-US" altLang="zh-TW" dirty="0"/>
              <a:t>20</a:t>
            </a:r>
            <a:r>
              <a:rPr lang="zh-TW" altLang="zh-TW" dirty="0"/>
              <a:t>常出現字詞</a:t>
            </a:r>
            <a:r>
              <a:rPr lang="en-US" altLang="zh-TW" dirty="0"/>
              <a:t>bar chart</a:t>
            </a:r>
            <a:endParaRPr lang="zh-TW" altLang="en-US" dirty="0"/>
          </a:p>
        </p:txBody>
      </p:sp>
      <p:sp>
        <p:nvSpPr>
          <p:cNvPr id="14" name="矩形 13"/>
          <p:cNvSpPr/>
          <p:nvPr/>
        </p:nvSpPr>
        <p:spPr>
          <a:xfrm>
            <a:off x="1173206" y="2938395"/>
            <a:ext cx="6984582" cy="2029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subset=d[1:20</a:t>
            </a:r>
            <a:r>
              <a:rPr lang="en-US" altLang="zh-TW" dirty="0">
                <a:solidFill>
                  <a:prstClr val="black"/>
                </a:solidFill>
                <a:latin typeface="Consolas" panose="020B0609020204030204" pitchFamily="49" charset="0"/>
                <a:ea typeface="新細明體" panose="02020500000000000000" pitchFamily="18" charset="-120"/>
              </a:rPr>
              <a:t>,]</a:t>
            </a:r>
            <a:br>
              <a:rPr lang="en-US"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subset$word</a:t>
            </a:r>
            <a:r>
              <a:rPr lang="en-US" altLang="zh-TW" dirty="0">
                <a:solidFill>
                  <a:prstClr val="black"/>
                </a:solidFill>
                <a:latin typeface="Consolas" panose="020B0609020204030204" pitchFamily="49" charset="0"/>
                <a:ea typeface="新細明體" panose="02020500000000000000" pitchFamily="18" charset="-120"/>
              </a:rPr>
              <a:t>&lt;-</a:t>
            </a:r>
            <a:r>
              <a:rPr lang="en-US" altLang="zh-TW" dirty="0" smtClean="0">
                <a:solidFill>
                  <a:prstClr val="black"/>
                </a:solidFill>
                <a:latin typeface="Consolas" panose="020B0609020204030204" pitchFamily="49" charset="0"/>
                <a:ea typeface="新細明體" panose="02020500000000000000" pitchFamily="18" charset="-120"/>
              </a:rPr>
              <a:t>factor(</a:t>
            </a:r>
            <a:r>
              <a:rPr lang="en-US" altLang="zh-TW" dirty="0" err="1" smtClean="0">
                <a:solidFill>
                  <a:prstClr val="black"/>
                </a:solidFill>
                <a:latin typeface="Consolas" panose="020B0609020204030204" pitchFamily="49" charset="0"/>
                <a:ea typeface="新細明體" panose="02020500000000000000" pitchFamily="18" charset="-120"/>
              </a:rPr>
              <a:t>subset$word</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levels=</a:t>
            </a:r>
            <a:r>
              <a:rPr lang="en-US" altLang="zh-TW" dirty="0" err="1" smtClean="0">
                <a:solidFill>
                  <a:prstClr val="black"/>
                </a:solidFill>
                <a:latin typeface="Consolas" panose="020B0609020204030204" pitchFamily="49" charset="0"/>
                <a:ea typeface="新細明體" panose="02020500000000000000" pitchFamily="18" charset="-120"/>
              </a:rPr>
              <a:t>subset$word</a:t>
            </a:r>
            <a:r>
              <a:rPr lang="en-US" altLang="zh-TW" dirty="0" smtClean="0">
                <a:solidFill>
                  <a:prstClr val="black"/>
                </a:solidFill>
                <a:latin typeface="Consolas" panose="020B0609020204030204" pitchFamily="49" charset="0"/>
                <a:ea typeface="新細明體" panose="02020500000000000000" pitchFamily="18" charset="-120"/>
              </a:rPr>
              <a:t>[order(</a:t>
            </a:r>
            <a:r>
              <a:rPr lang="en-US" altLang="zh-TW" dirty="0" err="1" smtClean="0">
                <a:solidFill>
                  <a:prstClr val="black"/>
                </a:solidFill>
                <a:latin typeface="Consolas" panose="020B0609020204030204" pitchFamily="49" charset="0"/>
                <a:ea typeface="新細明體" panose="02020500000000000000" pitchFamily="18" charset="-120"/>
              </a:rPr>
              <a:t>subset$freq</a:t>
            </a:r>
            <a:r>
              <a:rPr lang="en-US" altLang="zh-TW" dirty="0">
                <a:solidFill>
                  <a:prstClr val="black"/>
                </a:solidFill>
                <a:latin typeface="Consolas" panose="020B0609020204030204" pitchFamily="49" charset="0"/>
                <a:ea typeface="新細明體" panose="02020500000000000000" pitchFamily="18" charset="-120"/>
              </a:rPr>
              <a:t>)])</a:t>
            </a:r>
            <a:br>
              <a:rPr lang="en-US"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&gt; p&lt;-</a:t>
            </a:r>
            <a:r>
              <a:rPr lang="en-US" altLang="zh-TW" dirty="0" err="1" smtClean="0">
                <a:solidFill>
                  <a:prstClr val="black"/>
                </a:solidFill>
                <a:latin typeface="Consolas" panose="020B0609020204030204" pitchFamily="49" charset="0"/>
                <a:ea typeface="新細明體" panose="02020500000000000000" pitchFamily="18" charset="-120"/>
              </a:rPr>
              <a:t>ggplot</a:t>
            </a:r>
            <a:r>
              <a:rPr lang="en-US" altLang="zh-TW" dirty="0" smtClean="0">
                <a:solidFill>
                  <a:prstClr val="black"/>
                </a:solidFill>
                <a:latin typeface="Consolas" panose="020B0609020204030204" pitchFamily="49" charset="0"/>
                <a:ea typeface="新細明體" panose="02020500000000000000" pitchFamily="18" charset="-120"/>
              </a:rPr>
              <a:t>(data=subset,</a:t>
            </a:r>
            <a:r>
              <a:rPr lang="zh-TW" altLang="en-US" dirty="0" smtClean="0">
                <a:solidFill>
                  <a:prstClr val="black"/>
                </a:solidFill>
                <a:latin typeface="Consolas" panose="020B0609020204030204" pitchFamily="49" charset="0"/>
                <a:ea typeface="新細明體" panose="02020500000000000000" pitchFamily="18" charset="-120"/>
              </a:rPr>
              <a:t> </a:t>
            </a: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zh-TW" altLang="en-US" dirty="0">
                <a:solidFill>
                  <a:prstClr val="black"/>
                </a:solidFill>
                <a:latin typeface="Consolas" panose="020B0609020204030204" pitchFamily="49" charset="0"/>
                <a:ea typeface="新細明體" panose="02020500000000000000" pitchFamily="18" charset="-120"/>
              </a:rPr>
              <a:t> </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aes</a:t>
            </a:r>
            <a:r>
              <a:rPr lang="en-US" altLang="zh-TW" dirty="0">
                <a:solidFill>
                  <a:prstClr val="black"/>
                </a:solidFill>
                <a:latin typeface="Consolas" panose="020B0609020204030204" pitchFamily="49" charset="0"/>
                <a:ea typeface="新細明體" panose="02020500000000000000" pitchFamily="18" charset="-120"/>
              </a:rPr>
              <a:t>(x=</a:t>
            </a:r>
            <a:r>
              <a:rPr lang="en-US" altLang="zh-TW" dirty="0" err="1">
                <a:solidFill>
                  <a:prstClr val="black"/>
                </a:solidFill>
                <a:latin typeface="Consolas" panose="020B0609020204030204" pitchFamily="49" charset="0"/>
                <a:ea typeface="新細明體" panose="02020500000000000000" pitchFamily="18" charset="-120"/>
              </a:rPr>
              <a:t>subset$word,y</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subset$freq</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dirty="0">
                <a:solidFill>
                  <a:prstClr val="black"/>
                </a:solidFill>
                <a:latin typeface="Consolas" panose="020B0609020204030204" pitchFamily="49" charset="0"/>
                <a:ea typeface="新細明體" panose="02020500000000000000" pitchFamily="18" charset="-120"/>
              </a:rPr>
              <a:t> </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err="1" smtClean="0">
                <a:solidFill>
                  <a:prstClr val="black"/>
                </a:solidFill>
                <a:latin typeface="Consolas" panose="020B0609020204030204" pitchFamily="49" charset="0"/>
                <a:ea typeface="新細明體" panose="02020500000000000000" pitchFamily="18" charset="-120"/>
              </a:rPr>
              <a:t>geom_bar</a:t>
            </a:r>
            <a:r>
              <a:rPr lang="en-US" altLang="zh-TW" dirty="0" smtClean="0">
                <a:solidFill>
                  <a:prstClr val="black"/>
                </a:solidFill>
                <a:latin typeface="Consolas" panose="020B0609020204030204" pitchFamily="49" charset="0"/>
                <a:ea typeface="新細明體" panose="02020500000000000000" pitchFamily="18" charset="-120"/>
              </a:rPr>
              <a:t>(stat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identity",fill</a:t>
            </a:r>
            <a:r>
              <a:rPr lang="en-US" altLang="zh-TW" dirty="0">
                <a:solidFill>
                  <a:prstClr val="black"/>
                </a:solidFill>
                <a:latin typeface="Consolas" panose="020B0609020204030204" pitchFamily="49" charset="0"/>
                <a:ea typeface="新細明體" panose="02020500000000000000" pitchFamily="18" charset="-120"/>
              </a:rPr>
              <a:t>="darkslategray3")</a:t>
            </a: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p+coord_flip</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
            </a:r>
            <a:br>
              <a:rPr lang="en-US" altLang="zh-TW" dirty="0">
                <a:solidFill>
                  <a:prstClr val="black"/>
                </a:solidFill>
                <a:latin typeface="Consolas" panose="020B0609020204030204" pitchFamily="49" charset="0"/>
                <a:ea typeface="新細明體" panose="02020500000000000000" pitchFamily="18" charset="-120"/>
              </a:rPr>
            </a:br>
            <a:endParaRPr lang="en-US" altLang="zh-TW" dirty="0">
              <a:solidFill>
                <a:prstClr val="black"/>
              </a:solidFill>
              <a:latin typeface="Consolas" panose="020B0609020204030204" pitchFamily="49" charset="0"/>
              <a:ea typeface="新細明體" panose="02020500000000000000" pitchFamily="18" charset="-120"/>
            </a:endParaRPr>
          </a:p>
        </p:txBody>
      </p:sp>
      <p:grpSp>
        <p:nvGrpSpPr>
          <p:cNvPr id="15" name="组合 1"/>
          <p:cNvGrpSpPr>
            <a:grpSpLocks/>
          </p:cNvGrpSpPr>
          <p:nvPr/>
        </p:nvGrpSpPr>
        <p:grpSpPr bwMode="auto">
          <a:xfrm>
            <a:off x="5502988" y="189464"/>
            <a:ext cx="3816350" cy="406400"/>
            <a:chOff x="0" y="0"/>
            <a:chExt cx="3816672" cy="405750"/>
          </a:xfrm>
        </p:grpSpPr>
        <p:sp>
          <p:nvSpPr>
            <p:cNvPr id="16"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8"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2821132011"/>
      </p:ext>
    </p:extLst>
  </p:cSld>
  <p:clrMapOvr>
    <a:masterClrMapping/>
  </p:clrMapOvr>
  <p:transition spd="slow">
    <p:push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sp>
        <p:nvSpPr>
          <p:cNvPr id="8195" name="直接连接符 1"/>
          <p:cNvSpPr>
            <a:spLocks noChangeShapeType="1"/>
          </p:cNvSpPr>
          <p:nvPr/>
        </p:nvSpPr>
        <p:spPr bwMode="auto">
          <a:xfrm>
            <a:off x="179388" y="714375"/>
            <a:ext cx="8713787" cy="0"/>
          </a:xfrm>
          <a:prstGeom prst="line">
            <a:avLst/>
          </a:prstGeom>
          <a:noFill/>
          <a:ln w="9525" cap="flat" cmpd="sng">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TextBox 5"/>
          <p:cNvSpPr>
            <a:spLocks noChangeArrowheads="1"/>
          </p:cNvSpPr>
          <p:nvPr/>
        </p:nvSpPr>
        <p:spPr bwMode="auto">
          <a:xfrm>
            <a:off x="7369175" y="-87538"/>
            <a:ext cx="15128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dist"/>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grpSp>
        <p:nvGrpSpPr>
          <p:cNvPr id="2" name="群組 1"/>
          <p:cNvGrpSpPr/>
          <p:nvPr/>
        </p:nvGrpSpPr>
        <p:grpSpPr>
          <a:xfrm>
            <a:off x="384432" y="181252"/>
            <a:ext cx="1561134" cy="315912"/>
            <a:chOff x="274638" y="1020763"/>
            <a:chExt cx="1561134" cy="315912"/>
          </a:xfrm>
        </p:grpSpPr>
        <p:sp>
          <p:nvSpPr>
            <p:cNvPr id="8200" name="矩形 6"/>
            <p:cNvSpPr>
              <a:spLocks noChangeArrowheads="1"/>
            </p:cNvSpPr>
            <p:nvPr/>
          </p:nvSpPr>
          <p:spPr bwMode="auto">
            <a:xfrm>
              <a:off x="517525" y="1020763"/>
              <a:ext cx="1318247" cy="315912"/>
            </a:xfrm>
            <a:prstGeom prst="rect">
              <a:avLst/>
            </a:prstGeom>
            <a:solidFill>
              <a:srgbClr val="FFC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r>
                <a:rPr lang="zh-TW" altLang="en-US" dirty="0" smtClean="0">
                  <a:solidFill>
                    <a:srgbClr val="FFFFFF"/>
                  </a:solidFill>
                  <a:latin typeface="Microsoft YaHei" panose="020B0503020204020204" pitchFamily="34" charset="-122"/>
                  <a:ea typeface="Microsoft YaHei" panose="020B0503020204020204" pitchFamily="34" charset="-122"/>
                  <a:sym typeface="宋体" pitchFamily="2" charset="-122"/>
                </a:rPr>
                <a:t>字頻</a:t>
              </a:r>
              <a:r>
                <a:rPr lang="zh-TW" altLang="en-US" dirty="0">
                  <a:solidFill>
                    <a:srgbClr val="FFFFFF"/>
                  </a:solidFill>
                  <a:latin typeface="Microsoft YaHei" panose="020B0503020204020204" pitchFamily="34" charset="-122"/>
                  <a:ea typeface="Microsoft YaHei" panose="020B0503020204020204" pitchFamily="34" charset="-122"/>
                  <a:sym typeface="宋体" pitchFamily="2" charset="-122"/>
                </a:rPr>
                <a:t>表</a:t>
              </a:r>
              <a:endParaRPr lang="zh-CN" altLang="zh-CN" dirty="0">
                <a:solidFill>
                  <a:srgbClr val="FFFFFF"/>
                </a:solidFill>
                <a:latin typeface="Microsoft YaHei" panose="020B0503020204020204" pitchFamily="34" charset="-122"/>
                <a:ea typeface="Microsoft YaHei" panose="020B0503020204020204" pitchFamily="34" charset="-122"/>
                <a:sym typeface="宋体" pitchFamily="2" charset="-122"/>
              </a:endParaRPr>
            </a:p>
          </p:txBody>
        </p:sp>
        <p:sp>
          <p:nvSpPr>
            <p:cNvPr id="8201" name="矩形 7"/>
            <p:cNvSpPr>
              <a:spLocks noChangeArrowheads="1"/>
            </p:cNvSpPr>
            <p:nvPr/>
          </p:nvSpPr>
          <p:spPr bwMode="auto">
            <a:xfrm>
              <a:off x="274638" y="1020763"/>
              <a:ext cx="242887" cy="315912"/>
            </a:xfrm>
            <a:prstGeom prst="rect">
              <a:avLst/>
            </a:prstGeom>
            <a:solidFill>
              <a:srgbClr val="3C3C37"/>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pic>
        <p:nvPicPr>
          <p:cNvPr id="23" name="圖片 22">
            <a:extLst>
              <a:ext uri="{FF2B5EF4-FFF2-40B4-BE49-F238E27FC236}">
                <a16:creationId xmlns:a16="http://schemas.microsoft.com/office/drawing/2014/main" id="{660D026F-B91E-4761-8C44-F9412EBF9DC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7327" y="1264920"/>
            <a:ext cx="5256438" cy="3182728"/>
          </a:xfrm>
          <a:prstGeom prst="rect">
            <a:avLst/>
          </a:prstGeom>
          <a:noFill/>
        </p:spPr>
      </p:pic>
      <p:grpSp>
        <p:nvGrpSpPr>
          <p:cNvPr id="28" name="组合 1"/>
          <p:cNvGrpSpPr>
            <a:grpSpLocks/>
          </p:cNvGrpSpPr>
          <p:nvPr/>
        </p:nvGrpSpPr>
        <p:grpSpPr bwMode="auto">
          <a:xfrm>
            <a:off x="5502988" y="189464"/>
            <a:ext cx="3816350" cy="406400"/>
            <a:chOff x="0" y="0"/>
            <a:chExt cx="3816672" cy="405750"/>
          </a:xfrm>
        </p:grpSpPr>
        <p:sp>
          <p:nvSpPr>
            <p:cNvPr id="29"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31"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1273" name="矩形 9"/>
          <p:cNvSpPr>
            <a:spLocks noChangeArrowheads="1"/>
          </p:cNvSpPr>
          <p:nvPr/>
        </p:nvSpPr>
        <p:spPr bwMode="auto">
          <a:xfrm>
            <a:off x="468777" y="731319"/>
            <a:ext cx="4679271" cy="648894"/>
          </a:xfrm>
          <a:prstGeom prst="rect">
            <a:avLst/>
          </a:prstGeom>
          <a:solidFill>
            <a:schemeClr val="bg2"/>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40784" y="812501"/>
            <a:ext cx="4530544"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r>
              <a:rPr lang="zh-TW" altLang="zh-TW" dirty="0"/>
              <a:t>整理</a:t>
            </a:r>
            <a:r>
              <a:rPr lang="en-US" altLang="zh-TW" dirty="0"/>
              <a:t>business</a:t>
            </a:r>
            <a:r>
              <a:rPr lang="zh-TW" altLang="zh-TW" dirty="0"/>
              <a:t>類的標題兩字詞組合出現頻率</a:t>
            </a:r>
            <a:endParaRPr lang="zh-TW" altLang="en-US" dirty="0"/>
          </a:p>
        </p:txBody>
      </p:sp>
      <p:sp>
        <p:nvSpPr>
          <p:cNvPr id="23" name="矩形 22"/>
          <p:cNvSpPr/>
          <p:nvPr/>
        </p:nvSpPr>
        <p:spPr>
          <a:xfrm>
            <a:off x="447676" y="1470848"/>
            <a:ext cx="6984582" cy="26130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a:t>
            </a:r>
            <a:r>
              <a:rPr lang="en-US" altLang="zh-TW" dirty="0" err="1" smtClean="0">
                <a:solidFill>
                  <a:prstClr val="black"/>
                </a:solidFill>
                <a:latin typeface="Consolas" panose="020B0609020204030204" pitchFamily="49" charset="0"/>
                <a:ea typeface="新細明體" panose="02020500000000000000" pitchFamily="18" charset="-120"/>
              </a:rPr>
              <a:t>business_bigram</a:t>
            </a:r>
            <a:r>
              <a:rPr lang="en-US" altLang="zh-TW" dirty="0">
                <a:solidFill>
                  <a:prstClr val="black"/>
                </a:solidFill>
                <a:latin typeface="Consolas" panose="020B0609020204030204" pitchFamily="49" charset="0"/>
                <a:ea typeface="新細明體" panose="02020500000000000000" pitchFamily="18" charset="-120"/>
              </a:rPr>
              <a:t>&lt;-</a:t>
            </a:r>
            <a:r>
              <a:rPr lang="en-US" altLang="zh-TW" dirty="0" smtClean="0">
                <a:solidFill>
                  <a:prstClr val="black"/>
                </a:solidFill>
                <a:latin typeface="Consolas" panose="020B0609020204030204" pitchFamily="49" charset="0"/>
                <a:ea typeface="新細明體" panose="02020500000000000000" pitchFamily="18" charset="-120"/>
              </a:rPr>
              <a:t>business</a:t>
            </a:r>
          </a:p>
          <a:p>
            <a:pPr lvl="0" fontAlgn="auto">
              <a:spcBef>
                <a:spcPts val="0"/>
              </a:spcBef>
              <a:spcAft>
                <a:spcPts val="0"/>
              </a:spcAft>
            </a:pP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%&gt;%</a:t>
            </a:r>
            <a:r>
              <a:rPr lang="en-US" altLang="zh-TW" dirty="0" err="1" smtClean="0">
                <a:solidFill>
                  <a:prstClr val="black"/>
                </a:solidFill>
                <a:latin typeface="Consolas" panose="020B0609020204030204" pitchFamily="49" charset="0"/>
                <a:ea typeface="新細明體" panose="02020500000000000000" pitchFamily="18" charset="-120"/>
              </a:rPr>
              <a:t>unnest_tokens</a:t>
            </a:r>
            <a:r>
              <a:rPr lang="en-US" altLang="zh-TW" dirty="0" smtClean="0">
                <a:solidFill>
                  <a:prstClr val="black"/>
                </a:solidFill>
                <a:latin typeface="Consolas" panose="020B0609020204030204" pitchFamily="49" charset="0"/>
                <a:ea typeface="新細明體" panose="02020500000000000000" pitchFamily="18" charset="-120"/>
              </a:rPr>
              <a:t>(bigram,V2,token </a:t>
            </a: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smtClean="0">
                <a:solidFill>
                  <a:prstClr val="black"/>
                </a:solidFill>
                <a:latin typeface="Consolas" panose="020B0609020204030204" pitchFamily="49" charset="0"/>
                <a:ea typeface="新細明體" panose="02020500000000000000" pitchFamily="18" charset="-120"/>
              </a:rPr>
              <a:t>ngrams</a:t>
            </a:r>
            <a:r>
              <a:rPr lang="en-US" altLang="zh-TW" dirty="0">
                <a:solidFill>
                  <a:prstClr val="black"/>
                </a:solidFill>
                <a:latin typeface="Consolas" panose="020B0609020204030204" pitchFamily="49" charset="0"/>
                <a:ea typeface="新細明體" panose="02020500000000000000" pitchFamily="18" charset="-120"/>
              </a:rPr>
              <a:t>”,n=2)</a:t>
            </a:r>
            <a:br>
              <a:rPr lang="en-US"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business_bigram</a:t>
            </a:r>
            <a:r>
              <a:rPr lang="en-US" altLang="zh-TW" dirty="0">
                <a:solidFill>
                  <a:prstClr val="black"/>
                </a:solidFill>
                <a:latin typeface="Consolas" panose="020B0609020204030204" pitchFamily="49" charset="0"/>
                <a:ea typeface="新細明體" panose="02020500000000000000" pitchFamily="18" charset="-120"/>
              </a:rPr>
              <a:t> %&gt;% count(bigram, sort=TRUE</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bigrams_seperated</a:t>
            </a:r>
            <a:r>
              <a:rPr lang="en-US" altLang="zh-TW" dirty="0">
                <a:solidFill>
                  <a:prstClr val="black"/>
                </a:solidFill>
                <a:latin typeface="Consolas" panose="020B0609020204030204" pitchFamily="49" charset="0"/>
                <a:ea typeface="新細明體" panose="02020500000000000000" pitchFamily="18" charset="-120"/>
              </a:rPr>
              <a:t>&lt;-</a:t>
            </a:r>
            <a:r>
              <a:rPr lang="en-US" altLang="zh-TW" dirty="0" err="1">
                <a:solidFill>
                  <a:prstClr val="black"/>
                </a:solidFill>
                <a:latin typeface="Consolas" panose="020B0609020204030204" pitchFamily="49" charset="0"/>
                <a:ea typeface="新細明體" panose="02020500000000000000" pitchFamily="18" charset="-120"/>
              </a:rPr>
              <a:t>business_bigram</a:t>
            </a:r>
            <a:r>
              <a:rPr lang="en-US" altLang="zh-TW" dirty="0">
                <a:solidFill>
                  <a:prstClr val="black"/>
                </a:solidFill>
                <a:latin typeface="Consolas" panose="020B0609020204030204" pitchFamily="49" charset="0"/>
                <a:ea typeface="新細明體" panose="02020500000000000000" pitchFamily="18" charset="-120"/>
              </a:rPr>
              <a:t> %&gt;%</a:t>
            </a:r>
            <a:br>
              <a:rPr lang="en-US"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separate(bigram, c(“word1”,“word2”), </a:t>
            </a:r>
            <a:r>
              <a:rPr lang="en-US" altLang="zh-TW" dirty="0" err="1">
                <a:solidFill>
                  <a:prstClr val="black"/>
                </a:solidFill>
                <a:latin typeface="Consolas" panose="020B0609020204030204" pitchFamily="49" charset="0"/>
                <a:ea typeface="新細明體" panose="02020500000000000000" pitchFamily="18" charset="-120"/>
              </a:rPr>
              <a:t>sep</a:t>
            </a:r>
            <a:r>
              <a:rPr lang="en-US" altLang="zh-TW" dirty="0">
                <a:solidFill>
                  <a:prstClr val="black"/>
                </a:solidFill>
                <a:latin typeface="Consolas" panose="020B0609020204030204" pitchFamily="49" charset="0"/>
                <a:ea typeface="新細明體" panose="02020500000000000000" pitchFamily="18" charset="-120"/>
              </a:rPr>
              <a:t>=“ ”) </a:t>
            </a:r>
            <a:br>
              <a:rPr lang="en-US" altLang="zh-TW" dirty="0">
                <a:solidFill>
                  <a:prstClr val="black"/>
                </a:solidFill>
                <a:latin typeface="Consolas" panose="020B0609020204030204" pitchFamily="49" charset="0"/>
                <a:ea typeface="新細明體" panose="02020500000000000000" pitchFamily="18" charset="-120"/>
              </a:rPr>
            </a:br>
            <a:endParaRPr lang="en-US" altLang="zh-TW" dirty="0">
              <a:solidFill>
                <a:prstClr val="black"/>
              </a:solidFill>
              <a:latin typeface="Consolas" panose="020B0609020204030204" pitchFamily="49" charset="0"/>
              <a:ea typeface="新細明體" panose="02020500000000000000" pitchFamily="18" charset="-120"/>
            </a:endParaRPr>
          </a:p>
        </p:txBody>
      </p:sp>
      <p:sp>
        <p:nvSpPr>
          <p:cNvPr id="15" name="矩形 7"/>
          <p:cNvSpPr>
            <a:spLocks noChangeArrowheads="1"/>
          </p:cNvSpPr>
          <p:nvPr/>
        </p:nvSpPr>
        <p:spPr bwMode="auto">
          <a:xfrm>
            <a:off x="5071328" y="2383505"/>
            <a:ext cx="2592216" cy="381322"/>
          </a:xfrm>
          <a:prstGeom prst="rect">
            <a:avLst/>
          </a:prstGeom>
          <a:solidFill>
            <a:srgbClr val="FFC000"/>
          </a:solidFill>
          <a:ln>
            <a:noFill/>
          </a:ln>
          <a:extLst/>
        </p:spPr>
        <p:txBody>
          <a:bodyPr anchor="ctr"/>
          <a:lstStyle/>
          <a:p>
            <a:r>
              <a:rPr lang="en-US" altLang="zh-TW" sz="1600" dirty="0" smtClean="0"/>
              <a:t>#</a:t>
            </a:r>
            <a:r>
              <a:rPr lang="zh-TW" altLang="zh-TW" sz="1600" dirty="0"/>
              <a:t>計算字詞組合的</a:t>
            </a:r>
            <a:r>
              <a:rPr lang="zh-TW" altLang="zh-TW" sz="1600" dirty="0" smtClean="0"/>
              <a:t>出現</a:t>
            </a:r>
            <a:r>
              <a:rPr lang="zh-TW" altLang="en-US" sz="1600" dirty="0"/>
              <a:t>次</a:t>
            </a:r>
            <a:r>
              <a:rPr lang="zh-TW" altLang="zh-TW" sz="1600" dirty="0" smtClean="0"/>
              <a:t>數</a:t>
            </a:r>
            <a:endParaRPr lang="zh-TW" altLang="en-US" sz="1600" dirty="0"/>
          </a:p>
        </p:txBody>
      </p:sp>
      <p:sp>
        <p:nvSpPr>
          <p:cNvPr id="17" name="矩形 7"/>
          <p:cNvSpPr>
            <a:spLocks noChangeArrowheads="1"/>
          </p:cNvSpPr>
          <p:nvPr/>
        </p:nvSpPr>
        <p:spPr bwMode="auto">
          <a:xfrm>
            <a:off x="5071328" y="3572995"/>
            <a:ext cx="2592216" cy="381322"/>
          </a:xfrm>
          <a:prstGeom prst="rect">
            <a:avLst/>
          </a:prstGeom>
          <a:solidFill>
            <a:srgbClr val="FFC000"/>
          </a:solidFill>
          <a:ln>
            <a:noFill/>
          </a:ln>
          <a:extLst/>
        </p:spPr>
        <p:txBody>
          <a:bodyPr anchor="ctr"/>
          <a:lstStyle/>
          <a:p>
            <a:r>
              <a:rPr lang="en-US" altLang="zh-TW" sz="1600" dirty="0" smtClean="0"/>
              <a:t>#</a:t>
            </a:r>
            <a:r>
              <a:rPr lang="zh-TW" altLang="en-US" sz="1600" dirty="0"/>
              <a:t> </a:t>
            </a:r>
            <a:r>
              <a:rPr lang="zh-TW" altLang="zh-TW" sz="1600" dirty="0"/>
              <a:t>字詞用</a:t>
            </a:r>
            <a:r>
              <a:rPr lang="en-US" altLang="zh-TW" sz="1600" dirty="0" err="1"/>
              <a:t>seperate</a:t>
            </a:r>
            <a:r>
              <a:rPr lang="en-US" altLang="zh-TW" sz="1600" dirty="0"/>
              <a:t>()</a:t>
            </a:r>
            <a:r>
              <a:rPr lang="zh-TW" altLang="zh-TW" sz="1600" dirty="0"/>
              <a:t>斷</a:t>
            </a:r>
            <a:r>
              <a:rPr lang="zh-TW" altLang="zh-TW" sz="1600" dirty="0" smtClean="0"/>
              <a:t>詞</a:t>
            </a:r>
            <a:endParaRPr lang="zh-TW" altLang="en-US" sz="1600" dirty="0"/>
          </a:p>
        </p:txBody>
      </p:sp>
      <p:grpSp>
        <p:nvGrpSpPr>
          <p:cNvPr id="18" name="组合 1"/>
          <p:cNvGrpSpPr>
            <a:grpSpLocks/>
          </p:cNvGrpSpPr>
          <p:nvPr/>
        </p:nvGrpSpPr>
        <p:grpSpPr bwMode="auto">
          <a:xfrm>
            <a:off x="5502988" y="189464"/>
            <a:ext cx="3816350" cy="406400"/>
            <a:chOff x="0" y="0"/>
            <a:chExt cx="3816672" cy="405750"/>
          </a:xfrm>
        </p:grpSpPr>
        <p:sp>
          <p:nvSpPr>
            <p:cNvPr id="19"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1"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3011525352"/>
      </p:ext>
    </p:extLst>
  </p:cSld>
  <p:clrMapOvr>
    <a:masterClrMapping/>
  </p:clrMapOvr>
  <p:transition spd="slow">
    <p:push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1273" name="矩形 9"/>
          <p:cNvSpPr>
            <a:spLocks noChangeArrowheads="1"/>
          </p:cNvSpPr>
          <p:nvPr/>
        </p:nvSpPr>
        <p:spPr bwMode="auto">
          <a:xfrm>
            <a:off x="468777" y="731319"/>
            <a:ext cx="4679271"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40784" y="812501"/>
            <a:ext cx="4530544"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r>
              <a:rPr lang="zh-TW" altLang="zh-TW" dirty="0"/>
              <a:t>整理</a:t>
            </a:r>
            <a:r>
              <a:rPr lang="en-US" altLang="zh-TW" dirty="0"/>
              <a:t>business</a:t>
            </a:r>
            <a:r>
              <a:rPr lang="zh-TW" altLang="zh-TW" dirty="0"/>
              <a:t>類的標題兩字詞組合出現頻率</a:t>
            </a:r>
            <a:endParaRPr lang="zh-TW" altLang="en-US" dirty="0"/>
          </a:p>
        </p:txBody>
      </p:sp>
      <p:sp>
        <p:nvSpPr>
          <p:cNvPr id="23" name="矩形 22"/>
          <p:cNvSpPr/>
          <p:nvPr/>
        </p:nvSpPr>
        <p:spPr>
          <a:xfrm>
            <a:off x="447676" y="1470848"/>
            <a:ext cx="6984582" cy="318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bigrams_filtered</a:t>
            </a:r>
            <a:r>
              <a:rPr lang="en-US" altLang="zh-TW" dirty="0">
                <a:solidFill>
                  <a:prstClr val="black"/>
                </a:solidFill>
                <a:latin typeface="Consolas" panose="020B0609020204030204" pitchFamily="49" charset="0"/>
                <a:ea typeface="新細明體" panose="02020500000000000000" pitchFamily="18" charset="-120"/>
              </a:rPr>
              <a:t>&lt;- </a:t>
            </a:r>
            <a:r>
              <a:rPr lang="en-US" altLang="zh-TW" dirty="0" err="1">
                <a:solidFill>
                  <a:prstClr val="black"/>
                </a:solidFill>
                <a:latin typeface="Consolas" panose="020B0609020204030204" pitchFamily="49" charset="0"/>
                <a:ea typeface="新細明體" panose="02020500000000000000" pitchFamily="18" charset="-120"/>
              </a:rPr>
              <a:t>bigrams_seperated</a:t>
            </a:r>
            <a:r>
              <a:rPr lang="en-US" altLang="zh-TW" dirty="0">
                <a:solidFill>
                  <a:prstClr val="black"/>
                </a:solidFill>
                <a:latin typeface="Consolas" panose="020B0609020204030204" pitchFamily="49" charset="0"/>
                <a:ea typeface="新細明體" panose="02020500000000000000" pitchFamily="18" charset="-120"/>
              </a:rPr>
              <a:t>%&gt;%</a:t>
            </a:r>
            <a:br>
              <a:rPr lang="en-US"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filter(!word1 %in% </a:t>
            </a:r>
            <a:r>
              <a:rPr lang="en-US" altLang="zh-TW" dirty="0" err="1">
                <a:solidFill>
                  <a:prstClr val="black"/>
                </a:solidFill>
                <a:latin typeface="Consolas" panose="020B0609020204030204" pitchFamily="49" charset="0"/>
                <a:ea typeface="新細明體" panose="02020500000000000000" pitchFamily="18" charset="-120"/>
              </a:rPr>
              <a:t>stop_words$word</a:t>
            </a:r>
            <a:r>
              <a:rPr lang="en-US" altLang="zh-TW" dirty="0">
                <a:solidFill>
                  <a:prstClr val="black"/>
                </a:solidFill>
                <a:latin typeface="Consolas" panose="020B0609020204030204" pitchFamily="49" charset="0"/>
                <a:ea typeface="新細明體" panose="02020500000000000000" pitchFamily="18" charset="-120"/>
              </a:rPr>
              <a:t>) %&gt;%</a:t>
            </a:r>
            <a:br>
              <a:rPr lang="en-US" altLang="zh-TW" dirty="0">
                <a:solidFill>
                  <a:prstClr val="black"/>
                </a:solidFill>
                <a:latin typeface="Consolas" panose="020B0609020204030204" pitchFamily="49" charset="0"/>
                <a:ea typeface="新細明體" panose="02020500000000000000" pitchFamily="18" charset="-120"/>
              </a:rPr>
            </a:br>
            <a:r>
              <a:rPr lang="en-US" altLang="zh-TW" dirty="0">
                <a:solidFill>
                  <a:prstClr val="black"/>
                </a:solidFill>
                <a:latin typeface="Consolas" panose="020B0609020204030204" pitchFamily="49" charset="0"/>
                <a:ea typeface="新細明體" panose="02020500000000000000" pitchFamily="18" charset="-120"/>
              </a:rPr>
              <a:t>  filter(!word2 %in% </a:t>
            </a:r>
            <a:r>
              <a:rPr lang="en-US" altLang="zh-TW" dirty="0" err="1">
                <a:solidFill>
                  <a:prstClr val="black"/>
                </a:solidFill>
                <a:latin typeface="Consolas" panose="020B0609020204030204" pitchFamily="49" charset="0"/>
                <a:ea typeface="新細明體" panose="02020500000000000000" pitchFamily="18" charset="-120"/>
              </a:rPr>
              <a:t>stop_words$word</a:t>
            </a:r>
            <a:r>
              <a:rPr lang="en-US" altLang="zh-TW" dirty="0">
                <a:solidFill>
                  <a:prstClr val="black"/>
                </a:solidFill>
                <a:latin typeface="Consolas" panose="020B0609020204030204" pitchFamily="49" charset="0"/>
                <a:ea typeface="新細明體" panose="02020500000000000000" pitchFamily="18" charset="-120"/>
              </a:rPr>
              <a:t>)       </a:t>
            </a:r>
            <a:br>
              <a:rPr lang="en-US" altLang="zh-TW" dirty="0">
                <a:solidFill>
                  <a:prstClr val="black"/>
                </a:solidFill>
                <a:latin typeface="Consolas" panose="020B0609020204030204" pitchFamily="49" charset="0"/>
                <a:ea typeface="新細明體" panose="02020500000000000000" pitchFamily="18" charset="-120"/>
              </a:rPr>
            </a:b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bigram_counts</a:t>
            </a:r>
            <a:r>
              <a:rPr lang="en-US" altLang="zh-TW" dirty="0">
                <a:solidFill>
                  <a:prstClr val="black"/>
                </a:solidFill>
                <a:latin typeface="Consolas" panose="020B0609020204030204" pitchFamily="49" charset="0"/>
                <a:ea typeface="新細明體" panose="02020500000000000000" pitchFamily="18" charset="-120"/>
              </a:rPr>
              <a:t>&lt;-</a:t>
            </a:r>
            <a:r>
              <a:rPr lang="en-US" altLang="zh-TW" dirty="0" err="1">
                <a:solidFill>
                  <a:prstClr val="black"/>
                </a:solidFill>
                <a:latin typeface="Consolas" panose="020B0609020204030204" pitchFamily="49" charset="0"/>
                <a:ea typeface="新細明體" panose="02020500000000000000" pitchFamily="18" charset="-120"/>
              </a:rPr>
              <a:t>bigrams_filtered</a:t>
            </a:r>
            <a:r>
              <a:rPr lang="en-US" altLang="zh-TW" dirty="0">
                <a:solidFill>
                  <a:prstClr val="black"/>
                </a:solidFill>
                <a:latin typeface="Consolas" panose="020B0609020204030204" pitchFamily="49" charset="0"/>
                <a:ea typeface="新細明體" panose="02020500000000000000" pitchFamily="18" charset="-120"/>
              </a:rPr>
              <a:t>%&gt;%</a:t>
            </a:r>
          </a:p>
          <a:p>
            <a:pPr lvl="0" fontAlgn="auto">
              <a:spcBef>
                <a:spcPts val="0"/>
              </a:spcBef>
              <a:spcAft>
                <a:spcPts val="0"/>
              </a:spcAft>
            </a:pP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count(word1</a:t>
            </a:r>
            <a:r>
              <a:rPr lang="en-US" altLang="zh-TW" dirty="0">
                <a:solidFill>
                  <a:prstClr val="black"/>
                </a:solidFill>
                <a:latin typeface="Consolas" panose="020B0609020204030204" pitchFamily="49" charset="0"/>
                <a:ea typeface="新細明體" panose="02020500000000000000" pitchFamily="18" charset="-120"/>
              </a:rPr>
              <a:t>, word2, sort=TRUE)</a:t>
            </a: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bigram_graph</a:t>
            </a:r>
            <a:r>
              <a:rPr lang="en-US" altLang="zh-TW" dirty="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&lt;-</a:t>
            </a:r>
            <a:r>
              <a:rPr lang="en-US" altLang="zh-TW" dirty="0" err="1" smtClean="0">
                <a:solidFill>
                  <a:prstClr val="black"/>
                </a:solidFill>
                <a:latin typeface="Consolas" panose="020B0609020204030204" pitchFamily="49" charset="0"/>
                <a:ea typeface="新細明體" panose="02020500000000000000" pitchFamily="18" charset="-120"/>
              </a:rPr>
              <a:t>bigram_counts</a:t>
            </a:r>
            <a:r>
              <a:rPr lang="en-US" altLang="zh-TW" dirty="0" smtClean="0">
                <a:solidFill>
                  <a:prstClr val="black"/>
                </a:solidFill>
                <a:latin typeface="Consolas" panose="020B0609020204030204" pitchFamily="49" charset="0"/>
                <a:ea typeface="新細明體" panose="02020500000000000000" pitchFamily="18" charset="-120"/>
              </a:rPr>
              <a:t> </a:t>
            </a:r>
            <a:r>
              <a:rPr lang="en-US" altLang="zh-TW" dirty="0">
                <a:solidFill>
                  <a:prstClr val="black"/>
                </a:solidFill>
                <a:latin typeface="Consolas" panose="020B0609020204030204" pitchFamily="49" charset="0"/>
                <a:ea typeface="新細明體" panose="02020500000000000000" pitchFamily="18" charset="-120"/>
              </a:rPr>
              <a:t>%&gt;%filter(n &gt; 6) %&gt;%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 	</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err="1" smtClean="0">
                <a:solidFill>
                  <a:prstClr val="black"/>
                </a:solidFill>
                <a:latin typeface="Consolas" panose="020B0609020204030204" pitchFamily="49" charset="0"/>
                <a:ea typeface="新細明體" panose="02020500000000000000" pitchFamily="18" charset="-120"/>
              </a:rPr>
              <a:t>graph_from_data_frame</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
            </a:r>
            <a:br>
              <a:rPr lang="en-US" altLang="zh-TW" dirty="0" smtClean="0">
                <a:solidFill>
                  <a:prstClr val="black"/>
                </a:solidFill>
                <a:latin typeface="Consolas" panose="020B0609020204030204" pitchFamily="49" charset="0"/>
                <a:ea typeface="新細明體" panose="02020500000000000000" pitchFamily="18" charset="-120"/>
              </a:rPr>
            </a:br>
            <a:endParaRPr lang="en-US" altLang="zh-TW" dirty="0">
              <a:solidFill>
                <a:prstClr val="black"/>
              </a:solidFill>
              <a:latin typeface="Consolas" panose="020B0609020204030204" pitchFamily="49" charset="0"/>
              <a:ea typeface="新細明體" panose="02020500000000000000" pitchFamily="18" charset="-120"/>
            </a:endParaRPr>
          </a:p>
        </p:txBody>
      </p:sp>
      <p:sp>
        <p:nvSpPr>
          <p:cNvPr id="15" name="矩形 7"/>
          <p:cNvSpPr>
            <a:spLocks noChangeArrowheads="1"/>
          </p:cNvSpPr>
          <p:nvPr/>
        </p:nvSpPr>
        <p:spPr bwMode="auto">
          <a:xfrm>
            <a:off x="3635922" y="2383505"/>
            <a:ext cx="4027622" cy="381322"/>
          </a:xfrm>
          <a:prstGeom prst="rect">
            <a:avLst/>
          </a:prstGeom>
          <a:solidFill>
            <a:srgbClr val="FFC000"/>
          </a:solidFill>
          <a:ln>
            <a:noFill/>
          </a:ln>
          <a:extLst/>
        </p:spPr>
        <p:txBody>
          <a:bodyPr anchor="ctr"/>
          <a:lstStyle/>
          <a:p>
            <a:r>
              <a:rPr lang="en-US" altLang="zh-TW" sz="1600" dirty="0" smtClean="0"/>
              <a:t>#</a:t>
            </a:r>
            <a:r>
              <a:rPr lang="zh-TW" altLang="zh-TW" sz="1600" dirty="0"/>
              <a:t>使用</a:t>
            </a:r>
            <a:r>
              <a:rPr lang="en-US" altLang="zh-TW" sz="1600" dirty="0" err="1" smtClean="0"/>
              <a:t>tidytext</a:t>
            </a:r>
            <a:r>
              <a:rPr lang="zh-TW" altLang="en-US" sz="1600" dirty="0" smtClean="0"/>
              <a:t>內的</a:t>
            </a:r>
            <a:r>
              <a:rPr lang="en-US" altLang="zh-TW" sz="1600" dirty="0" err="1" smtClean="0"/>
              <a:t>stop_words</a:t>
            </a:r>
            <a:r>
              <a:rPr lang="zh-TW" altLang="zh-TW" sz="1600" dirty="0" smtClean="0"/>
              <a:t>去除</a:t>
            </a:r>
            <a:r>
              <a:rPr lang="en-US" altLang="zh-TW" sz="1600" dirty="0" err="1"/>
              <a:t>stopword</a:t>
            </a:r>
            <a:endParaRPr lang="zh-TW" altLang="en-US" sz="1600" dirty="0"/>
          </a:p>
        </p:txBody>
      </p:sp>
      <p:sp>
        <p:nvSpPr>
          <p:cNvPr id="17" name="矩形 7"/>
          <p:cNvSpPr>
            <a:spLocks noChangeArrowheads="1"/>
          </p:cNvSpPr>
          <p:nvPr/>
        </p:nvSpPr>
        <p:spPr bwMode="auto">
          <a:xfrm>
            <a:off x="5071328" y="4068492"/>
            <a:ext cx="2592216" cy="381322"/>
          </a:xfrm>
          <a:prstGeom prst="rect">
            <a:avLst/>
          </a:prstGeom>
          <a:solidFill>
            <a:srgbClr val="FFC000"/>
          </a:solidFill>
          <a:ln>
            <a:noFill/>
          </a:ln>
          <a:extLst/>
        </p:spPr>
        <p:txBody>
          <a:bodyPr anchor="ctr"/>
          <a:lstStyle/>
          <a:p>
            <a:pPr latinLnBrk="1"/>
            <a:r>
              <a:rPr lang="en-US" altLang="zh-TW" sz="1600" dirty="0" smtClean="0"/>
              <a:t>#</a:t>
            </a:r>
            <a:r>
              <a:rPr lang="zh-TW" altLang="zh-TW" sz="1600" dirty="0"/>
              <a:t>篩選前</a:t>
            </a:r>
            <a:r>
              <a:rPr lang="en-US" altLang="zh-TW" sz="1600" dirty="0"/>
              <a:t>20</a:t>
            </a:r>
            <a:r>
              <a:rPr lang="zh-TW" altLang="zh-TW" sz="1600" dirty="0"/>
              <a:t>常見的字詞組合</a:t>
            </a:r>
          </a:p>
        </p:txBody>
      </p:sp>
      <p:grpSp>
        <p:nvGrpSpPr>
          <p:cNvPr id="14" name="组合 1"/>
          <p:cNvGrpSpPr>
            <a:grpSpLocks/>
          </p:cNvGrpSpPr>
          <p:nvPr/>
        </p:nvGrpSpPr>
        <p:grpSpPr bwMode="auto">
          <a:xfrm>
            <a:off x="5502988" y="189464"/>
            <a:ext cx="3816350" cy="406400"/>
            <a:chOff x="0" y="0"/>
            <a:chExt cx="3816672" cy="405750"/>
          </a:xfrm>
        </p:grpSpPr>
        <p:sp>
          <p:nvSpPr>
            <p:cNvPr id="16"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9"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444292349"/>
      </p:ext>
    </p:extLst>
  </p:cSld>
  <p:clrMapOvr>
    <a:masterClrMapping/>
  </p:clrMapOvr>
  <p:transition spd="slow">
    <p:push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1273" name="矩形 9"/>
          <p:cNvSpPr>
            <a:spLocks noChangeArrowheads="1"/>
          </p:cNvSpPr>
          <p:nvPr/>
        </p:nvSpPr>
        <p:spPr bwMode="auto">
          <a:xfrm>
            <a:off x="468777" y="731319"/>
            <a:ext cx="4679271"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40784" y="812501"/>
            <a:ext cx="4530544"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r>
              <a:rPr lang="zh-TW" altLang="en-US" dirty="0"/>
              <a:t>繪出常出現在一起的字詞組合的網絡圖 </a:t>
            </a:r>
          </a:p>
        </p:txBody>
      </p:sp>
      <p:sp>
        <p:nvSpPr>
          <p:cNvPr id="23" name="矩形 22"/>
          <p:cNvSpPr/>
          <p:nvPr/>
        </p:nvSpPr>
        <p:spPr>
          <a:xfrm>
            <a:off x="447676" y="1470848"/>
            <a:ext cx="6984582" cy="21089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ggraph</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bigram_graph</a:t>
            </a:r>
            <a:r>
              <a:rPr lang="en-US" altLang="zh-TW" dirty="0">
                <a:solidFill>
                  <a:prstClr val="black"/>
                </a:solidFill>
                <a:latin typeface="Consolas" panose="020B0609020204030204" pitchFamily="49" charset="0"/>
                <a:ea typeface="新細明體" panose="02020500000000000000" pitchFamily="18" charset="-120"/>
              </a:rPr>
              <a:t>, layout = "</a:t>
            </a:r>
            <a:r>
              <a:rPr lang="en-US" altLang="zh-TW" dirty="0" err="1">
                <a:solidFill>
                  <a:prstClr val="black"/>
                </a:solidFill>
                <a:latin typeface="Consolas" panose="020B0609020204030204" pitchFamily="49" charset="0"/>
                <a:ea typeface="新細明體" panose="02020500000000000000" pitchFamily="18" charset="-120"/>
              </a:rPr>
              <a:t>fr</a:t>
            </a:r>
            <a:r>
              <a:rPr lang="en-US" altLang="zh-TW" dirty="0">
                <a:solidFill>
                  <a:prstClr val="black"/>
                </a:solidFill>
                <a:latin typeface="Consolas" panose="020B0609020204030204" pitchFamily="49" charset="0"/>
                <a:ea typeface="新細明體" panose="02020500000000000000" pitchFamily="18" charset="-120"/>
              </a:rPr>
              <a:t>") +</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geom_edge_link</a:t>
            </a:r>
            <a:r>
              <a:rPr lang="en-US" altLang="zh-TW" dirty="0">
                <a:solidFill>
                  <a:prstClr val="black"/>
                </a:solidFill>
                <a:latin typeface="Consolas" panose="020B0609020204030204" pitchFamily="49" charset="0"/>
                <a:ea typeface="新細明體" panose="02020500000000000000" pitchFamily="18" charset="-120"/>
              </a:rPr>
              <a:t>() +</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geom_node_point</a:t>
            </a:r>
            <a:r>
              <a:rPr lang="en-US" altLang="zh-TW" dirty="0">
                <a:solidFill>
                  <a:prstClr val="black"/>
                </a:solidFill>
                <a:latin typeface="Consolas" panose="020B0609020204030204" pitchFamily="49" charset="0"/>
                <a:ea typeface="新細明體" panose="02020500000000000000" pitchFamily="18" charset="-120"/>
              </a:rPr>
              <a:t>() +</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geom_node_text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aes</a:t>
            </a:r>
            <a:r>
              <a:rPr lang="en-US" altLang="zh-TW" dirty="0">
                <a:solidFill>
                  <a:prstClr val="black"/>
                </a:solidFill>
                <a:latin typeface="Consolas" panose="020B0609020204030204" pitchFamily="49" charset="0"/>
                <a:ea typeface="新細明體" panose="02020500000000000000" pitchFamily="18" charset="-120"/>
              </a:rPr>
              <a:t>(label = name), </a:t>
            </a: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zh-TW" altLang="en-US" dirty="0">
                <a:solidFill>
                  <a:prstClr val="black"/>
                </a:solidFill>
                <a:latin typeface="Consolas" panose="020B0609020204030204" pitchFamily="49" charset="0"/>
                <a:ea typeface="新細明體" panose="02020500000000000000" pitchFamily="18" charset="-120"/>
              </a:rPr>
              <a:t> </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err="1" smtClean="0">
                <a:solidFill>
                  <a:prstClr val="black"/>
                </a:solidFill>
                <a:latin typeface="Consolas" panose="020B0609020204030204" pitchFamily="49" charset="0"/>
                <a:ea typeface="新細明體" panose="02020500000000000000" pitchFamily="18" charset="-120"/>
              </a:rPr>
              <a:t>vjust</a:t>
            </a:r>
            <a:r>
              <a:rPr lang="en-US" altLang="zh-TW" dirty="0" smtClean="0">
                <a:solidFill>
                  <a:prstClr val="black"/>
                </a:solidFill>
                <a:latin typeface="Consolas" panose="020B0609020204030204" pitchFamily="49" charset="0"/>
                <a:ea typeface="新細明體" panose="02020500000000000000" pitchFamily="18" charset="-120"/>
              </a:rPr>
              <a:t> </a:t>
            </a:r>
            <a:r>
              <a:rPr lang="en-US" altLang="zh-TW" dirty="0">
                <a:solidFill>
                  <a:prstClr val="black"/>
                </a:solidFill>
                <a:latin typeface="Consolas" panose="020B0609020204030204" pitchFamily="49" charset="0"/>
                <a:ea typeface="新細明體" panose="02020500000000000000" pitchFamily="18" charset="-120"/>
              </a:rPr>
              <a:t>= 1, </a:t>
            </a:r>
            <a:r>
              <a:rPr lang="en-US" altLang="zh-TW" dirty="0" err="1">
                <a:solidFill>
                  <a:prstClr val="black"/>
                </a:solidFill>
                <a:latin typeface="Consolas" panose="020B0609020204030204" pitchFamily="49" charset="0"/>
                <a:ea typeface="新細明體" panose="02020500000000000000" pitchFamily="18" charset="-120"/>
              </a:rPr>
              <a:t>hjust</a:t>
            </a:r>
            <a:r>
              <a:rPr lang="en-US" altLang="zh-TW" dirty="0">
                <a:solidFill>
                  <a:prstClr val="black"/>
                </a:solidFill>
                <a:latin typeface="Consolas" panose="020B0609020204030204" pitchFamily="49" charset="0"/>
                <a:ea typeface="新細明體" panose="02020500000000000000" pitchFamily="18" charset="-120"/>
              </a:rPr>
              <a:t> = </a:t>
            </a:r>
            <a:r>
              <a:rPr lang="en-US" altLang="zh-TW" dirty="0" smtClean="0">
                <a:solidFill>
                  <a:prstClr val="black"/>
                </a:solidFill>
                <a:latin typeface="Consolas" panose="020B0609020204030204" pitchFamily="49" charset="0"/>
                <a:ea typeface="新細明體" panose="02020500000000000000" pitchFamily="18" charset="-120"/>
              </a:rPr>
              <a:t>1)</a:t>
            </a:r>
            <a:endParaRPr lang="en-US" altLang="zh-TW" dirty="0">
              <a:solidFill>
                <a:prstClr val="black"/>
              </a:solidFill>
              <a:latin typeface="Consolas" panose="020B0609020204030204" pitchFamily="49" charset="0"/>
              <a:ea typeface="新細明體" panose="02020500000000000000" pitchFamily="18" charset="-120"/>
            </a:endParaRPr>
          </a:p>
        </p:txBody>
      </p:sp>
      <p:sp>
        <p:nvSpPr>
          <p:cNvPr id="15" name="矩形 7"/>
          <p:cNvSpPr>
            <a:spLocks noChangeArrowheads="1"/>
          </p:cNvSpPr>
          <p:nvPr/>
        </p:nvSpPr>
        <p:spPr bwMode="auto">
          <a:xfrm>
            <a:off x="1799930" y="3048172"/>
            <a:ext cx="6696236" cy="381322"/>
          </a:xfrm>
          <a:prstGeom prst="rect">
            <a:avLst/>
          </a:prstGeom>
          <a:solidFill>
            <a:srgbClr val="FFC000"/>
          </a:solidFill>
          <a:ln>
            <a:noFill/>
          </a:ln>
          <a:extLst/>
        </p:spPr>
        <p:txBody>
          <a:bodyPr anchor="ctr"/>
          <a:lstStyle/>
          <a:p>
            <a:pPr latinLnBrk="1"/>
            <a:r>
              <a:rPr lang="en-US" altLang="zh-TW" sz="1600" dirty="0" smtClean="0"/>
              <a:t>#</a:t>
            </a:r>
            <a:r>
              <a:rPr lang="en-US" altLang="zh-TW" sz="1600" dirty="0"/>
              <a:t>layout</a:t>
            </a:r>
            <a:r>
              <a:rPr lang="zh-TW" altLang="zh-TW" sz="1600" dirty="0"/>
              <a:t>為</a:t>
            </a:r>
            <a:r>
              <a:rPr lang="en-US" altLang="zh-TW" sz="1600" dirty="0"/>
              <a:t>node</a:t>
            </a:r>
            <a:r>
              <a:rPr lang="zh-TW" altLang="zh-TW" sz="1600" dirty="0"/>
              <a:t>在圖中的位置</a:t>
            </a:r>
            <a:r>
              <a:rPr lang="zh-TW" altLang="en-US" sz="1600" dirty="0"/>
              <a:t>，</a:t>
            </a:r>
            <a:r>
              <a:rPr lang="en-US" altLang="zh-TW" sz="1600" dirty="0"/>
              <a:t> </a:t>
            </a:r>
            <a:r>
              <a:rPr lang="en-US" altLang="zh-TW" sz="1600" dirty="0" err="1"/>
              <a:t>geom</a:t>
            </a:r>
            <a:r>
              <a:rPr lang="zh-TW" altLang="zh-TW" sz="1600" dirty="0"/>
              <a:t>用來定義以哪種幾何圖形繪製資料</a:t>
            </a:r>
          </a:p>
        </p:txBody>
      </p:sp>
      <p:grpSp>
        <p:nvGrpSpPr>
          <p:cNvPr id="14" name="组合 1"/>
          <p:cNvGrpSpPr>
            <a:grpSpLocks/>
          </p:cNvGrpSpPr>
          <p:nvPr/>
        </p:nvGrpSpPr>
        <p:grpSpPr bwMode="auto">
          <a:xfrm>
            <a:off x="5502988" y="189464"/>
            <a:ext cx="3816350" cy="406400"/>
            <a:chOff x="0" y="0"/>
            <a:chExt cx="3816672" cy="405750"/>
          </a:xfrm>
        </p:grpSpPr>
        <p:sp>
          <p:nvSpPr>
            <p:cNvPr id="16"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9"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2854264568"/>
      </p:ext>
    </p:extLst>
  </p:cSld>
  <p:clrMapOvr>
    <a:masterClrMapping/>
  </p:clrMapOvr>
  <p:transition spd="slow">
    <p:push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sp>
        <p:nvSpPr>
          <p:cNvPr id="8195" name="直接连接符 1"/>
          <p:cNvSpPr>
            <a:spLocks noChangeShapeType="1"/>
          </p:cNvSpPr>
          <p:nvPr/>
        </p:nvSpPr>
        <p:spPr bwMode="auto">
          <a:xfrm>
            <a:off x="179388" y="714375"/>
            <a:ext cx="8713787" cy="0"/>
          </a:xfrm>
          <a:prstGeom prst="line">
            <a:avLst/>
          </a:prstGeom>
          <a:noFill/>
          <a:ln w="9525" cap="flat" cmpd="sng">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TextBox 5"/>
          <p:cNvSpPr>
            <a:spLocks noChangeArrowheads="1"/>
          </p:cNvSpPr>
          <p:nvPr/>
        </p:nvSpPr>
        <p:spPr bwMode="auto">
          <a:xfrm>
            <a:off x="7369175" y="-34925"/>
            <a:ext cx="15128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dist"/>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grpSp>
        <p:nvGrpSpPr>
          <p:cNvPr id="2" name="群組 1"/>
          <p:cNvGrpSpPr/>
          <p:nvPr/>
        </p:nvGrpSpPr>
        <p:grpSpPr>
          <a:xfrm>
            <a:off x="323646" y="250636"/>
            <a:ext cx="1849158" cy="315912"/>
            <a:chOff x="274638" y="1020763"/>
            <a:chExt cx="1849158" cy="315912"/>
          </a:xfrm>
        </p:grpSpPr>
        <p:sp>
          <p:nvSpPr>
            <p:cNvPr id="8200" name="矩形 6"/>
            <p:cNvSpPr>
              <a:spLocks noChangeArrowheads="1"/>
            </p:cNvSpPr>
            <p:nvPr/>
          </p:nvSpPr>
          <p:spPr bwMode="auto">
            <a:xfrm>
              <a:off x="517525" y="1020763"/>
              <a:ext cx="1606271" cy="315912"/>
            </a:xfrm>
            <a:prstGeom prst="rect">
              <a:avLst/>
            </a:prstGeom>
            <a:solidFill>
              <a:srgbClr val="FFC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r>
                <a:rPr lang="en-US" altLang="zh-CN" b="1" dirty="0" smtClean="0">
                  <a:solidFill>
                    <a:srgbClr val="FFFFFF"/>
                  </a:solidFill>
                  <a:latin typeface="Microsoft YaHei" panose="020B0503020204020204" pitchFamily="34" charset="-122"/>
                  <a:ea typeface="Microsoft YaHei" panose="020B0503020204020204" pitchFamily="34" charset="-122"/>
                  <a:sym typeface="宋体" pitchFamily="2" charset="-122"/>
                </a:rPr>
                <a:t>BIGRAM</a:t>
              </a:r>
              <a:endParaRPr lang="zh-CN" altLang="zh-CN" b="1" dirty="0">
                <a:solidFill>
                  <a:srgbClr val="FFFFFF"/>
                </a:solidFill>
                <a:latin typeface="Microsoft YaHei" panose="020B0503020204020204" pitchFamily="34" charset="-122"/>
                <a:ea typeface="Microsoft YaHei" panose="020B0503020204020204" pitchFamily="34" charset="-122"/>
                <a:sym typeface="宋体" pitchFamily="2" charset="-122"/>
              </a:endParaRPr>
            </a:p>
          </p:txBody>
        </p:sp>
        <p:sp>
          <p:nvSpPr>
            <p:cNvPr id="8201" name="矩形 7"/>
            <p:cNvSpPr>
              <a:spLocks noChangeArrowheads="1"/>
            </p:cNvSpPr>
            <p:nvPr/>
          </p:nvSpPr>
          <p:spPr bwMode="auto">
            <a:xfrm>
              <a:off x="274638" y="1020763"/>
              <a:ext cx="242887" cy="315912"/>
            </a:xfrm>
            <a:prstGeom prst="rect">
              <a:avLst/>
            </a:prstGeom>
            <a:solidFill>
              <a:srgbClr val="3C3C37"/>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pic>
        <p:nvPicPr>
          <p:cNvPr id="15" name="圖片 14">
            <a:extLst>
              <a:ext uri="{FF2B5EF4-FFF2-40B4-BE49-F238E27FC236}">
                <a16:creationId xmlns:a16="http://schemas.microsoft.com/office/drawing/2014/main" id="{C7B148FA-BD9A-4C7A-964C-AB71A2607D7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859431" y="1334868"/>
            <a:ext cx="5425137" cy="3199847"/>
          </a:xfrm>
          <a:prstGeom prst="rect">
            <a:avLst/>
          </a:prstGeom>
        </p:spPr>
      </p:pic>
      <p:grpSp>
        <p:nvGrpSpPr>
          <p:cNvPr id="16" name="组合 1"/>
          <p:cNvGrpSpPr>
            <a:grpSpLocks/>
          </p:cNvGrpSpPr>
          <p:nvPr/>
        </p:nvGrpSpPr>
        <p:grpSpPr bwMode="auto">
          <a:xfrm>
            <a:off x="5502988" y="189464"/>
            <a:ext cx="3816350" cy="406400"/>
            <a:chOff x="0" y="0"/>
            <a:chExt cx="3816672" cy="405750"/>
          </a:xfrm>
        </p:grpSpPr>
        <p:sp>
          <p:nvSpPr>
            <p:cNvPr id="17"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9"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1078204756"/>
      </p:ext>
    </p:extLst>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1273" name="矩形 9"/>
          <p:cNvSpPr>
            <a:spLocks noChangeArrowheads="1"/>
          </p:cNvSpPr>
          <p:nvPr/>
        </p:nvSpPr>
        <p:spPr bwMode="auto">
          <a:xfrm>
            <a:off x="447676" y="1050290"/>
            <a:ext cx="4679271" cy="648894"/>
          </a:xfrm>
          <a:prstGeom prst="rect">
            <a:avLst/>
          </a:prstGeom>
          <a:solidFill>
            <a:schemeClr val="bg2"/>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30417" y="1119039"/>
            <a:ext cx="4530544"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a:t>隨機選取</a:t>
            </a:r>
            <a:r>
              <a:rPr lang="en-US" altLang="zh-TW" dirty="0"/>
              <a:t>10000</a:t>
            </a:r>
            <a:r>
              <a:rPr lang="zh-TW" altLang="en-US" dirty="0"/>
              <a:t>筆資料</a:t>
            </a:r>
            <a:endParaRPr lang="zh-TW" altLang="zh-TW" dirty="0"/>
          </a:p>
        </p:txBody>
      </p:sp>
      <p:sp>
        <p:nvSpPr>
          <p:cNvPr id="23" name="矩形 22"/>
          <p:cNvSpPr/>
          <p:nvPr/>
        </p:nvSpPr>
        <p:spPr>
          <a:xfrm>
            <a:off x="447676" y="1807034"/>
            <a:ext cx="6984582" cy="9568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id=sample(1:dim(</a:t>
            </a:r>
            <a:r>
              <a:rPr lang="en-US" altLang="zh-TW" dirty="0" err="1">
                <a:solidFill>
                  <a:prstClr val="black"/>
                </a:solidFill>
                <a:latin typeface="Consolas" panose="020B0609020204030204" pitchFamily="49" charset="0"/>
                <a:ea typeface="新細明體" panose="02020500000000000000" pitchFamily="18" charset="-120"/>
              </a:rPr>
              <a:t>uci_news_aggregator</a:t>
            </a:r>
            <a:r>
              <a:rPr lang="en-US" altLang="zh-TW" dirty="0">
                <a:solidFill>
                  <a:prstClr val="black"/>
                </a:solidFill>
                <a:latin typeface="Consolas" panose="020B0609020204030204" pitchFamily="49" charset="0"/>
                <a:ea typeface="新細明體" panose="02020500000000000000" pitchFamily="18" charset="-120"/>
              </a:rPr>
              <a:t>)[1],10000)</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news_raw</a:t>
            </a:r>
            <a:r>
              <a:rPr lang="en-US" altLang="zh-TW" dirty="0">
                <a:solidFill>
                  <a:prstClr val="black"/>
                </a:solidFill>
                <a:latin typeface="Consolas" panose="020B0609020204030204" pitchFamily="49" charset="0"/>
                <a:ea typeface="新細明體" panose="02020500000000000000" pitchFamily="18" charset="-120"/>
              </a:rPr>
              <a:t>&lt;-</a:t>
            </a:r>
            <a:r>
              <a:rPr lang="en-US" altLang="zh-TW" dirty="0" err="1">
                <a:solidFill>
                  <a:prstClr val="black"/>
                </a:solidFill>
                <a:latin typeface="Consolas" panose="020B0609020204030204" pitchFamily="49" charset="0"/>
                <a:ea typeface="新細明體" panose="02020500000000000000" pitchFamily="18" charset="-120"/>
              </a:rPr>
              <a:t>uci_news_aggregator</a:t>
            </a:r>
            <a:r>
              <a:rPr lang="en-US" altLang="zh-TW" dirty="0">
                <a:solidFill>
                  <a:prstClr val="black"/>
                </a:solidFill>
                <a:latin typeface="Consolas" panose="020B0609020204030204" pitchFamily="49" charset="0"/>
                <a:ea typeface="新細明體" panose="02020500000000000000" pitchFamily="18" charset="-120"/>
              </a:rPr>
              <a:t>[id,]</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news_corpus</a:t>
            </a:r>
            <a:r>
              <a:rPr lang="en-US" altLang="zh-TW" dirty="0">
                <a:solidFill>
                  <a:prstClr val="black"/>
                </a:solidFill>
                <a:latin typeface="Consolas" panose="020B0609020204030204" pitchFamily="49" charset="0"/>
                <a:ea typeface="新細明體" panose="02020500000000000000" pitchFamily="18" charset="-120"/>
              </a:rPr>
              <a:t>&lt;-</a:t>
            </a:r>
            <a:r>
              <a:rPr lang="en-US" altLang="zh-TW" dirty="0" err="1">
                <a:solidFill>
                  <a:prstClr val="black"/>
                </a:solidFill>
                <a:latin typeface="Consolas" panose="020B0609020204030204" pitchFamily="49" charset="0"/>
                <a:ea typeface="新細明體" panose="02020500000000000000" pitchFamily="18" charset="-120"/>
              </a:rPr>
              <a:t>VCorpus</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VectorSource</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news_raw$TITLE</a:t>
            </a:r>
            <a:r>
              <a:rPr lang="en-US" altLang="zh-TW" dirty="0">
                <a:solidFill>
                  <a:prstClr val="black"/>
                </a:solidFill>
                <a:latin typeface="Consolas" panose="020B0609020204030204" pitchFamily="49" charset="0"/>
                <a:ea typeface="新細明體" panose="02020500000000000000" pitchFamily="18" charset="-120"/>
              </a:rPr>
              <a:t>))</a:t>
            </a:r>
          </a:p>
        </p:txBody>
      </p:sp>
      <p:grpSp>
        <p:nvGrpSpPr>
          <p:cNvPr id="13" name="组合 1"/>
          <p:cNvGrpSpPr>
            <a:grpSpLocks/>
          </p:cNvGrpSpPr>
          <p:nvPr/>
        </p:nvGrpSpPr>
        <p:grpSpPr bwMode="auto">
          <a:xfrm>
            <a:off x="5502988" y="189464"/>
            <a:ext cx="3816350" cy="406400"/>
            <a:chOff x="0" y="0"/>
            <a:chExt cx="3816672" cy="405750"/>
          </a:xfrm>
        </p:grpSpPr>
        <p:sp>
          <p:nvSpPr>
            <p:cNvPr id="14"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7"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2908703883"/>
      </p:ext>
    </p:extLst>
  </p:cSld>
  <p:clrMapOvr>
    <a:masterClrMapping/>
  </p:clrMapOvr>
  <p:transition spd="slow">
    <p:push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80121" y="1248693"/>
            <a:ext cx="7354425" cy="24274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sz="1600" dirty="0" smtClean="0">
                <a:solidFill>
                  <a:prstClr val="black"/>
                </a:solidFill>
                <a:latin typeface="Consolas" panose="020B0609020204030204" pitchFamily="49" charset="0"/>
                <a:ea typeface="新細明體" panose="02020500000000000000" pitchFamily="18" charset="-120"/>
              </a:rPr>
              <a:t>&gt;</a:t>
            </a: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err="1" smtClean="0">
                <a:solidFill>
                  <a:prstClr val="black"/>
                </a:solidFill>
                <a:latin typeface="Consolas" panose="020B0609020204030204" pitchFamily="49" charset="0"/>
                <a:ea typeface="新細明體" panose="02020500000000000000" pitchFamily="18" charset="-120"/>
              </a:rPr>
              <a:t>news_corpus_clean</a:t>
            </a:r>
            <a:r>
              <a:rPr lang="en-US" altLang="zh-TW" sz="1600" dirty="0" smtClean="0">
                <a:solidFill>
                  <a:prstClr val="black"/>
                </a:solidFill>
                <a:latin typeface="Consolas" panose="020B0609020204030204" pitchFamily="49" charset="0"/>
                <a:ea typeface="新細明體" panose="02020500000000000000" pitchFamily="18" charset="-120"/>
              </a:rPr>
              <a:t>&lt;-</a:t>
            </a:r>
            <a:r>
              <a:rPr lang="en-US" altLang="zh-TW" sz="1600" dirty="0" err="1" smtClean="0">
                <a:solidFill>
                  <a:prstClr val="black"/>
                </a:solidFill>
                <a:latin typeface="Consolas" panose="020B0609020204030204" pitchFamily="49" charset="0"/>
                <a:ea typeface="新細明體" panose="02020500000000000000" pitchFamily="18" charset="-120"/>
              </a:rPr>
              <a:t>tm_map</a:t>
            </a:r>
            <a:r>
              <a:rPr lang="en-US" altLang="zh-TW" sz="1600" dirty="0" smtClean="0">
                <a:solidFill>
                  <a:prstClr val="black"/>
                </a:solidFill>
                <a:latin typeface="Consolas" panose="020B0609020204030204" pitchFamily="49" charset="0"/>
                <a:ea typeface="新細明體" panose="02020500000000000000" pitchFamily="18" charset="-120"/>
              </a:rPr>
              <a:t>(</a:t>
            </a:r>
            <a:r>
              <a:rPr lang="en-US" altLang="zh-TW" sz="1600" dirty="0" err="1" smtClean="0">
                <a:solidFill>
                  <a:prstClr val="black"/>
                </a:solidFill>
                <a:latin typeface="Consolas" panose="020B0609020204030204" pitchFamily="49" charset="0"/>
                <a:ea typeface="新細明體" panose="02020500000000000000" pitchFamily="18" charset="-120"/>
              </a:rPr>
              <a:t>news_corpus</a:t>
            </a:r>
            <a:r>
              <a:rPr lang="en-US" altLang="zh-TW" sz="1600"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err="1" smtClean="0">
                <a:solidFill>
                  <a:prstClr val="black"/>
                </a:solidFill>
                <a:latin typeface="Consolas" panose="020B0609020204030204" pitchFamily="49" charset="0"/>
                <a:ea typeface="新細明體" panose="02020500000000000000" pitchFamily="18" charset="-120"/>
              </a:rPr>
              <a:t>content_transformer</a:t>
            </a:r>
            <a:r>
              <a:rPr lang="en-US" altLang="zh-TW" sz="1600" dirty="0" smtClean="0">
                <a:solidFill>
                  <a:prstClr val="black"/>
                </a:solidFill>
                <a:latin typeface="Consolas" panose="020B0609020204030204" pitchFamily="49" charset="0"/>
                <a:ea typeface="新細明體" panose="02020500000000000000" pitchFamily="18" charset="-120"/>
              </a:rPr>
              <a:t>(</a:t>
            </a:r>
            <a:r>
              <a:rPr lang="en-US" altLang="zh-TW" sz="1600" dirty="0" err="1" smtClean="0">
                <a:solidFill>
                  <a:prstClr val="black"/>
                </a:solidFill>
                <a:latin typeface="Consolas" panose="020B0609020204030204" pitchFamily="49" charset="0"/>
                <a:ea typeface="新細明體" panose="02020500000000000000" pitchFamily="18" charset="-120"/>
              </a:rPr>
              <a:t>tolower</a:t>
            </a:r>
            <a:r>
              <a:rPr lang="en-US" altLang="zh-TW" sz="1600"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sz="1600" dirty="0" smtClean="0">
                <a:solidFill>
                  <a:prstClr val="black"/>
                </a:solidFill>
                <a:latin typeface="Consolas" panose="020B0609020204030204" pitchFamily="49" charset="0"/>
                <a:ea typeface="新細明體" panose="02020500000000000000" pitchFamily="18" charset="-120"/>
              </a:rPr>
              <a:t>&gt; </a:t>
            </a:r>
            <a:r>
              <a:rPr lang="en-US" altLang="zh-TW" sz="1600" dirty="0" err="1" smtClean="0">
                <a:solidFill>
                  <a:prstClr val="black"/>
                </a:solidFill>
                <a:latin typeface="Consolas" panose="020B0609020204030204" pitchFamily="49" charset="0"/>
                <a:ea typeface="新細明體" panose="02020500000000000000" pitchFamily="18" charset="-120"/>
              </a:rPr>
              <a:t>news_corpus_clean</a:t>
            </a:r>
            <a:r>
              <a:rPr lang="en-US" altLang="zh-TW" sz="1600" dirty="0">
                <a:solidFill>
                  <a:prstClr val="black"/>
                </a:solidFill>
                <a:latin typeface="Consolas" panose="020B0609020204030204" pitchFamily="49" charset="0"/>
                <a:ea typeface="新細明體" panose="02020500000000000000" pitchFamily="18" charset="-120"/>
              </a:rPr>
              <a:t>&lt;-</a:t>
            </a:r>
            <a:r>
              <a:rPr lang="en-US" altLang="zh-TW" sz="1600" dirty="0" err="1">
                <a:solidFill>
                  <a:prstClr val="black"/>
                </a:solidFill>
                <a:latin typeface="Consolas" panose="020B0609020204030204" pitchFamily="49" charset="0"/>
                <a:ea typeface="新細明體" panose="02020500000000000000" pitchFamily="18" charset="-120"/>
              </a:rPr>
              <a:t>tm_map</a:t>
            </a:r>
            <a:r>
              <a:rPr lang="en-US" altLang="zh-TW" sz="1600" dirty="0">
                <a:solidFill>
                  <a:prstClr val="black"/>
                </a:solidFill>
                <a:latin typeface="Consolas" panose="020B0609020204030204" pitchFamily="49" charset="0"/>
                <a:ea typeface="新細明體" panose="02020500000000000000" pitchFamily="18" charset="-120"/>
              </a:rPr>
              <a:t>(</a:t>
            </a:r>
            <a:r>
              <a:rPr lang="en-US" altLang="zh-TW" sz="1600" dirty="0" err="1">
                <a:solidFill>
                  <a:prstClr val="black"/>
                </a:solidFill>
                <a:latin typeface="Consolas" panose="020B0609020204030204" pitchFamily="49" charset="0"/>
                <a:ea typeface="新細明體" panose="02020500000000000000" pitchFamily="18" charset="-120"/>
              </a:rPr>
              <a:t>news_corpus_clean</a:t>
            </a:r>
            <a:r>
              <a:rPr lang="en-US" altLang="zh-TW" sz="1600"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err="1" smtClean="0">
                <a:solidFill>
                  <a:prstClr val="black"/>
                </a:solidFill>
                <a:latin typeface="Consolas" panose="020B0609020204030204" pitchFamily="49" charset="0"/>
                <a:ea typeface="新細明體" panose="02020500000000000000" pitchFamily="18" charset="-120"/>
              </a:rPr>
              <a:t>removeNumbers</a:t>
            </a:r>
            <a:r>
              <a:rPr lang="en-US" altLang="zh-TW" sz="1600"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sz="1600" dirty="0" smtClean="0">
                <a:solidFill>
                  <a:prstClr val="black"/>
                </a:solidFill>
                <a:latin typeface="Consolas" panose="020B0609020204030204" pitchFamily="49" charset="0"/>
                <a:ea typeface="新細明體" panose="02020500000000000000" pitchFamily="18" charset="-120"/>
              </a:rPr>
              <a:t>&gt; </a:t>
            </a:r>
            <a:r>
              <a:rPr lang="en-US" altLang="zh-TW" sz="1600" dirty="0" err="1" smtClean="0">
                <a:solidFill>
                  <a:prstClr val="black"/>
                </a:solidFill>
                <a:latin typeface="Consolas" panose="020B0609020204030204" pitchFamily="49" charset="0"/>
                <a:ea typeface="新細明體" panose="02020500000000000000" pitchFamily="18" charset="-120"/>
              </a:rPr>
              <a:t>news_corpus_clean</a:t>
            </a:r>
            <a:r>
              <a:rPr lang="en-US" altLang="zh-TW" sz="1600" dirty="0">
                <a:solidFill>
                  <a:prstClr val="black"/>
                </a:solidFill>
                <a:latin typeface="Consolas" panose="020B0609020204030204" pitchFamily="49" charset="0"/>
                <a:ea typeface="新細明體" panose="02020500000000000000" pitchFamily="18" charset="-120"/>
              </a:rPr>
              <a:t>&lt;-</a:t>
            </a:r>
            <a:r>
              <a:rPr lang="en-US" altLang="zh-TW" sz="1600" dirty="0" err="1">
                <a:solidFill>
                  <a:prstClr val="black"/>
                </a:solidFill>
                <a:latin typeface="Consolas" panose="020B0609020204030204" pitchFamily="49" charset="0"/>
                <a:ea typeface="新細明體" panose="02020500000000000000" pitchFamily="18" charset="-120"/>
              </a:rPr>
              <a:t>tm_map</a:t>
            </a:r>
            <a:r>
              <a:rPr lang="en-US" altLang="zh-TW" sz="1600" dirty="0">
                <a:solidFill>
                  <a:prstClr val="black"/>
                </a:solidFill>
                <a:latin typeface="Consolas" panose="020B0609020204030204" pitchFamily="49" charset="0"/>
                <a:ea typeface="新細明體" panose="02020500000000000000" pitchFamily="18" charset="-120"/>
              </a:rPr>
              <a:t>(</a:t>
            </a:r>
            <a:r>
              <a:rPr lang="en-US" altLang="zh-TW" sz="1600" dirty="0" err="1">
                <a:solidFill>
                  <a:prstClr val="black"/>
                </a:solidFill>
                <a:latin typeface="Consolas" panose="020B0609020204030204" pitchFamily="49" charset="0"/>
                <a:ea typeface="新細明體" panose="02020500000000000000" pitchFamily="18" charset="-120"/>
              </a:rPr>
              <a:t>news_corpus_clean</a:t>
            </a:r>
            <a:r>
              <a:rPr lang="en-US" altLang="zh-TW" sz="1600"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err="1" smtClean="0">
                <a:solidFill>
                  <a:prstClr val="black"/>
                </a:solidFill>
                <a:latin typeface="Consolas" panose="020B0609020204030204" pitchFamily="49" charset="0"/>
                <a:ea typeface="新細明體" panose="02020500000000000000" pitchFamily="18" charset="-120"/>
              </a:rPr>
              <a:t>removeWords,stopwords</a:t>
            </a:r>
            <a:r>
              <a:rPr lang="en-US" altLang="zh-TW" sz="1600"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sz="1600" dirty="0" smtClean="0">
                <a:solidFill>
                  <a:prstClr val="black"/>
                </a:solidFill>
                <a:latin typeface="Consolas" panose="020B0609020204030204" pitchFamily="49" charset="0"/>
                <a:ea typeface="新細明體" panose="02020500000000000000" pitchFamily="18" charset="-120"/>
              </a:rPr>
              <a:t>&gt; </a:t>
            </a:r>
            <a:r>
              <a:rPr lang="en-US" altLang="zh-TW" sz="1600" dirty="0" err="1" smtClean="0">
                <a:solidFill>
                  <a:prstClr val="black"/>
                </a:solidFill>
                <a:latin typeface="Consolas" panose="020B0609020204030204" pitchFamily="49" charset="0"/>
                <a:ea typeface="新細明體" panose="02020500000000000000" pitchFamily="18" charset="-120"/>
              </a:rPr>
              <a:t>news_corpus_clean</a:t>
            </a:r>
            <a:r>
              <a:rPr lang="en-US" altLang="zh-TW" sz="1600" dirty="0">
                <a:solidFill>
                  <a:prstClr val="black"/>
                </a:solidFill>
                <a:latin typeface="Consolas" panose="020B0609020204030204" pitchFamily="49" charset="0"/>
                <a:ea typeface="新細明體" panose="02020500000000000000" pitchFamily="18" charset="-120"/>
              </a:rPr>
              <a:t>&lt;-</a:t>
            </a:r>
            <a:r>
              <a:rPr lang="en-US" altLang="zh-TW" sz="1600" dirty="0" err="1">
                <a:solidFill>
                  <a:prstClr val="black"/>
                </a:solidFill>
                <a:latin typeface="Consolas" panose="020B0609020204030204" pitchFamily="49" charset="0"/>
                <a:ea typeface="新細明體" panose="02020500000000000000" pitchFamily="18" charset="-120"/>
              </a:rPr>
              <a:t>tm_map</a:t>
            </a:r>
            <a:r>
              <a:rPr lang="en-US" altLang="zh-TW" sz="1600" dirty="0">
                <a:solidFill>
                  <a:prstClr val="black"/>
                </a:solidFill>
                <a:latin typeface="Consolas" panose="020B0609020204030204" pitchFamily="49" charset="0"/>
                <a:ea typeface="新細明體" panose="02020500000000000000" pitchFamily="18" charset="-120"/>
              </a:rPr>
              <a:t>(</a:t>
            </a:r>
            <a:r>
              <a:rPr lang="en-US" altLang="zh-TW" sz="1600" dirty="0" err="1">
                <a:solidFill>
                  <a:prstClr val="black"/>
                </a:solidFill>
                <a:latin typeface="Consolas" panose="020B0609020204030204" pitchFamily="49" charset="0"/>
                <a:ea typeface="新細明體" panose="02020500000000000000" pitchFamily="18" charset="-120"/>
              </a:rPr>
              <a:t>news_corpus_clean</a:t>
            </a:r>
            <a:r>
              <a:rPr lang="en-US" altLang="zh-TW" sz="1600"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err="1" smtClean="0">
                <a:solidFill>
                  <a:prstClr val="black"/>
                </a:solidFill>
                <a:latin typeface="Consolas" panose="020B0609020204030204" pitchFamily="49" charset="0"/>
                <a:ea typeface="新細明體" panose="02020500000000000000" pitchFamily="18" charset="-120"/>
              </a:rPr>
              <a:t>removePunctuation</a:t>
            </a:r>
            <a:r>
              <a:rPr lang="en-US" altLang="zh-TW" sz="1600"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sz="1600" dirty="0" smtClean="0">
                <a:solidFill>
                  <a:prstClr val="black"/>
                </a:solidFill>
                <a:latin typeface="Consolas" panose="020B0609020204030204" pitchFamily="49" charset="0"/>
                <a:ea typeface="新細明體" panose="02020500000000000000" pitchFamily="18" charset="-120"/>
              </a:rPr>
              <a:t>&gt; </a:t>
            </a:r>
            <a:r>
              <a:rPr lang="en-US" altLang="zh-TW" sz="1600" dirty="0" err="1" smtClean="0">
                <a:solidFill>
                  <a:prstClr val="black"/>
                </a:solidFill>
                <a:latin typeface="Consolas" panose="020B0609020204030204" pitchFamily="49" charset="0"/>
                <a:ea typeface="新細明體" panose="02020500000000000000" pitchFamily="18" charset="-120"/>
              </a:rPr>
              <a:t>news_corpus_clean</a:t>
            </a:r>
            <a:r>
              <a:rPr lang="en-US" altLang="zh-TW" sz="1600" dirty="0" smtClean="0">
                <a:solidFill>
                  <a:prstClr val="black"/>
                </a:solidFill>
                <a:latin typeface="Consolas" panose="020B0609020204030204" pitchFamily="49" charset="0"/>
                <a:ea typeface="新細明體" panose="02020500000000000000" pitchFamily="18" charset="-120"/>
              </a:rPr>
              <a:t>&lt;-</a:t>
            </a:r>
            <a:r>
              <a:rPr lang="en-US" altLang="zh-TW" sz="1600" dirty="0" err="1" smtClean="0">
                <a:solidFill>
                  <a:prstClr val="black"/>
                </a:solidFill>
                <a:latin typeface="Consolas" panose="020B0609020204030204" pitchFamily="49" charset="0"/>
                <a:ea typeface="新細明體" panose="02020500000000000000" pitchFamily="18" charset="-120"/>
              </a:rPr>
              <a:t>tm_map</a:t>
            </a:r>
            <a:r>
              <a:rPr lang="en-US" altLang="zh-TW" sz="1600" dirty="0" smtClean="0">
                <a:solidFill>
                  <a:prstClr val="black"/>
                </a:solidFill>
                <a:latin typeface="Consolas" panose="020B0609020204030204" pitchFamily="49" charset="0"/>
                <a:ea typeface="新細明體" panose="02020500000000000000" pitchFamily="18" charset="-120"/>
              </a:rPr>
              <a:t>(</a:t>
            </a:r>
            <a:r>
              <a:rPr lang="en-US" altLang="zh-TW" sz="1600" dirty="0" err="1" smtClean="0">
                <a:solidFill>
                  <a:prstClr val="black"/>
                </a:solidFill>
                <a:latin typeface="Consolas" panose="020B0609020204030204" pitchFamily="49" charset="0"/>
                <a:ea typeface="新細明體" panose="02020500000000000000" pitchFamily="18" charset="-120"/>
              </a:rPr>
              <a:t>news_corpus_clean</a:t>
            </a:r>
            <a:r>
              <a:rPr lang="en-US" altLang="zh-TW" sz="1600"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err="1" smtClean="0">
                <a:solidFill>
                  <a:prstClr val="black"/>
                </a:solidFill>
                <a:latin typeface="Consolas" panose="020B0609020204030204" pitchFamily="49" charset="0"/>
                <a:ea typeface="新細明體" panose="02020500000000000000" pitchFamily="18" charset="-120"/>
              </a:rPr>
              <a:t>stripWhitespace</a:t>
            </a:r>
            <a:r>
              <a:rPr lang="en-US" altLang="zh-TW" sz="1600" dirty="0">
                <a:solidFill>
                  <a:prstClr val="black"/>
                </a:solidFill>
                <a:latin typeface="Consolas" panose="020B0609020204030204" pitchFamily="49" charset="0"/>
                <a:ea typeface="新細明體" panose="02020500000000000000" pitchFamily="18" charset="-120"/>
              </a:rPr>
              <a:t>)</a:t>
            </a:r>
          </a:p>
        </p:txBody>
      </p:sp>
      <p:sp>
        <p:nvSpPr>
          <p:cNvPr id="11273" name="矩形 9"/>
          <p:cNvSpPr>
            <a:spLocks noChangeArrowheads="1"/>
          </p:cNvSpPr>
          <p:nvPr/>
        </p:nvSpPr>
        <p:spPr bwMode="auto">
          <a:xfrm>
            <a:off x="480121" y="673533"/>
            <a:ext cx="1727025" cy="504489"/>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1274" name="矩形 7"/>
          <p:cNvSpPr>
            <a:spLocks noChangeArrowheads="1"/>
          </p:cNvSpPr>
          <p:nvPr/>
        </p:nvSpPr>
        <p:spPr bwMode="auto">
          <a:xfrm>
            <a:off x="577215" y="756185"/>
            <a:ext cx="1511007" cy="339183"/>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a:t>資料清洗</a:t>
            </a:r>
            <a:endParaRPr lang="zh-TW" altLang="zh-TW" dirty="0"/>
          </a:p>
        </p:txBody>
      </p:sp>
      <p:sp>
        <p:nvSpPr>
          <p:cNvPr id="17" name="矩形 9"/>
          <p:cNvSpPr>
            <a:spLocks noChangeArrowheads="1"/>
          </p:cNvSpPr>
          <p:nvPr/>
        </p:nvSpPr>
        <p:spPr bwMode="auto">
          <a:xfrm>
            <a:off x="480121" y="3730459"/>
            <a:ext cx="3044234" cy="437237"/>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8" name="矩形 7"/>
          <p:cNvSpPr>
            <a:spLocks noChangeArrowheads="1"/>
          </p:cNvSpPr>
          <p:nvPr/>
        </p:nvSpPr>
        <p:spPr bwMode="auto">
          <a:xfrm>
            <a:off x="588131" y="3802437"/>
            <a:ext cx="2805787" cy="311122"/>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a:t>將</a:t>
            </a:r>
            <a:r>
              <a:rPr lang="en-US" altLang="zh-TW" dirty="0"/>
              <a:t>Corpus</a:t>
            </a:r>
            <a:r>
              <a:rPr lang="zh-TW" altLang="en-US" dirty="0"/>
              <a:t>轉成</a:t>
            </a:r>
            <a:r>
              <a:rPr lang="en-US" altLang="zh-TW" dirty="0"/>
              <a:t>DTM</a:t>
            </a:r>
            <a:endParaRPr lang="zh-TW" altLang="zh-TW" dirty="0"/>
          </a:p>
        </p:txBody>
      </p:sp>
      <p:sp>
        <p:nvSpPr>
          <p:cNvPr id="19" name="矩形 18"/>
          <p:cNvSpPr/>
          <p:nvPr/>
        </p:nvSpPr>
        <p:spPr>
          <a:xfrm>
            <a:off x="498079" y="4251090"/>
            <a:ext cx="7370343" cy="6782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sz="1600" dirty="0">
                <a:solidFill>
                  <a:prstClr val="black"/>
                </a:solidFill>
                <a:latin typeface="Consolas" panose="020B0609020204030204" pitchFamily="49" charset="0"/>
                <a:ea typeface="新細明體" panose="02020500000000000000" pitchFamily="18" charset="-120"/>
              </a:rPr>
              <a:t>&gt; </a:t>
            </a:r>
            <a:r>
              <a:rPr lang="en-US" altLang="zh-TW" sz="1600" dirty="0" err="1">
                <a:solidFill>
                  <a:prstClr val="black"/>
                </a:solidFill>
                <a:latin typeface="Consolas" panose="020B0609020204030204" pitchFamily="49" charset="0"/>
                <a:ea typeface="新細明體" panose="02020500000000000000" pitchFamily="18" charset="-120"/>
              </a:rPr>
              <a:t>news_dtm</a:t>
            </a:r>
            <a:r>
              <a:rPr lang="en-US" altLang="zh-TW" sz="1600" dirty="0">
                <a:solidFill>
                  <a:prstClr val="black"/>
                </a:solidFill>
                <a:latin typeface="Consolas" panose="020B0609020204030204" pitchFamily="49" charset="0"/>
                <a:ea typeface="新細明體" panose="02020500000000000000" pitchFamily="18" charset="-120"/>
              </a:rPr>
              <a:t>&lt;-</a:t>
            </a:r>
            <a:r>
              <a:rPr lang="en-US" altLang="zh-TW" sz="1600" dirty="0" err="1">
                <a:solidFill>
                  <a:prstClr val="black"/>
                </a:solidFill>
                <a:latin typeface="Consolas" panose="020B0609020204030204" pitchFamily="49" charset="0"/>
                <a:ea typeface="新細明體" panose="02020500000000000000" pitchFamily="18" charset="-120"/>
              </a:rPr>
              <a:t>DocumentTermMatrix</a:t>
            </a:r>
            <a:r>
              <a:rPr lang="en-US" altLang="zh-TW" sz="1600" dirty="0">
                <a:solidFill>
                  <a:prstClr val="black"/>
                </a:solidFill>
                <a:latin typeface="Consolas" panose="020B0609020204030204" pitchFamily="49" charset="0"/>
                <a:ea typeface="新細明體" panose="02020500000000000000" pitchFamily="18" charset="-120"/>
              </a:rPr>
              <a:t>(</a:t>
            </a:r>
            <a:r>
              <a:rPr lang="en-US" altLang="zh-TW" sz="1600" dirty="0" err="1">
                <a:solidFill>
                  <a:prstClr val="black"/>
                </a:solidFill>
                <a:latin typeface="Consolas" panose="020B0609020204030204" pitchFamily="49" charset="0"/>
                <a:ea typeface="新細明體" panose="02020500000000000000" pitchFamily="18" charset="-120"/>
              </a:rPr>
              <a:t>news_corpus_clean</a:t>
            </a:r>
            <a:r>
              <a:rPr lang="en-US" altLang="zh-TW" sz="1600"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sz="1600" dirty="0">
                <a:solidFill>
                  <a:prstClr val="black"/>
                </a:solidFill>
                <a:latin typeface="Consolas" panose="020B0609020204030204" pitchFamily="49" charset="0"/>
                <a:ea typeface="新細明體" panose="02020500000000000000" pitchFamily="18" charset="-120"/>
              </a:rPr>
              <a:t>&gt; </a:t>
            </a:r>
            <a:r>
              <a:rPr lang="en-US" altLang="zh-TW" sz="1600" dirty="0" err="1">
                <a:solidFill>
                  <a:prstClr val="black"/>
                </a:solidFill>
                <a:latin typeface="Consolas" panose="020B0609020204030204" pitchFamily="49" charset="0"/>
                <a:ea typeface="新細明體" panose="02020500000000000000" pitchFamily="18" charset="-120"/>
              </a:rPr>
              <a:t>str</a:t>
            </a:r>
            <a:r>
              <a:rPr lang="en-US" altLang="zh-TW" sz="1600" dirty="0">
                <a:solidFill>
                  <a:prstClr val="black"/>
                </a:solidFill>
                <a:latin typeface="Consolas" panose="020B0609020204030204" pitchFamily="49" charset="0"/>
                <a:ea typeface="新細明體" panose="02020500000000000000" pitchFamily="18" charset="-120"/>
              </a:rPr>
              <a:t>(</a:t>
            </a:r>
            <a:r>
              <a:rPr lang="en-US" altLang="zh-TW" sz="1600" dirty="0" err="1">
                <a:solidFill>
                  <a:prstClr val="black"/>
                </a:solidFill>
                <a:latin typeface="Consolas" panose="020B0609020204030204" pitchFamily="49" charset="0"/>
                <a:ea typeface="新細明體" panose="02020500000000000000" pitchFamily="18" charset="-120"/>
              </a:rPr>
              <a:t>news_dtm</a:t>
            </a:r>
            <a:r>
              <a:rPr lang="en-US" altLang="zh-TW" sz="1600" dirty="0">
                <a:solidFill>
                  <a:prstClr val="black"/>
                </a:solidFill>
                <a:latin typeface="Consolas" panose="020B0609020204030204" pitchFamily="49" charset="0"/>
                <a:ea typeface="新細明體" panose="02020500000000000000" pitchFamily="18" charset="-120"/>
              </a:rPr>
              <a:t>)</a:t>
            </a:r>
          </a:p>
        </p:txBody>
      </p:sp>
      <p:grpSp>
        <p:nvGrpSpPr>
          <p:cNvPr id="20" name="组合 1"/>
          <p:cNvGrpSpPr>
            <a:grpSpLocks/>
          </p:cNvGrpSpPr>
          <p:nvPr/>
        </p:nvGrpSpPr>
        <p:grpSpPr bwMode="auto">
          <a:xfrm>
            <a:off x="5502988" y="189464"/>
            <a:ext cx="3816350" cy="406400"/>
            <a:chOff x="0" y="0"/>
            <a:chExt cx="3816672" cy="405750"/>
          </a:xfrm>
        </p:grpSpPr>
        <p:sp>
          <p:nvSpPr>
            <p:cNvPr id="21"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4"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2163579228"/>
      </p:ext>
    </p:extLst>
  </p:cSld>
  <p:clrMapOvr>
    <a:masterClrMapping/>
  </p:clrMapOvr>
  <p:transition spd="slow">
    <p:push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57845" y="1456748"/>
            <a:ext cx="7580612" cy="24111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set.seed</a:t>
            </a:r>
            <a:r>
              <a:rPr lang="en-US" altLang="zh-TW" dirty="0">
                <a:solidFill>
                  <a:prstClr val="black"/>
                </a:solidFill>
                <a:latin typeface="Consolas" panose="020B0609020204030204" pitchFamily="49" charset="0"/>
                <a:ea typeface="新細明體" panose="02020500000000000000" pitchFamily="18" charset="-120"/>
              </a:rPr>
              <a:t>(2018)</a:t>
            </a: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a:t>
            </a:r>
            <a:r>
              <a:rPr lang="en-US" altLang="zh-TW" dirty="0" err="1" smtClean="0">
                <a:solidFill>
                  <a:prstClr val="black"/>
                </a:solidFill>
                <a:latin typeface="Consolas" panose="020B0609020204030204" pitchFamily="49" charset="0"/>
                <a:ea typeface="新細明體" panose="02020500000000000000" pitchFamily="18" charset="-120"/>
              </a:rPr>
              <a:t>trainid</a:t>
            </a:r>
            <a:r>
              <a:rPr lang="en-US" altLang="zh-TW" dirty="0" smtClean="0">
                <a:solidFill>
                  <a:prstClr val="black"/>
                </a:solidFill>
                <a:latin typeface="Consolas" panose="020B0609020204030204" pitchFamily="49" charset="0"/>
                <a:ea typeface="新細明體" panose="02020500000000000000" pitchFamily="18" charset="-120"/>
              </a:rPr>
              <a:t> </a:t>
            </a:r>
            <a:r>
              <a:rPr lang="en-US" altLang="zh-TW" dirty="0">
                <a:solidFill>
                  <a:prstClr val="black"/>
                </a:solidFill>
                <a:latin typeface="Consolas" panose="020B0609020204030204" pitchFamily="49" charset="0"/>
                <a:ea typeface="新細明體" panose="02020500000000000000" pitchFamily="18" charset="-120"/>
              </a:rPr>
              <a:t>= sample(1:dim(</a:t>
            </a:r>
            <a:r>
              <a:rPr lang="en-US" altLang="zh-TW" dirty="0" err="1">
                <a:solidFill>
                  <a:prstClr val="black"/>
                </a:solidFill>
                <a:latin typeface="Consolas" panose="020B0609020204030204" pitchFamily="49" charset="0"/>
                <a:ea typeface="新細明體" panose="02020500000000000000" pitchFamily="18" charset="-120"/>
              </a:rPr>
              <a:t>news_dtm</a:t>
            </a:r>
            <a:r>
              <a:rPr lang="en-US" altLang="zh-TW" dirty="0">
                <a:solidFill>
                  <a:prstClr val="black"/>
                </a:solidFill>
                <a:latin typeface="Consolas" panose="020B0609020204030204" pitchFamily="49" charset="0"/>
                <a:ea typeface="新細明體" panose="02020500000000000000" pitchFamily="18" charset="-120"/>
              </a:rPr>
              <a:t>)[1</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a:t>
            </a:r>
            <a:r>
              <a:rPr lang="en-US" altLang="zh-TW" dirty="0">
                <a:solidFill>
                  <a:prstClr val="black"/>
                </a:solidFill>
                <a:latin typeface="Consolas" panose="020B0609020204030204" pitchFamily="49" charset="0"/>
                <a:ea typeface="新細明體" panose="02020500000000000000" pitchFamily="18" charset="-120"/>
              </a:rPr>
              <a:t>dim(</a:t>
            </a:r>
            <a:r>
              <a:rPr lang="en-US" altLang="zh-TW" dirty="0" err="1">
                <a:solidFill>
                  <a:prstClr val="black"/>
                </a:solidFill>
                <a:latin typeface="Consolas" panose="020B0609020204030204" pitchFamily="49" charset="0"/>
                <a:ea typeface="新細明體" panose="02020500000000000000" pitchFamily="18" charset="-120"/>
              </a:rPr>
              <a:t>news_dtm</a:t>
            </a:r>
            <a:r>
              <a:rPr lang="en-US" altLang="zh-TW" dirty="0">
                <a:solidFill>
                  <a:prstClr val="black"/>
                </a:solidFill>
                <a:latin typeface="Consolas" panose="020B0609020204030204" pitchFamily="49" charset="0"/>
                <a:ea typeface="新細明體" panose="02020500000000000000" pitchFamily="18" charset="-120"/>
              </a:rPr>
              <a:t>)[1])*0.7, </a:t>
            </a:r>
            <a:r>
              <a:rPr lang="en-US" altLang="zh-TW" dirty="0" smtClean="0">
                <a:solidFill>
                  <a:prstClr val="black"/>
                </a:solidFill>
                <a:latin typeface="Consolas" panose="020B0609020204030204" pitchFamily="49" charset="0"/>
                <a:ea typeface="新細明體" panose="02020500000000000000" pitchFamily="18" charset="-120"/>
              </a:rPr>
              <a:t>replace=FALSE</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dtm_mat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as.matrix</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news_dtm</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news_dtm_train</a:t>
            </a:r>
            <a:r>
              <a:rPr lang="en-US" altLang="zh-TW" dirty="0">
                <a:solidFill>
                  <a:prstClr val="black"/>
                </a:solidFill>
                <a:latin typeface="Consolas" panose="020B0609020204030204" pitchFamily="49" charset="0"/>
                <a:ea typeface="新細明體" panose="02020500000000000000" pitchFamily="18" charset="-120"/>
              </a:rPr>
              <a:t> = </a:t>
            </a:r>
            <a:r>
              <a:rPr lang="en-US" altLang="zh-TW" dirty="0" err="1">
                <a:solidFill>
                  <a:prstClr val="black"/>
                </a:solidFill>
                <a:latin typeface="Consolas" panose="020B0609020204030204" pitchFamily="49" charset="0"/>
                <a:ea typeface="新細明體" panose="02020500000000000000" pitchFamily="18" charset="-120"/>
              </a:rPr>
              <a:t>dtm_mat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trainid</a:t>
            </a:r>
            <a:r>
              <a:rPr lang="en-US" altLang="zh-TW" dirty="0">
                <a:solidFill>
                  <a:prstClr val="black"/>
                </a:solidFill>
                <a:latin typeface="Consolas" panose="020B0609020204030204" pitchFamily="49" charset="0"/>
                <a:ea typeface="新細明體" panose="02020500000000000000" pitchFamily="18" charset="-120"/>
              </a:rPr>
              <a:t>, ]</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news_category_train</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news_raw$CATEGORY</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trainid</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news_dtm_test</a:t>
            </a:r>
            <a:r>
              <a:rPr lang="en-US" altLang="zh-TW" dirty="0">
                <a:solidFill>
                  <a:prstClr val="black"/>
                </a:solidFill>
                <a:latin typeface="Consolas" panose="020B0609020204030204" pitchFamily="49" charset="0"/>
                <a:ea typeface="新細明體" panose="02020500000000000000" pitchFamily="18" charset="-120"/>
              </a:rPr>
              <a:t> = </a:t>
            </a:r>
            <a:r>
              <a:rPr lang="en-US" altLang="zh-TW" dirty="0" err="1">
                <a:solidFill>
                  <a:prstClr val="black"/>
                </a:solidFill>
                <a:latin typeface="Consolas" panose="020B0609020204030204" pitchFamily="49" charset="0"/>
                <a:ea typeface="新細明體" panose="02020500000000000000" pitchFamily="18" charset="-120"/>
              </a:rPr>
              <a:t>dtm_mat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trainid</a:t>
            </a:r>
            <a:r>
              <a:rPr lang="en-US" altLang="zh-TW" dirty="0">
                <a:solidFill>
                  <a:prstClr val="black"/>
                </a:solidFill>
                <a:latin typeface="Consolas" panose="020B0609020204030204" pitchFamily="49" charset="0"/>
                <a:ea typeface="新細明體" panose="02020500000000000000" pitchFamily="18" charset="-120"/>
              </a:rPr>
              <a:t>, ]</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a:t>
            </a:r>
            <a:r>
              <a:rPr lang="en-US" altLang="zh-TW" dirty="0" err="1">
                <a:solidFill>
                  <a:prstClr val="black"/>
                </a:solidFill>
                <a:latin typeface="Consolas" panose="020B0609020204030204" pitchFamily="49" charset="0"/>
                <a:ea typeface="新細明體" panose="02020500000000000000" pitchFamily="18" charset="-120"/>
              </a:rPr>
              <a:t>news_category_test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news_raw$CATEGORY</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trainid</a:t>
            </a:r>
            <a:r>
              <a:rPr lang="en-US" altLang="zh-TW" dirty="0">
                <a:solidFill>
                  <a:prstClr val="black"/>
                </a:solidFill>
                <a:latin typeface="Consolas" panose="020B0609020204030204" pitchFamily="49" charset="0"/>
                <a:ea typeface="新細明體" panose="02020500000000000000" pitchFamily="18" charset="-120"/>
              </a:rPr>
              <a:t>]</a:t>
            </a:r>
          </a:p>
        </p:txBody>
      </p:sp>
      <p:sp>
        <p:nvSpPr>
          <p:cNvPr id="16" name="矩形 9"/>
          <p:cNvSpPr>
            <a:spLocks noChangeArrowheads="1"/>
          </p:cNvSpPr>
          <p:nvPr/>
        </p:nvSpPr>
        <p:spPr bwMode="auto">
          <a:xfrm>
            <a:off x="447676" y="669238"/>
            <a:ext cx="5132408"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4893961"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en-US" altLang="zh-TW" dirty="0"/>
              <a:t>70%</a:t>
            </a:r>
            <a:r>
              <a:rPr lang="zh-TW" altLang="en-US" dirty="0"/>
              <a:t>的資料用作訓練資料，</a:t>
            </a:r>
            <a:r>
              <a:rPr lang="en-US" altLang="zh-TW" dirty="0"/>
              <a:t>30%</a:t>
            </a:r>
            <a:r>
              <a:rPr lang="zh-TW" altLang="en-US" dirty="0"/>
              <a:t>的資料做測試</a:t>
            </a:r>
            <a:endParaRPr lang="en-US" altLang="zh-TW" dirty="0"/>
          </a:p>
        </p:txBody>
      </p:sp>
      <p:grpSp>
        <p:nvGrpSpPr>
          <p:cNvPr id="14" name="组合 1"/>
          <p:cNvGrpSpPr>
            <a:grpSpLocks/>
          </p:cNvGrpSpPr>
          <p:nvPr/>
        </p:nvGrpSpPr>
        <p:grpSpPr bwMode="auto">
          <a:xfrm>
            <a:off x="5502988" y="189464"/>
            <a:ext cx="3816350" cy="406400"/>
            <a:chOff x="0" y="0"/>
            <a:chExt cx="3816672" cy="405750"/>
          </a:xfrm>
        </p:grpSpPr>
        <p:sp>
          <p:nvSpPr>
            <p:cNvPr id="17"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9"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3210018933"/>
      </p:ext>
    </p:extLst>
  </p:cSld>
  <p:clrMapOvr>
    <a:masterClrMapping/>
  </p:clrMapOvr>
  <p:transition spd="slow">
    <p:push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57844" y="1423443"/>
            <a:ext cx="8218497" cy="15470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m=</a:t>
            </a:r>
            <a:r>
              <a:rPr lang="en-US" altLang="zh-TW" dirty="0" err="1" smtClean="0">
                <a:solidFill>
                  <a:prstClr val="black"/>
                </a:solidFill>
                <a:latin typeface="Consolas" panose="020B0609020204030204" pitchFamily="49" charset="0"/>
                <a:ea typeface="新細明體" panose="02020500000000000000" pitchFamily="18" charset="-120"/>
              </a:rPr>
              <a:t>LiblineaR</a:t>
            </a:r>
            <a:r>
              <a:rPr lang="en-US" altLang="zh-TW" dirty="0" smtClean="0">
                <a:solidFill>
                  <a:prstClr val="black"/>
                </a:solidFill>
                <a:latin typeface="Consolas" panose="020B0609020204030204" pitchFamily="49" charset="0"/>
                <a:ea typeface="新細明體" panose="02020500000000000000" pitchFamily="18" charset="-120"/>
              </a:rPr>
              <a:t>(data=</a:t>
            </a:r>
            <a:r>
              <a:rPr lang="en-US" altLang="zh-TW" dirty="0" err="1" smtClean="0">
                <a:solidFill>
                  <a:prstClr val="black"/>
                </a:solidFill>
                <a:latin typeface="Consolas" panose="020B0609020204030204" pitchFamily="49" charset="0"/>
                <a:ea typeface="新細明體" panose="02020500000000000000" pitchFamily="18" charset="-120"/>
              </a:rPr>
              <a:t>news_dtm_train</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dirty="0">
                <a:solidFill>
                  <a:prstClr val="black"/>
                </a:solidFill>
                <a:latin typeface="Consolas" panose="020B0609020204030204" pitchFamily="49" charset="0"/>
                <a:ea typeface="新細明體" panose="02020500000000000000" pitchFamily="18" charset="-120"/>
              </a:rPr>
              <a:t> </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target=</a:t>
            </a:r>
            <a:r>
              <a:rPr lang="en-US" altLang="zh-TW" dirty="0" err="1" smtClean="0">
                <a:solidFill>
                  <a:prstClr val="black"/>
                </a:solidFill>
                <a:latin typeface="Consolas" panose="020B0609020204030204" pitchFamily="49" charset="0"/>
                <a:ea typeface="新細明體" panose="02020500000000000000" pitchFamily="18" charset="-120"/>
              </a:rPr>
              <a:t>news_category_train</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zh-TW" altLang="en-US" dirty="0">
                <a:solidFill>
                  <a:prstClr val="black"/>
                </a:solidFill>
                <a:latin typeface="Consolas" panose="020B0609020204030204" pitchFamily="49" charset="0"/>
                <a:ea typeface="新細明體" panose="02020500000000000000" pitchFamily="18" charset="-120"/>
              </a:rPr>
              <a:t> </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type=6,bias=TRUE</a:t>
            </a:r>
            <a:r>
              <a:rPr lang="en-US" altLang="zh-TW" dirty="0">
                <a:solidFill>
                  <a:prstClr val="black"/>
                </a:solidFill>
                <a:latin typeface="Consolas" panose="020B0609020204030204" pitchFamily="49" charset="0"/>
                <a:ea typeface="新細明體" panose="02020500000000000000" pitchFamily="18" charset="-120"/>
              </a:rPr>
              <a:t>, verbose=FALSE</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p=predict(</a:t>
            </a:r>
            <a:r>
              <a:rPr lang="en-US" altLang="zh-TW" dirty="0" err="1" smtClean="0">
                <a:solidFill>
                  <a:prstClr val="black"/>
                </a:solidFill>
                <a:latin typeface="Consolas" panose="020B0609020204030204" pitchFamily="49" charset="0"/>
                <a:ea typeface="新細明體" panose="02020500000000000000" pitchFamily="18" charset="-120"/>
              </a:rPr>
              <a:t>m,news_dtm_test</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a:t>
            </a:r>
            <a:r>
              <a:rPr lang="zh-TW" altLang="en-US" dirty="0" smtClean="0">
                <a:solidFill>
                  <a:prstClr val="black"/>
                </a:solidFill>
                <a:latin typeface="Consolas" panose="020B0609020204030204" pitchFamily="49" charset="0"/>
                <a:ea typeface="新細明體" panose="02020500000000000000" pitchFamily="18" charset="-120"/>
              </a:rPr>
              <a:t> </a:t>
            </a:r>
            <a:r>
              <a:rPr lang="en-US" altLang="zh-TW" dirty="0" smtClean="0">
                <a:solidFill>
                  <a:prstClr val="black"/>
                </a:solidFill>
                <a:latin typeface="Consolas" panose="020B0609020204030204" pitchFamily="49" charset="0"/>
                <a:ea typeface="新細明體" panose="02020500000000000000" pitchFamily="18" charset="-120"/>
              </a:rPr>
              <a:t>confusion=table(</a:t>
            </a:r>
            <a:r>
              <a:rPr lang="en-US" altLang="zh-TW" dirty="0" err="1" smtClean="0">
                <a:solidFill>
                  <a:prstClr val="black"/>
                </a:solidFill>
                <a:latin typeface="Consolas" panose="020B0609020204030204" pitchFamily="49" charset="0"/>
                <a:ea typeface="新細明體" panose="02020500000000000000" pitchFamily="18" charset="-120"/>
              </a:rPr>
              <a:t>p$predictions</a:t>
            </a: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news_category_test</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endParaRPr lang="en-US" altLang="zh-TW" dirty="0">
              <a:solidFill>
                <a:prstClr val="black"/>
              </a:solidFill>
              <a:latin typeface="Consolas" panose="020B0609020204030204" pitchFamily="49" charset="0"/>
              <a:ea typeface="新細明體" panose="02020500000000000000" pitchFamily="18" charset="-120"/>
            </a:endParaRPr>
          </a:p>
        </p:txBody>
      </p:sp>
      <p:sp>
        <p:nvSpPr>
          <p:cNvPr id="16" name="矩形 9"/>
          <p:cNvSpPr>
            <a:spLocks noChangeArrowheads="1"/>
          </p:cNvSpPr>
          <p:nvPr/>
        </p:nvSpPr>
        <p:spPr bwMode="auto">
          <a:xfrm>
            <a:off x="447676" y="669238"/>
            <a:ext cx="3980312"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3741865"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a:t>以測試資料跑模型，得出預測結果</a:t>
            </a:r>
          </a:p>
        </p:txBody>
      </p:sp>
      <p:sp>
        <p:nvSpPr>
          <p:cNvPr id="2" name="圓角矩形 1"/>
          <p:cNvSpPr/>
          <p:nvPr/>
        </p:nvSpPr>
        <p:spPr bwMode="auto">
          <a:xfrm>
            <a:off x="457844" y="3032203"/>
            <a:ext cx="8218497" cy="432036"/>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r>
              <a:rPr lang="en-US" altLang="zh-TW" dirty="0">
                <a:solidFill>
                  <a:schemeClr val="bg1"/>
                </a:solidFill>
                <a:latin typeface="Consolas" panose="020B0609020204030204" pitchFamily="49" charset="0"/>
              </a:rPr>
              <a:t>&gt; confusion</a:t>
            </a:r>
          </a:p>
        </p:txBody>
      </p:sp>
      <p:sp>
        <p:nvSpPr>
          <p:cNvPr id="14" name="矩形 13">
            <a:extLst>
              <a:ext uri="{FF2B5EF4-FFF2-40B4-BE49-F238E27FC236}">
                <a16:creationId xmlns:a16="http://schemas.microsoft.com/office/drawing/2014/main" id="{1F707FD6-D8E1-4111-BA66-16DDD34432AE}"/>
              </a:ext>
            </a:extLst>
          </p:cNvPr>
          <p:cNvSpPr/>
          <p:nvPr/>
        </p:nvSpPr>
        <p:spPr>
          <a:xfrm>
            <a:off x="2878633" y="3389174"/>
            <a:ext cx="2624355" cy="1754326"/>
          </a:xfrm>
          <a:prstGeom prst="rect">
            <a:avLst/>
          </a:prstGeom>
        </p:spPr>
        <p:txBody>
          <a:bodyPr wrap="square">
            <a:spAutoFit/>
          </a:bodyPr>
          <a:lstStyle/>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dirty="0">
                <a:latin typeface="Consolas" panose="020B0609020204030204" pitchFamily="49" charset="0"/>
                <a:ea typeface="+mj-ea"/>
                <a:cs typeface="+mj-cs"/>
              </a:rPr>
              <a:t> </a:t>
            </a:r>
            <a:r>
              <a:rPr lang="en-US" altLang="zh-TW" dirty="0" err="1">
                <a:latin typeface="Consolas" panose="020B0609020204030204" pitchFamily="49" charset="0"/>
                <a:ea typeface="+mj-ea"/>
                <a:cs typeface="+mj-cs"/>
              </a:rPr>
              <a:t>news_category_test</a:t>
            </a:r>
            <a:endParaRPr lang="en-US" altLang="zh-TW" dirty="0">
              <a:latin typeface="Consolas" panose="020B0609020204030204" pitchFamily="49" charset="0"/>
              <a:ea typeface="+mj-ea"/>
              <a:cs typeface="+mj-cs"/>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dirty="0">
                <a:latin typeface="Consolas" panose="020B0609020204030204" pitchFamily="49" charset="0"/>
                <a:ea typeface="+mj-ea"/>
                <a:cs typeface="+mj-cs"/>
              </a:rPr>
              <a:t>      b   e   m   t</a:t>
            </a: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dirty="0">
                <a:latin typeface="Consolas" panose="020B0609020204030204" pitchFamily="49" charset="0"/>
                <a:ea typeface="+mj-ea"/>
                <a:cs typeface="+mj-cs"/>
              </a:rPr>
              <a:t>  b 310  23  17  38</a:t>
            </a: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dirty="0">
                <a:latin typeface="Consolas" panose="020B0609020204030204" pitchFamily="49" charset="0"/>
                <a:ea typeface="+mj-ea"/>
                <a:cs typeface="+mj-cs"/>
              </a:rPr>
              <a:t>  e  46 456  10  22</a:t>
            </a: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dirty="0">
                <a:latin typeface="Consolas" panose="020B0609020204030204" pitchFamily="49" charset="0"/>
                <a:ea typeface="+mj-ea"/>
                <a:cs typeface="+mj-cs"/>
              </a:rPr>
              <a:t>  m  27  33 111  18</a:t>
            </a: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dirty="0">
                <a:latin typeface="Consolas" panose="020B0609020204030204" pitchFamily="49" charset="0"/>
                <a:ea typeface="+mj-ea"/>
                <a:cs typeface="+mj-cs"/>
              </a:rPr>
              <a:t>  t  46  33  12 298</a:t>
            </a:r>
            <a:endParaRPr lang="zh-TW" altLang="en-US" dirty="0">
              <a:latin typeface="Consolas" panose="020B0609020204030204" pitchFamily="49" charset="0"/>
              <a:ea typeface="+mj-ea"/>
              <a:cs typeface="+mj-cs"/>
            </a:endParaRPr>
          </a:p>
        </p:txBody>
      </p:sp>
      <p:grpSp>
        <p:nvGrpSpPr>
          <p:cNvPr id="17" name="组合 1"/>
          <p:cNvGrpSpPr>
            <a:grpSpLocks/>
          </p:cNvGrpSpPr>
          <p:nvPr/>
        </p:nvGrpSpPr>
        <p:grpSpPr bwMode="auto">
          <a:xfrm>
            <a:off x="5502988" y="189464"/>
            <a:ext cx="3816350" cy="406400"/>
            <a:chOff x="0" y="0"/>
            <a:chExt cx="3816672" cy="405750"/>
          </a:xfrm>
        </p:grpSpPr>
        <p:sp>
          <p:nvSpPr>
            <p:cNvPr id="18"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0"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1237161935"/>
      </p:ext>
    </p:extLst>
  </p:cSld>
  <p:clrMapOvr>
    <a:masterClrMapping/>
  </p:clrMapOvr>
  <p:transition spd="slow">
    <p:push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57844" y="1423443"/>
            <a:ext cx="8218497" cy="5002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a:t>
            </a:r>
            <a:r>
              <a:rPr lang="en-US" altLang="zh-TW" dirty="0">
                <a:solidFill>
                  <a:prstClr val="black"/>
                </a:solidFill>
                <a:latin typeface="Consolas" panose="020B0609020204030204" pitchFamily="49" charset="0"/>
                <a:ea typeface="新細明體" panose="02020500000000000000" pitchFamily="18" charset="-120"/>
              </a:rPr>
              <a:t>accuracy=sum(</a:t>
            </a:r>
            <a:r>
              <a:rPr lang="en-US" altLang="zh-TW" dirty="0" err="1">
                <a:solidFill>
                  <a:prstClr val="black"/>
                </a:solidFill>
                <a:latin typeface="Consolas" panose="020B0609020204030204" pitchFamily="49" charset="0"/>
                <a:ea typeface="新細明體" panose="02020500000000000000" pitchFamily="18" charset="-120"/>
              </a:rPr>
              <a:t>diag</a:t>
            </a:r>
            <a:r>
              <a:rPr lang="en-US" altLang="zh-TW" dirty="0">
                <a:solidFill>
                  <a:prstClr val="black"/>
                </a:solidFill>
                <a:latin typeface="Consolas" panose="020B0609020204030204" pitchFamily="49" charset="0"/>
                <a:ea typeface="新細明體" panose="02020500000000000000" pitchFamily="18" charset="-120"/>
              </a:rPr>
              <a:t>(confusion))/sum(confusion)</a:t>
            </a:r>
          </a:p>
        </p:txBody>
      </p:sp>
      <p:sp>
        <p:nvSpPr>
          <p:cNvPr id="16" name="矩形 9"/>
          <p:cNvSpPr>
            <a:spLocks noChangeArrowheads="1"/>
          </p:cNvSpPr>
          <p:nvPr/>
        </p:nvSpPr>
        <p:spPr bwMode="auto">
          <a:xfrm>
            <a:off x="447676" y="669238"/>
            <a:ext cx="3980312"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3741865"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a:t>以測試資料跑模型，得出預測結果</a:t>
            </a:r>
          </a:p>
        </p:txBody>
      </p:sp>
      <p:sp>
        <p:nvSpPr>
          <p:cNvPr id="2" name="圓角矩形 1"/>
          <p:cNvSpPr/>
          <p:nvPr/>
        </p:nvSpPr>
        <p:spPr bwMode="auto">
          <a:xfrm>
            <a:off x="457843" y="2062389"/>
            <a:ext cx="8218497" cy="432036"/>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latinLnBrk="1"/>
            <a:r>
              <a:rPr lang="en-US" altLang="zh-TW" dirty="0">
                <a:solidFill>
                  <a:schemeClr val="bg1"/>
                </a:solidFill>
                <a:latin typeface="Consolas" panose="020B0609020204030204" pitchFamily="49" charset="0"/>
              </a:rPr>
              <a:t>&gt; accuracy</a:t>
            </a:r>
          </a:p>
        </p:txBody>
      </p:sp>
      <p:sp>
        <p:nvSpPr>
          <p:cNvPr id="17" name="文字方塊 16">
            <a:extLst>
              <a:ext uri="{FF2B5EF4-FFF2-40B4-BE49-F238E27FC236}">
                <a16:creationId xmlns:a16="http://schemas.microsoft.com/office/drawing/2014/main" id="{7ACCE8E2-DBB6-4693-A727-380B1F4587C5}"/>
              </a:ext>
            </a:extLst>
          </p:cNvPr>
          <p:cNvSpPr txBox="1"/>
          <p:nvPr/>
        </p:nvSpPr>
        <p:spPr>
          <a:xfrm>
            <a:off x="563975" y="2563022"/>
            <a:ext cx="3475493" cy="369332"/>
          </a:xfrm>
          <a:prstGeom prst="rect">
            <a:avLst/>
          </a:prstGeom>
          <a:noFill/>
        </p:spPr>
        <p:txBody>
          <a:bodyPr wrap="square" rtlCol="0">
            <a:spAutoFit/>
          </a:bodyPr>
          <a:lstStyle/>
          <a:p>
            <a:pPr latinLnBrk="1"/>
            <a:r>
              <a:rPr lang="en-US" altLang="zh-TW" dirty="0" smtClean="0">
                <a:latin typeface="Consolas" panose="020B0609020204030204" pitchFamily="49" charset="0"/>
                <a:ea typeface="+mj-ea"/>
                <a:cs typeface="+mj-cs"/>
              </a:rPr>
              <a:t>[</a:t>
            </a:r>
            <a:r>
              <a:rPr lang="en-US" altLang="zh-TW" dirty="0">
                <a:latin typeface="Consolas" panose="020B0609020204030204" pitchFamily="49" charset="0"/>
                <a:ea typeface="+mj-ea"/>
                <a:cs typeface="+mj-cs"/>
              </a:rPr>
              <a:t>1] </a:t>
            </a:r>
            <a:r>
              <a:rPr lang="en-US" altLang="zh-TW" dirty="0" smtClean="0">
                <a:latin typeface="Consolas" panose="020B0609020204030204" pitchFamily="49" charset="0"/>
                <a:ea typeface="+mj-ea"/>
                <a:cs typeface="+mj-cs"/>
              </a:rPr>
              <a:t>0.7833333</a:t>
            </a:r>
            <a:endParaRPr lang="zh-TW" altLang="zh-TW" dirty="0">
              <a:latin typeface="Consolas" panose="020B0609020204030204" pitchFamily="49" charset="0"/>
              <a:ea typeface="+mj-ea"/>
              <a:cs typeface="+mj-cs"/>
            </a:endParaRPr>
          </a:p>
        </p:txBody>
      </p:sp>
      <p:sp>
        <p:nvSpPr>
          <p:cNvPr id="18" name="矩形 17"/>
          <p:cNvSpPr/>
          <p:nvPr/>
        </p:nvSpPr>
        <p:spPr>
          <a:xfrm>
            <a:off x="447293" y="3085899"/>
            <a:ext cx="8218497" cy="5002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precision=</a:t>
            </a:r>
            <a:r>
              <a:rPr lang="en-US" altLang="zh-TW" dirty="0" err="1">
                <a:solidFill>
                  <a:prstClr val="black"/>
                </a:solidFill>
                <a:latin typeface="Consolas" panose="020B0609020204030204" pitchFamily="49" charset="0"/>
                <a:ea typeface="新細明體" panose="02020500000000000000" pitchFamily="18" charset="-120"/>
              </a:rPr>
              <a:t>diag</a:t>
            </a:r>
            <a:r>
              <a:rPr lang="en-US" altLang="zh-TW" dirty="0">
                <a:solidFill>
                  <a:prstClr val="black"/>
                </a:solidFill>
                <a:latin typeface="Consolas" panose="020B0609020204030204" pitchFamily="49" charset="0"/>
                <a:ea typeface="新細明體" panose="02020500000000000000" pitchFamily="18" charset="-120"/>
              </a:rPr>
              <a:t>(confusion)/</a:t>
            </a:r>
            <a:r>
              <a:rPr lang="en-US" altLang="zh-TW" dirty="0" err="1">
                <a:solidFill>
                  <a:prstClr val="black"/>
                </a:solidFill>
                <a:latin typeface="Consolas" panose="020B0609020204030204" pitchFamily="49" charset="0"/>
                <a:ea typeface="新細明體" panose="02020500000000000000" pitchFamily="18" charset="-120"/>
              </a:rPr>
              <a:t>rowSums</a:t>
            </a:r>
            <a:r>
              <a:rPr lang="en-US" altLang="zh-TW" dirty="0">
                <a:solidFill>
                  <a:prstClr val="black"/>
                </a:solidFill>
                <a:latin typeface="Consolas" panose="020B0609020204030204" pitchFamily="49" charset="0"/>
                <a:ea typeface="新細明體" panose="02020500000000000000" pitchFamily="18" charset="-120"/>
              </a:rPr>
              <a:t>(confusion)</a:t>
            </a:r>
          </a:p>
        </p:txBody>
      </p:sp>
      <p:sp>
        <p:nvSpPr>
          <p:cNvPr id="19" name="圓角矩形 18"/>
          <p:cNvSpPr/>
          <p:nvPr/>
        </p:nvSpPr>
        <p:spPr bwMode="auto">
          <a:xfrm>
            <a:off x="434474" y="3688317"/>
            <a:ext cx="8218497" cy="432036"/>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latinLnBrk="1"/>
            <a:r>
              <a:rPr lang="en-US" altLang="zh-TW" dirty="0">
                <a:solidFill>
                  <a:schemeClr val="bg1"/>
                </a:solidFill>
                <a:latin typeface="Consolas" panose="020B0609020204030204" pitchFamily="49" charset="0"/>
              </a:rPr>
              <a:t>&gt; precision=</a:t>
            </a:r>
            <a:r>
              <a:rPr lang="en-US" altLang="zh-TW" dirty="0" err="1">
                <a:solidFill>
                  <a:schemeClr val="bg1"/>
                </a:solidFill>
                <a:latin typeface="Consolas" panose="020B0609020204030204" pitchFamily="49" charset="0"/>
              </a:rPr>
              <a:t>diag</a:t>
            </a:r>
            <a:r>
              <a:rPr lang="en-US" altLang="zh-TW" dirty="0">
                <a:solidFill>
                  <a:schemeClr val="bg1"/>
                </a:solidFill>
                <a:latin typeface="Consolas" panose="020B0609020204030204" pitchFamily="49" charset="0"/>
              </a:rPr>
              <a:t>(confusion)/</a:t>
            </a:r>
            <a:r>
              <a:rPr lang="en-US" altLang="zh-TW" dirty="0" err="1">
                <a:solidFill>
                  <a:schemeClr val="bg1"/>
                </a:solidFill>
                <a:latin typeface="Consolas" panose="020B0609020204030204" pitchFamily="49" charset="0"/>
              </a:rPr>
              <a:t>rowSums</a:t>
            </a:r>
            <a:r>
              <a:rPr lang="en-US" altLang="zh-TW" dirty="0">
                <a:solidFill>
                  <a:schemeClr val="bg1"/>
                </a:solidFill>
                <a:latin typeface="Consolas" panose="020B0609020204030204" pitchFamily="49" charset="0"/>
              </a:rPr>
              <a:t>(confusion</a:t>
            </a:r>
            <a:r>
              <a:rPr lang="en-US" altLang="zh-TW" dirty="0">
                <a:solidFill>
                  <a:schemeClr val="bg1"/>
                </a:solidFill>
              </a:rPr>
              <a:t>)</a:t>
            </a:r>
          </a:p>
        </p:txBody>
      </p:sp>
      <p:sp>
        <p:nvSpPr>
          <p:cNvPr id="20" name="文字方塊 19">
            <a:extLst>
              <a:ext uri="{FF2B5EF4-FFF2-40B4-BE49-F238E27FC236}">
                <a16:creationId xmlns:a16="http://schemas.microsoft.com/office/drawing/2014/main" id="{70CC844A-8437-4AC2-84C6-0128C242DBE0}"/>
              </a:ext>
            </a:extLst>
          </p:cNvPr>
          <p:cNvSpPr txBox="1"/>
          <p:nvPr/>
        </p:nvSpPr>
        <p:spPr>
          <a:xfrm>
            <a:off x="698055" y="4177626"/>
            <a:ext cx="7171842" cy="646331"/>
          </a:xfrm>
          <a:prstGeom prst="rect">
            <a:avLst/>
          </a:prstGeom>
          <a:noFill/>
        </p:spPr>
        <p:txBody>
          <a:bodyPr wrap="square" rtlCol="0">
            <a:spAutoFit/>
          </a:bodyPr>
          <a:lstStyle/>
          <a:p>
            <a:pPr fontAlgn="auto" latinLnBrk="1">
              <a:spcBef>
                <a:spcPts val="0"/>
              </a:spcBef>
              <a:spcAft>
                <a:spcPts val="0"/>
              </a:spcAft>
              <a:buFontTx/>
              <a:buNone/>
            </a:pPr>
            <a:r>
              <a:rPr lang="de-DE" altLang="zh-TW" dirty="0" smtClean="0">
                <a:solidFill>
                  <a:prstClr val="black"/>
                </a:solidFill>
                <a:latin typeface="Consolas" panose="020B0609020204030204" pitchFamily="49" charset="0"/>
                <a:ea typeface="新細明體" panose="02020500000000000000" pitchFamily="18" charset="-120"/>
              </a:rPr>
              <a:t>b         </a:t>
            </a:r>
            <a:r>
              <a:rPr lang="de-DE" altLang="zh-TW" dirty="0">
                <a:solidFill>
                  <a:prstClr val="black"/>
                </a:solidFill>
                <a:latin typeface="Consolas" panose="020B0609020204030204" pitchFamily="49" charset="0"/>
                <a:ea typeface="新細明體" panose="02020500000000000000" pitchFamily="18" charset="-120"/>
              </a:rPr>
              <a:t>e         m         t </a:t>
            </a:r>
          </a:p>
          <a:p>
            <a:pPr fontAlgn="auto" latinLnBrk="1">
              <a:spcBef>
                <a:spcPts val="0"/>
              </a:spcBef>
              <a:spcAft>
                <a:spcPts val="0"/>
              </a:spcAft>
              <a:buFontTx/>
              <a:buNone/>
            </a:pPr>
            <a:r>
              <a:rPr lang="de-DE" altLang="zh-TW" dirty="0">
                <a:solidFill>
                  <a:prstClr val="black"/>
                </a:solidFill>
                <a:latin typeface="Consolas" panose="020B0609020204030204" pitchFamily="49" charset="0"/>
                <a:ea typeface="新細明體" panose="02020500000000000000" pitchFamily="18" charset="-120"/>
              </a:rPr>
              <a:t>0.7989691 0.8539326 0.5873016 0.7660668</a:t>
            </a:r>
            <a:endParaRPr lang="en-US" altLang="zh-TW" dirty="0">
              <a:solidFill>
                <a:prstClr val="black"/>
              </a:solidFill>
              <a:latin typeface="Consolas" panose="020B0609020204030204" pitchFamily="49" charset="0"/>
              <a:ea typeface="新細明體" panose="02020500000000000000" pitchFamily="18" charset="-120"/>
            </a:endParaRPr>
          </a:p>
        </p:txBody>
      </p:sp>
      <p:grpSp>
        <p:nvGrpSpPr>
          <p:cNvPr id="21" name="组合 1"/>
          <p:cNvGrpSpPr>
            <a:grpSpLocks/>
          </p:cNvGrpSpPr>
          <p:nvPr/>
        </p:nvGrpSpPr>
        <p:grpSpPr bwMode="auto">
          <a:xfrm>
            <a:off x="5502988" y="189464"/>
            <a:ext cx="3816350" cy="406400"/>
            <a:chOff x="0" y="0"/>
            <a:chExt cx="3816672" cy="405750"/>
          </a:xfrm>
        </p:grpSpPr>
        <p:sp>
          <p:nvSpPr>
            <p:cNvPr id="22"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5"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1400947728"/>
      </p:ext>
    </p:extLst>
  </p:cSld>
  <p:clrMapOvr>
    <a:masterClrMapping/>
  </p:clrMapOvr>
  <p:transition spd="slow">
    <p:push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6" name="矩形 9"/>
          <p:cNvSpPr>
            <a:spLocks noChangeArrowheads="1"/>
          </p:cNvSpPr>
          <p:nvPr/>
        </p:nvSpPr>
        <p:spPr bwMode="auto">
          <a:xfrm>
            <a:off x="447676" y="669238"/>
            <a:ext cx="1820132"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1581685"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r>
              <a:rPr lang="en-US" altLang="zh-TW" dirty="0"/>
              <a:t>TF-IDF</a:t>
            </a:r>
            <a:r>
              <a:rPr lang="zh-TW" altLang="zh-TW" dirty="0"/>
              <a:t>模型</a:t>
            </a:r>
            <a:endParaRPr lang="zh-TW" altLang="en-US" dirty="0"/>
          </a:p>
        </p:txBody>
      </p:sp>
      <p:sp>
        <p:nvSpPr>
          <p:cNvPr id="2" name="圓角矩形 1"/>
          <p:cNvSpPr/>
          <p:nvPr/>
        </p:nvSpPr>
        <p:spPr bwMode="auto">
          <a:xfrm>
            <a:off x="434473" y="1578812"/>
            <a:ext cx="8218497" cy="432036"/>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latinLnBrk="1"/>
            <a:r>
              <a:rPr lang="en-US" altLang="zh-TW" dirty="0">
                <a:solidFill>
                  <a:schemeClr val="bg1"/>
                </a:solidFill>
                <a:latin typeface="Consolas" panose="020B0609020204030204" pitchFamily="49" charset="0"/>
              </a:rPr>
              <a:t>&gt; confusion</a:t>
            </a:r>
          </a:p>
        </p:txBody>
      </p:sp>
      <p:sp>
        <p:nvSpPr>
          <p:cNvPr id="21" name="文字方塊 20">
            <a:extLst>
              <a:ext uri="{FF2B5EF4-FFF2-40B4-BE49-F238E27FC236}">
                <a16:creationId xmlns:a16="http://schemas.microsoft.com/office/drawing/2014/main" id="{7ACCE8E2-DBB6-4693-A727-380B1F4587C5}"/>
              </a:ext>
            </a:extLst>
          </p:cNvPr>
          <p:cNvSpPr txBox="1"/>
          <p:nvPr/>
        </p:nvSpPr>
        <p:spPr>
          <a:xfrm>
            <a:off x="1187718" y="2270712"/>
            <a:ext cx="4598384" cy="1754326"/>
          </a:xfrm>
          <a:prstGeom prst="rect">
            <a:avLst/>
          </a:prstGeom>
          <a:noFill/>
        </p:spPr>
        <p:txBody>
          <a:bodyPr wrap="square" rtlCol="0">
            <a:spAutoFit/>
          </a:bodyPr>
          <a:lstStyle/>
          <a:p>
            <a:pPr latinLnBrk="1"/>
            <a:r>
              <a:rPr lang="en-US" altLang="zh-TW" dirty="0">
                <a:latin typeface="Consolas" panose="020B0609020204030204" pitchFamily="49" charset="0"/>
                <a:ea typeface="+mj-ea"/>
                <a:cs typeface="+mj-cs"/>
              </a:rPr>
              <a:t> </a:t>
            </a:r>
            <a:r>
              <a:rPr lang="en-US" altLang="zh-TW" dirty="0" err="1">
                <a:latin typeface="Consolas" panose="020B0609020204030204" pitchFamily="49" charset="0"/>
                <a:ea typeface="+mj-ea"/>
                <a:cs typeface="+mj-cs"/>
              </a:rPr>
              <a:t>news_category_test</a:t>
            </a:r>
            <a:endParaRPr lang="en-US" altLang="zh-TW" dirty="0">
              <a:latin typeface="Consolas" panose="020B0609020204030204" pitchFamily="49" charset="0"/>
              <a:ea typeface="+mj-ea"/>
              <a:cs typeface="+mj-cs"/>
            </a:endParaRPr>
          </a:p>
          <a:p>
            <a:pPr latinLnBrk="1"/>
            <a:r>
              <a:rPr lang="en-US" altLang="zh-TW" dirty="0">
                <a:latin typeface="Consolas" panose="020B0609020204030204" pitchFamily="49" charset="0"/>
                <a:ea typeface="+mj-ea"/>
                <a:cs typeface="+mj-cs"/>
              </a:rPr>
              <a:t>      b   e   m   t</a:t>
            </a:r>
          </a:p>
          <a:p>
            <a:pPr latinLnBrk="1"/>
            <a:r>
              <a:rPr lang="en-US" altLang="zh-TW" dirty="0">
                <a:latin typeface="Consolas" panose="020B0609020204030204" pitchFamily="49" charset="0"/>
                <a:ea typeface="+mj-ea"/>
                <a:cs typeface="+mj-cs"/>
              </a:rPr>
              <a:t>  b 315  25  14  36</a:t>
            </a:r>
          </a:p>
          <a:p>
            <a:pPr latinLnBrk="1"/>
            <a:r>
              <a:rPr lang="en-US" altLang="zh-TW" dirty="0">
                <a:latin typeface="Consolas" panose="020B0609020204030204" pitchFamily="49" charset="0"/>
                <a:ea typeface="+mj-ea"/>
                <a:cs typeface="+mj-cs"/>
              </a:rPr>
              <a:t>  e  37 467  11  16</a:t>
            </a:r>
          </a:p>
          <a:p>
            <a:pPr latinLnBrk="1"/>
            <a:r>
              <a:rPr lang="en-US" altLang="zh-TW" dirty="0">
                <a:latin typeface="Consolas" panose="020B0609020204030204" pitchFamily="49" charset="0"/>
                <a:ea typeface="+mj-ea"/>
                <a:cs typeface="+mj-cs"/>
              </a:rPr>
              <a:t>  m  28  21 110  17</a:t>
            </a:r>
          </a:p>
          <a:p>
            <a:pPr latinLnBrk="1"/>
            <a:r>
              <a:rPr lang="en-US" altLang="zh-TW" dirty="0">
                <a:latin typeface="Consolas" panose="020B0609020204030204" pitchFamily="49" charset="0"/>
                <a:ea typeface="+mj-ea"/>
                <a:cs typeface="+mj-cs"/>
              </a:rPr>
              <a:t>  t  49  32  15 307</a:t>
            </a:r>
            <a:endParaRPr lang="zh-TW" altLang="zh-TW" dirty="0">
              <a:latin typeface="Consolas" panose="020B0609020204030204" pitchFamily="49" charset="0"/>
              <a:ea typeface="+mj-ea"/>
              <a:cs typeface="+mj-cs"/>
            </a:endParaRPr>
          </a:p>
        </p:txBody>
      </p:sp>
      <p:grpSp>
        <p:nvGrpSpPr>
          <p:cNvPr id="22" name="组合 1"/>
          <p:cNvGrpSpPr>
            <a:grpSpLocks/>
          </p:cNvGrpSpPr>
          <p:nvPr/>
        </p:nvGrpSpPr>
        <p:grpSpPr bwMode="auto">
          <a:xfrm>
            <a:off x="5502988" y="189464"/>
            <a:ext cx="3816350" cy="406400"/>
            <a:chOff x="0" y="0"/>
            <a:chExt cx="3816672" cy="405750"/>
          </a:xfrm>
        </p:grpSpPr>
        <p:sp>
          <p:nvSpPr>
            <p:cNvPr id="24"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6"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649248315"/>
      </p:ext>
    </p:extLst>
  </p:cSld>
  <p:clrMapOvr>
    <a:masterClrMapping/>
  </p:clrMapOvr>
  <p:transition spd="slow">
    <p:push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57844" y="1423443"/>
            <a:ext cx="8218497" cy="5002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&gt; </a:t>
            </a:r>
            <a:r>
              <a:rPr lang="en-US" altLang="zh-TW" dirty="0">
                <a:solidFill>
                  <a:prstClr val="black"/>
                </a:solidFill>
                <a:latin typeface="Consolas" panose="020B0609020204030204" pitchFamily="49" charset="0"/>
                <a:ea typeface="新細明體" panose="02020500000000000000" pitchFamily="18" charset="-120"/>
              </a:rPr>
              <a:t>accuracy=sum(</a:t>
            </a:r>
            <a:r>
              <a:rPr lang="en-US" altLang="zh-TW" dirty="0" err="1">
                <a:solidFill>
                  <a:prstClr val="black"/>
                </a:solidFill>
                <a:latin typeface="Consolas" panose="020B0609020204030204" pitchFamily="49" charset="0"/>
                <a:ea typeface="新細明體" panose="02020500000000000000" pitchFamily="18" charset="-120"/>
              </a:rPr>
              <a:t>diag</a:t>
            </a:r>
            <a:r>
              <a:rPr lang="en-US" altLang="zh-TW" dirty="0">
                <a:solidFill>
                  <a:prstClr val="black"/>
                </a:solidFill>
                <a:latin typeface="Consolas" panose="020B0609020204030204" pitchFamily="49" charset="0"/>
                <a:ea typeface="新細明體" panose="02020500000000000000" pitchFamily="18" charset="-120"/>
              </a:rPr>
              <a:t>(confusion))/sum(confusion)</a:t>
            </a:r>
          </a:p>
        </p:txBody>
      </p:sp>
      <p:sp>
        <p:nvSpPr>
          <p:cNvPr id="16" name="矩形 9"/>
          <p:cNvSpPr>
            <a:spLocks noChangeArrowheads="1"/>
          </p:cNvSpPr>
          <p:nvPr/>
        </p:nvSpPr>
        <p:spPr bwMode="auto">
          <a:xfrm>
            <a:off x="447676" y="669238"/>
            <a:ext cx="3836300"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3669859"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a:t>以測試資料跑模型，得出預測結果</a:t>
            </a:r>
          </a:p>
        </p:txBody>
      </p:sp>
      <p:sp>
        <p:nvSpPr>
          <p:cNvPr id="2" name="圓角矩形 1"/>
          <p:cNvSpPr/>
          <p:nvPr/>
        </p:nvSpPr>
        <p:spPr bwMode="auto">
          <a:xfrm>
            <a:off x="457843" y="2062389"/>
            <a:ext cx="8218497" cy="432036"/>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latinLnBrk="1"/>
            <a:r>
              <a:rPr lang="en-US" altLang="zh-TW" dirty="0">
                <a:solidFill>
                  <a:schemeClr val="bg1"/>
                </a:solidFill>
                <a:latin typeface="Consolas" panose="020B0609020204030204" pitchFamily="49" charset="0"/>
              </a:rPr>
              <a:t>&gt; accuracy</a:t>
            </a:r>
          </a:p>
        </p:txBody>
      </p:sp>
      <p:sp>
        <p:nvSpPr>
          <p:cNvPr id="17" name="文字方塊 16">
            <a:extLst>
              <a:ext uri="{FF2B5EF4-FFF2-40B4-BE49-F238E27FC236}">
                <a16:creationId xmlns:a16="http://schemas.microsoft.com/office/drawing/2014/main" id="{7ACCE8E2-DBB6-4693-A727-380B1F4587C5}"/>
              </a:ext>
            </a:extLst>
          </p:cNvPr>
          <p:cNvSpPr txBox="1"/>
          <p:nvPr/>
        </p:nvSpPr>
        <p:spPr>
          <a:xfrm>
            <a:off x="563975" y="2563022"/>
            <a:ext cx="3475493" cy="369332"/>
          </a:xfrm>
          <a:prstGeom prst="rect">
            <a:avLst/>
          </a:prstGeom>
          <a:noFill/>
        </p:spPr>
        <p:txBody>
          <a:bodyPr wrap="square" rtlCol="0">
            <a:spAutoFit/>
          </a:bodyPr>
          <a:lstStyle/>
          <a:p>
            <a:pPr latinLnBrk="1"/>
            <a:r>
              <a:rPr lang="en-US" altLang="zh-TW" dirty="0">
                <a:latin typeface="Consolas" panose="020B0609020204030204" pitchFamily="49" charset="0"/>
              </a:rPr>
              <a:t>[1] </a:t>
            </a:r>
            <a:r>
              <a:rPr lang="en-US" altLang="zh-TW" dirty="0" smtClean="0">
                <a:latin typeface="Consolas" panose="020B0609020204030204" pitchFamily="49" charset="0"/>
              </a:rPr>
              <a:t>0.7993333</a:t>
            </a:r>
            <a:endParaRPr lang="zh-TW" altLang="zh-TW" dirty="0">
              <a:latin typeface="Consolas" panose="020B0609020204030204" pitchFamily="49" charset="0"/>
            </a:endParaRPr>
          </a:p>
        </p:txBody>
      </p:sp>
      <p:sp>
        <p:nvSpPr>
          <p:cNvPr id="18" name="矩形 17"/>
          <p:cNvSpPr/>
          <p:nvPr/>
        </p:nvSpPr>
        <p:spPr>
          <a:xfrm>
            <a:off x="447293" y="3085899"/>
            <a:ext cx="8218497" cy="5002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&gt; precision=</a:t>
            </a:r>
            <a:r>
              <a:rPr lang="en-US" altLang="zh-TW" dirty="0" err="1">
                <a:solidFill>
                  <a:prstClr val="black"/>
                </a:solidFill>
                <a:latin typeface="Consolas" panose="020B0609020204030204" pitchFamily="49" charset="0"/>
                <a:ea typeface="新細明體" panose="02020500000000000000" pitchFamily="18" charset="-120"/>
              </a:rPr>
              <a:t>diag</a:t>
            </a:r>
            <a:r>
              <a:rPr lang="en-US" altLang="zh-TW" dirty="0">
                <a:solidFill>
                  <a:prstClr val="black"/>
                </a:solidFill>
                <a:latin typeface="Consolas" panose="020B0609020204030204" pitchFamily="49" charset="0"/>
                <a:ea typeface="新細明體" panose="02020500000000000000" pitchFamily="18" charset="-120"/>
              </a:rPr>
              <a:t>(confusion)/</a:t>
            </a:r>
            <a:r>
              <a:rPr lang="en-US" altLang="zh-TW" dirty="0" err="1">
                <a:solidFill>
                  <a:prstClr val="black"/>
                </a:solidFill>
                <a:latin typeface="Consolas" panose="020B0609020204030204" pitchFamily="49" charset="0"/>
                <a:ea typeface="新細明體" panose="02020500000000000000" pitchFamily="18" charset="-120"/>
              </a:rPr>
              <a:t>rowSums</a:t>
            </a:r>
            <a:r>
              <a:rPr lang="en-US" altLang="zh-TW" dirty="0">
                <a:solidFill>
                  <a:prstClr val="black"/>
                </a:solidFill>
                <a:latin typeface="Consolas" panose="020B0609020204030204" pitchFamily="49" charset="0"/>
                <a:ea typeface="新細明體" panose="02020500000000000000" pitchFamily="18" charset="-120"/>
              </a:rPr>
              <a:t>(confusion)</a:t>
            </a:r>
          </a:p>
        </p:txBody>
      </p:sp>
      <p:sp>
        <p:nvSpPr>
          <p:cNvPr id="19" name="圓角矩形 18"/>
          <p:cNvSpPr/>
          <p:nvPr/>
        </p:nvSpPr>
        <p:spPr bwMode="auto">
          <a:xfrm>
            <a:off x="434474" y="3688317"/>
            <a:ext cx="8218497" cy="432036"/>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latinLnBrk="1"/>
            <a:r>
              <a:rPr lang="en-US" altLang="zh-TW" dirty="0">
                <a:solidFill>
                  <a:schemeClr val="bg1"/>
                </a:solidFill>
                <a:latin typeface="Consolas" panose="020B0609020204030204" pitchFamily="49" charset="0"/>
              </a:rPr>
              <a:t>&gt; precision=</a:t>
            </a:r>
            <a:r>
              <a:rPr lang="en-US" altLang="zh-TW" dirty="0" err="1">
                <a:solidFill>
                  <a:schemeClr val="bg1"/>
                </a:solidFill>
                <a:latin typeface="Consolas" panose="020B0609020204030204" pitchFamily="49" charset="0"/>
              </a:rPr>
              <a:t>diag</a:t>
            </a:r>
            <a:r>
              <a:rPr lang="en-US" altLang="zh-TW" dirty="0">
                <a:solidFill>
                  <a:schemeClr val="bg1"/>
                </a:solidFill>
                <a:latin typeface="Consolas" panose="020B0609020204030204" pitchFamily="49" charset="0"/>
              </a:rPr>
              <a:t>(confusion)/</a:t>
            </a:r>
            <a:r>
              <a:rPr lang="en-US" altLang="zh-TW" dirty="0" err="1">
                <a:solidFill>
                  <a:schemeClr val="bg1"/>
                </a:solidFill>
                <a:latin typeface="Consolas" panose="020B0609020204030204" pitchFamily="49" charset="0"/>
              </a:rPr>
              <a:t>rowSums</a:t>
            </a:r>
            <a:r>
              <a:rPr lang="en-US" altLang="zh-TW" dirty="0">
                <a:solidFill>
                  <a:schemeClr val="bg1"/>
                </a:solidFill>
                <a:latin typeface="Consolas" panose="020B0609020204030204" pitchFamily="49" charset="0"/>
              </a:rPr>
              <a:t>(confusion</a:t>
            </a:r>
            <a:r>
              <a:rPr lang="en-US" altLang="zh-TW" dirty="0">
                <a:solidFill>
                  <a:schemeClr val="bg1"/>
                </a:solidFill>
              </a:rPr>
              <a:t>)</a:t>
            </a:r>
          </a:p>
        </p:txBody>
      </p:sp>
      <p:sp>
        <p:nvSpPr>
          <p:cNvPr id="21" name="文字方塊 20">
            <a:extLst>
              <a:ext uri="{FF2B5EF4-FFF2-40B4-BE49-F238E27FC236}">
                <a16:creationId xmlns:a16="http://schemas.microsoft.com/office/drawing/2014/main" id="{2D149E4C-33A2-4BDE-AC1F-7B552B0EC4D6}"/>
              </a:ext>
            </a:extLst>
          </p:cNvPr>
          <p:cNvSpPr txBox="1"/>
          <p:nvPr/>
        </p:nvSpPr>
        <p:spPr>
          <a:xfrm>
            <a:off x="563975" y="4198483"/>
            <a:ext cx="8101815" cy="646331"/>
          </a:xfrm>
          <a:prstGeom prst="rect">
            <a:avLst/>
          </a:prstGeom>
          <a:noFill/>
        </p:spPr>
        <p:txBody>
          <a:bodyPr wrap="square" rtlCol="0">
            <a:spAutoFit/>
          </a:bodyPr>
          <a:lstStyle/>
          <a:p>
            <a:pPr latinLnBrk="1"/>
            <a:r>
              <a:rPr lang="de-DE" altLang="zh-TW" dirty="0" smtClean="0">
                <a:latin typeface="Consolas" panose="020B0609020204030204" pitchFamily="49" charset="0"/>
                <a:ea typeface="+mj-ea"/>
                <a:cs typeface="+mj-cs"/>
              </a:rPr>
              <a:t>b        </a:t>
            </a:r>
            <a:r>
              <a:rPr lang="zh-TW" altLang="en-US" dirty="0" smtClean="0">
                <a:latin typeface="Consolas" panose="020B0609020204030204" pitchFamily="49" charset="0"/>
                <a:ea typeface="+mj-ea"/>
                <a:cs typeface="+mj-cs"/>
              </a:rPr>
              <a:t>    </a:t>
            </a:r>
            <a:r>
              <a:rPr lang="de-DE" altLang="zh-TW" dirty="0" smtClean="0">
                <a:latin typeface="Consolas" panose="020B0609020204030204" pitchFamily="49" charset="0"/>
                <a:ea typeface="+mj-ea"/>
                <a:cs typeface="+mj-cs"/>
              </a:rPr>
              <a:t>e  </a:t>
            </a:r>
            <a:r>
              <a:rPr lang="de-DE" altLang="zh-TW" dirty="0">
                <a:latin typeface="Consolas" panose="020B0609020204030204" pitchFamily="49" charset="0"/>
                <a:ea typeface="+mj-ea"/>
                <a:cs typeface="+mj-cs"/>
              </a:rPr>
              <a:t>	</a:t>
            </a:r>
            <a:r>
              <a:rPr lang="zh-TW" altLang="en-US" dirty="0">
                <a:latin typeface="Consolas" panose="020B0609020204030204" pitchFamily="49" charset="0"/>
                <a:ea typeface="+mj-ea"/>
                <a:cs typeface="+mj-cs"/>
              </a:rPr>
              <a:t>    </a:t>
            </a:r>
            <a:r>
              <a:rPr lang="de-DE" altLang="zh-TW" dirty="0" smtClean="0">
                <a:latin typeface="Consolas" panose="020B0609020204030204" pitchFamily="49" charset="0"/>
                <a:ea typeface="+mj-ea"/>
                <a:cs typeface="+mj-cs"/>
              </a:rPr>
              <a:t>m        </a:t>
            </a:r>
            <a:r>
              <a:rPr lang="de-DE" altLang="zh-TW" dirty="0">
                <a:latin typeface="Consolas" panose="020B0609020204030204" pitchFamily="49" charset="0"/>
                <a:ea typeface="+mj-ea"/>
                <a:cs typeface="+mj-cs"/>
              </a:rPr>
              <a:t>	</a:t>
            </a:r>
            <a:r>
              <a:rPr lang="de-DE" altLang="zh-TW" dirty="0" smtClean="0">
                <a:latin typeface="Consolas" panose="020B0609020204030204" pitchFamily="49" charset="0"/>
                <a:ea typeface="+mj-ea"/>
                <a:cs typeface="+mj-cs"/>
              </a:rPr>
              <a:t>   t </a:t>
            </a:r>
            <a:endParaRPr lang="de-DE" altLang="zh-TW" dirty="0">
              <a:latin typeface="Consolas" panose="020B0609020204030204" pitchFamily="49" charset="0"/>
              <a:ea typeface="+mj-ea"/>
              <a:cs typeface="+mj-cs"/>
            </a:endParaRPr>
          </a:p>
          <a:p>
            <a:pPr latinLnBrk="1"/>
            <a:r>
              <a:rPr lang="de-DE" altLang="zh-TW" dirty="0">
                <a:latin typeface="Consolas" panose="020B0609020204030204" pitchFamily="49" charset="0"/>
                <a:ea typeface="+mj-ea"/>
                <a:cs typeface="+mj-cs"/>
              </a:rPr>
              <a:t>0.7792208 </a:t>
            </a:r>
            <a:r>
              <a:rPr lang="zh-TW" altLang="en-US" dirty="0">
                <a:latin typeface="Consolas" panose="020B0609020204030204" pitchFamily="49" charset="0"/>
                <a:ea typeface="+mj-ea"/>
                <a:cs typeface="+mj-cs"/>
              </a:rPr>
              <a:t>   </a:t>
            </a:r>
            <a:r>
              <a:rPr lang="de-DE" altLang="zh-TW" dirty="0">
                <a:latin typeface="Consolas" panose="020B0609020204030204" pitchFamily="49" charset="0"/>
                <a:ea typeface="+mj-ea"/>
                <a:cs typeface="+mj-cs"/>
              </a:rPr>
              <a:t>0.8394040 </a:t>
            </a:r>
            <a:r>
              <a:rPr lang="zh-TW" altLang="en-US" dirty="0">
                <a:latin typeface="Consolas" panose="020B0609020204030204" pitchFamily="49" charset="0"/>
                <a:ea typeface="+mj-ea"/>
                <a:cs typeface="+mj-cs"/>
              </a:rPr>
              <a:t>   </a:t>
            </a:r>
            <a:r>
              <a:rPr lang="de-DE" altLang="zh-TW" dirty="0">
                <a:latin typeface="Consolas" panose="020B0609020204030204" pitchFamily="49" charset="0"/>
                <a:ea typeface="+mj-ea"/>
                <a:cs typeface="+mj-cs"/>
              </a:rPr>
              <a:t>0.8000000 </a:t>
            </a:r>
            <a:r>
              <a:rPr lang="zh-TW" altLang="en-US" dirty="0">
                <a:latin typeface="Consolas" panose="020B0609020204030204" pitchFamily="49" charset="0"/>
                <a:ea typeface="+mj-ea"/>
                <a:cs typeface="+mj-cs"/>
              </a:rPr>
              <a:t>    </a:t>
            </a:r>
            <a:r>
              <a:rPr lang="de-DE" altLang="zh-TW" dirty="0">
                <a:latin typeface="Consolas" panose="020B0609020204030204" pitchFamily="49" charset="0"/>
                <a:ea typeface="+mj-ea"/>
                <a:cs typeface="+mj-cs"/>
              </a:rPr>
              <a:t>0.7952756</a:t>
            </a:r>
            <a:endParaRPr lang="zh-TW" altLang="zh-TW" dirty="0">
              <a:latin typeface="Consolas" panose="020B0609020204030204" pitchFamily="49" charset="0"/>
              <a:ea typeface="+mj-ea"/>
              <a:cs typeface="+mj-cs"/>
            </a:endParaRPr>
          </a:p>
        </p:txBody>
      </p:sp>
      <p:grpSp>
        <p:nvGrpSpPr>
          <p:cNvPr id="22" name="组合 1"/>
          <p:cNvGrpSpPr>
            <a:grpSpLocks/>
          </p:cNvGrpSpPr>
          <p:nvPr/>
        </p:nvGrpSpPr>
        <p:grpSpPr bwMode="auto">
          <a:xfrm>
            <a:off x="5502988" y="189464"/>
            <a:ext cx="3816350" cy="406400"/>
            <a:chOff x="0" y="0"/>
            <a:chExt cx="3816672" cy="405750"/>
          </a:xfrm>
        </p:grpSpPr>
        <p:sp>
          <p:nvSpPr>
            <p:cNvPr id="24"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6"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3402100661"/>
      </p:ext>
    </p:extLst>
  </p:cSld>
  <p:clrMapOvr>
    <a:masterClrMapping/>
  </p:clrMapOvr>
  <p:transition spd="slow">
    <p:push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57844" y="1423443"/>
            <a:ext cx="8218497" cy="24444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auto">
              <a:spcBef>
                <a:spcPts val="0"/>
              </a:spcBef>
              <a:spcAft>
                <a:spcPts val="0"/>
              </a:spcAft>
            </a:pPr>
            <a:r>
              <a:rPr lang="en-US" altLang="zh-TW" dirty="0" err="1">
                <a:solidFill>
                  <a:prstClr val="black"/>
                </a:solidFill>
                <a:latin typeface="Consolas" panose="020B0609020204030204" pitchFamily="49" charset="0"/>
                <a:ea typeface="新細明體" panose="02020500000000000000" pitchFamily="18" charset="-120"/>
              </a:rPr>
              <a:t>install.packages</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devtools</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library(</a:t>
            </a:r>
            <a:r>
              <a:rPr lang="en-US" altLang="zh-TW" dirty="0" err="1">
                <a:solidFill>
                  <a:prstClr val="black"/>
                </a:solidFill>
                <a:latin typeface="Consolas" panose="020B0609020204030204" pitchFamily="49" charset="0"/>
                <a:ea typeface="新細明體" panose="02020500000000000000" pitchFamily="18" charset="-120"/>
              </a:rPr>
              <a:t>devtools</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err="1">
                <a:solidFill>
                  <a:prstClr val="black"/>
                </a:solidFill>
                <a:latin typeface="Consolas" panose="020B0609020204030204" pitchFamily="49" charset="0"/>
                <a:ea typeface="新細明體" panose="02020500000000000000" pitchFamily="18" charset="-120"/>
              </a:rPr>
              <a:t>install_github</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bmschmidt</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wordVectors</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library(</a:t>
            </a:r>
            <a:r>
              <a:rPr lang="en-US" altLang="zh-TW" dirty="0" err="1">
                <a:solidFill>
                  <a:prstClr val="black"/>
                </a:solidFill>
                <a:latin typeface="Consolas" panose="020B0609020204030204" pitchFamily="49" charset="0"/>
                <a:ea typeface="新細明體" panose="02020500000000000000" pitchFamily="18" charset="-120"/>
              </a:rPr>
              <a:t>wordVectors</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library("tm")</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library("</a:t>
            </a:r>
            <a:r>
              <a:rPr lang="en-US" altLang="zh-TW" dirty="0" err="1">
                <a:solidFill>
                  <a:prstClr val="black"/>
                </a:solidFill>
                <a:latin typeface="Consolas" panose="020B0609020204030204" pitchFamily="49" charset="0"/>
                <a:ea typeface="新細明體" panose="02020500000000000000" pitchFamily="18" charset="-120"/>
              </a:rPr>
              <a:t>SnowballC</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library("</a:t>
            </a:r>
            <a:r>
              <a:rPr lang="en-US" altLang="zh-TW" dirty="0" err="1">
                <a:solidFill>
                  <a:prstClr val="black"/>
                </a:solidFill>
                <a:latin typeface="Consolas" panose="020B0609020204030204" pitchFamily="49" charset="0"/>
                <a:ea typeface="新細明體" panose="02020500000000000000" pitchFamily="18" charset="-120"/>
              </a:rPr>
              <a:t>wordcloud</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library("</a:t>
            </a:r>
            <a:r>
              <a:rPr lang="en-US" altLang="zh-TW" dirty="0" err="1">
                <a:solidFill>
                  <a:prstClr val="black"/>
                </a:solidFill>
                <a:latin typeface="Consolas" panose="020B0609020204030204" pitchFamily="49" charset="0"/>
                <a:ea typeface="新細明體" panose="02020500000000000000" pitchFamily="18" charset="-120"/>
              </a:rPr>
              <a:t>RColorBrewer</a:t>
            </a:r>
            <a:r>
              <a:rPr lang="en-US" altLang="zh-TW" dirty="0">
                <a:solidFill>
                  <a:prstClr val="black"/>
                </a:solidFill>
                <a:latin typeface="Consolas" panose="020B0609020204030204" pitchFamily="49" charset="0"/>
                <a:ea typeface="新細明體" panose="02020500000000000000" pitchFamily="18" charset="-120"/>
              </a:rPr>
              <a:t>")</a:t>
            </a:r>
          </a:p>
        </p:txBody>
      </p:sp>
      <p:sp>
        <p:nvSpPr>
          <p:cNvPr id="16" name="矩形 9"/>
          <p:cNvSpPr>
            <a:spLocks noChangeArrowheads="1"/>
          </p:cNvSpPr>
          <p:nvPr/>
        </p:nvSpPr>
        <p:spPr bwMode="auto">
          <a:xfrm>
            <a:off x="447676" y="669238"/>
            <a:ext cx="3836300"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3669859"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smtClean="0"/>
              <a:t>安裝及加載套件包 </a:t>
            </a:r>
            <a:endParaRPr lang="zh-TW" altLang="en-US" dirty="0"/>
          </a:p>
        </p:txBody>
      </p:sp>
      <p:grpSp>
        <p:nvGrpSpPr>
          <p:cNvPr id="20" name="组合 1"/>
          <p:cNvGrpSpPr>
            <a:grpSpLocks/>
          </p:cNvGrpSpPr>
          <p:nvPr/>
        </p:nvGrpSpPr>
        <p:grpSpPr bwMode="auto">
          <a:xfrm>
            <a:off x="5502988" y="189464"/>
            <a:ext cx="3816350" cy="406400"/>
            <a:chOff x="0" y="0"/>
            <a:chExt cx="3816672" cy="405750"/>
          </a:xfrm>
        </p:grpSpPr>
        <p:sp>
          <p:nvSpPr>
            <p:cNvPr id="22"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5"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1285733229"/>
      </p:ext>
    </p:extLst>
  </p:cSld>
  <p:clrMapOvr>
    <a:masterClrMapping/>
  </p:clrMapOvr>
  <p:transition spd="slow">
    <p:push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57844" y="1423443"/>
            <a:ext cx="8218497" cy="31644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text &lt;- </a:t>
            </a:r>
            <a:r>
              <a:rPr lang="en-US" altLang="zh-TW" dirty="0" err="1">
                <a:solidFill>
                  <a:prstClr val="black"/>
                </a:solidFill>
                <a:latin typeface="Consolas" panose="020B0609020204030204" pitchFamily="49" charset="0"/>
                <a:ea typeface="新細明體" panose="02020500000000000000" pitchFamily="18" charset="-120"/>
              </a:rPr>
              <a:t>readLines</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file.choose</a:t>
            </a:r>
            <a:r>
              <a:rPr lang="en-US" altLang="zh-TW" dirty="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x1 &lt;- Corpus(</a:t>
            </a:r>
            <a:r>
              <a:rPr lang="en-US" altLang="zh-TW" dirty="0" err="1">
                <a:solidFill>
                  <a:prstClr val="black"/>
                </a:solidFill>
                <a:latin typeface="Consolas" panose="020B0609020204030204" pitchFamily="49" charset="0"/>
                <a:ea typeface="新細明體" panose="02020500000000000000" pitchFamily="18" charset="-120"/>
              </a:rPr>
              <a:t>VectorSource</a:t>
            </a:r>
            <a:r>
              <a:rPr lang="en-US" altLang="zh-TW" dirty="0">
                <a:solidFill>
                  <a:prstClr val="black"/>
                </a:solidFill>
                <a:latin typeface="Consolas" panose="020B0609020204030204" pitchFamily="49" charset="0"/>
                <a:ea typeface="新細明體" panose="02020500000000000000" pitchFamily="18" charset="-120"/>
              </a:rPr>
              <a:t>(text)) </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x1 &lt;- </a:t>
            </a:r>
            <a:r>
              <a:rPr lang="en-US" altLang="zh-TW" dirty="0" err="1">
                <a:solidFill>
                  <a:prstClr val="black"/>
                </a:solidFill>
                <a:latin typeface="Consolas" panose="020B0609020204030204" pitchFamily="49" charset="0"/>
                <a:ea typeface="新細明體" panose="02020500000000000000" pitchFamily="18" charset="-120"/>
              </a:rPr>
              <a:t>tm_map</a:t>
            </a:r>
            <a:r>
              <a:rPr lang="en-US" altLang="zh-TW" dirty="0">
                <a:solidFill>
                  <a:prstClr val="black"/>
                </a:solidFill>
                <a:latin typeface="Consolas" panose="020B0609020204030204" pitchFamily="49" charset="0"/>
                <a:ea typeface="新細明體" panose="02020500000000000000" pitchFamily="18" charset="-120"/>
              </a:rPr>
              <a:t>(x1, </a:t>
            </a:r>
            <a:r>
              <a:rPr lang="en-US" altLang="zh-TW" dirty="0" err="1">
                <a:solidFill>
                  <a:prstClr val="black"/>
                </a:solidFill>
                <a:latin typeface="Consolas" panose="020B0609020204030204" pitchFamily="49" charset="0"/>
                <a:ea typeface="新細明體" panose="02020500000000000000" pitchFamily="18" charset="-120"/>
              </a:rPr>
              <a:t>content_transformer</a:t>
            </a:r>
            <a:r>
              <a:rPr lang="en-US" altLang="zh-TW" dirty="0">
                <a:solidFill>
                  <a:prstClr val="black"/>
                </a:solidFill>
                <a:latin typeface="Consolas" panose="020B0609020204030204" pitchFamily="49" charset="0"/>
                <a:ea typeface="新細明體" panose="02020500000000000000" pitchFamily="18" charset="-120"/>
              </a:rPr>
              <a:t>(</a:t>
            </a:r>
            <a:r>
              <a:rPr lang="en-US" altLang="zh-TW" dirty="0" err="1">
                <a:solidFill>
                  <a:prstClr val="black"/>
                </a:solidFill>
                <a:latin typeface="Consolas" panose="020B0609020204030204" pitchFamily="49" charset="0"/>
                <a:ea typeface="新細明體" panose="02020500000000000000" pitchFamily="18" charset="-120"/>
              </a:rPr>
              <a:t>tolower</a:t>
            </a:r>
            <a:r>
              <a:rPr lang="en-US" altLang="zh-TW" dirty="0" smtClean="0">
                <a:solidFill>
                  <a:prstClr val="black"/>
                </a:solidFill>
                <a:latin typeface="Consolas" panose="020B0609020204030204" pitchFamily="49" charset="0"/>
                <a:ea typeface="新細明體" panose="02020500000000000000" pitchFamily="18" charset="-120"/>
              </a:rPr>
              <a:t>))</a:t>
            </a:r>
            <a:endParaRPr lang="zh-TW" altLang="en-US" dirty="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x1 </a:t>
            </a:r>
            <a:r>
              <a:rPr lang="en-US" altLang="zh-TW" dirty="0">
                <a:solidFill>
                  <a:prstClr val="black"/>
                </a:solidFill>
                <a:latin typeface="Consolas" panose="020B0609020204030204" pitchFamily="49" charset="0"/>
                <a:ea typeface="新細明體" panose="02020500000000000000" pitchFamily="18" charset="-120"/>
              </a:rPr>
              <a:t>&lt;- </a:t>
            </a:r>
            <a:r>
              <a:rPr lang="en-US" altLang="zh-TW" dirty="0" err="1">
                <a:solidFill>
                  <a:prstClr val="black"/>
                </a:solidFill>
                <a:latin typeface="Consolas" panose="020B0609020204030204" pitchFamily="49" charset="0"/>
                <a:ea typeface="新細明體" panose="02020500000000000000" pitchFamily="18" charset="-120"/>
              </a:rPr>
              <a:t>tm_map</a:t>
            </a:r>
            <a:r>
              <a:rPr lang="en-US" altLang="zh-TW" dirty="0">
                <a:solidFill>
                  <a:prstClr val="black"/>
                </a:solidFill>
                <a:latin typeface="Consolas" panose="020B0609020204030204" pitchFamily="49" charset="0"/>
                <a:ea typeface="新細明體" panose="02020500000000000000" pitchFamily="18" charset="-120"/>
              </a:rPr>
              <a:t>(x1, </a:t>
            </a:r>
            <a:r>
              <a:rPr lang="en-US" altLang="zh-TW" dirty="0" err="1">
                <a:solidFill>
                  <a:prstClr val="black"/>
                </a:solidFill>
                <a:latin typeface="Consolas" panose="020B0609020204030204" pitchFamily="49" charset="0"/>
                <a:ea typeface="新細明體" panose="02020500000000000000" pitchFamily="18" charset="-120"/>
              </a:rPr>
              <a:t>removeNumbers</a:t>
            </a:r>
            <a:r>
              <a:rPr lang="en-US" altLang="zh-TW" dirty="0" smtClean="0">
                <a:solidFill>
                  <a:prstClr val="black"/>
                </a:solidFill>
                <a:latin typeface="Consolas" panose="020B0609020204030204" pitchFamily="49" charset="0"/>
                <a:ea typeface="新細明體" panose="02020500000000000000" pitchFamily="18" charset="-120"/>
              </a:rPr>
              <a:t>)</a:t>
            </a:r>
            <a:endParaRPr lang="zh-TW" altLang="en-US" dirty="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x1 </a:t>
            </a:r>
            <a:r>
              <a:rPr lang="en-US" altLang="zh-TW" dirty="0">
                <a:solidFill>
                  <a:prstClr val="black"/>
                </a:solidFill>
                <a:latin typeface="Consolas" panose="020B0609020204030204" pitchFamily="49" charset="0"/>
                <a:ea typeface="新細明體" panose="02020500000000000000" pitchFamily="18" charset="-120"/>
              </a:rPr>
              <a:t>&lt;- </a:t>
            </a:r>
            <a:r>
              <a:rPr lang="en-US" altLang="zh-TW" dirty="0" err="1">
                <a:solidFill>
                  <a:prstClr val="black"/>
                </a:solidFill>
                <a:latin typeface="Consolas" panose="020B0609020204030204" pitchFamily="49" charset="0"/>
                <a:ea typeface="新細明體" panose="02020500000000000000" pitchFamily="18" charset="-120"/>
              </a:rPr>
              <a:t>tm_map</a:t>
            </a:r>
            <a:r>
              <a:rPr lang="en-US" altLang="zh-TW" dirty="0">
                <a:solidFill>
                  <a:prstClr val="black"/>
                </a:solidFill>
                <a:latin typeface="Consolas" panose="020B0609020204030204" pitchFamily="49" charset="0"/>
                <a:ea typeface="新細明體" panose="02020500000000000000" pitchFamily="18" charset="-120"/>
              </a:rPr>
              <a:t>(x1, </a:t>
            </a:r>
            <a:r>
              <a:rPr lang="en-US" altLang="zh-TW" dirty="0" err="1">
                <a:solidFill>
                  <a:prstClr val="black"/>
                </a:solidFill>
                <a:latin typeface="Consolas" panose="020B0609020204030204" pitchFamily="49" charset="0"/>
                <a:ea typeface="新細明體" panose="02020500000000000000" pitchFamily="18" charset="-120"/>
              </a:rPr>
              <a:t>removeWords</a:t>
            </a:r>
            <a:r>
              <a:rPr lang="en-US" altLang="zh-TW" dirty="0">
                <a:solidFill>
                  <a:prstClr val="black"/>
                </a:solidFill>
                <a:latin typeface="Consolas" panose="020B0609020204030204" pitchFamily="49" charset="0"/>
                <a:ea typeface="新細明體" panose="02020500000000000000" pitchFamily="18" charset="-120"/>
              </a:rPr>
              <a:t>, </a:t>
            </a:r>
            <a:r>
              <a:rPr lang="en-US" altLang="zh-TW" dirty="0" err="1">
                <a:solidFill>
                  <a:prstClr val="black"/>
                </a:solidFill>
                <a:latin typeface="Consolas" panose="020B0609020204030204" pitchFamily="49" charset="0"/>
                <a:ea typeface="新細明體" panose="02020500000000000000" pitchFamily="18" charset="-120"/>
              </a:rPr>
              <a:t>stopwords</a:t>
            </a:r>
            <a:r>
              <a:rPr lang="en-US" altLang="zh-TW" dirty="0" smtClean="0">
                <a:solidFill>
                  <a:prstClr val="black"/>
                </a:solidFill>
                <a:latin typeface="Consolas" panose="020B0609020204030204" pitchFamily="49" charset="0"/>
                <a:ea typeface="新細明體" panose="02020500000000000000" pitchFamily="18" charset="-120"/>
              </a:rPr>
              <a:t>(“</a:t>
            </a:r>
            <a:r>
              <a:rPr lang="en-US" altLang="zh-TW" dirty="0">
                <a:solidFill>
                  <a:prstClr val="black"/>
                </a:solidFill>
                <a:latin typeface="Consolas" panose="020B0609020204030204" pitchFamily="49" charset="0"/>
                <a:ea typeface="新細明體" panose="02020500000000000000" pitchFamily="18" charset="-120"/>
              </a:rPr>
              <a:t>E</a:t>
            </a:r>
            <a:r>
              <a:rPr lang="en-US" altLang="zh-TW" dirty="0" smtClean="0">
                <a:solidFill>
                  <a:prstClr val="black"/>
                </a:solidFill>
                <a:latin typeface="Consolas" panose="020B0609020204030204" pitchFamily="49" charset="0"/>
                <a:ea typeface="新細明體" panose="02020500000000000000" pitchFamily="18" charset="-120"/>
              </a:rPr>
              <a:t>nglish”))</a:t>
            </a:r>
            <a:endParaRPr lang="zh-TW" altLang="en-US" dirty="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x1 </a:t>
            </a:r>
            <a:r>
              <a:rPr lang="en-US" altLang="zh-TW" dirty="0">
                <a:solidFill>
                  <a:prstClr val="black"/>
                </a:solidFill>
                <a:latin typeface="Consolas" panose="020B0609020204030204" pitchFamily="49" charset="0"/>
                <a:ea typeface="新細明體" panose="02020500000000000000" pitchFamily="18" charset="-120"/>
              </a:rPr>
              <a:t>&lt;- </a:t>
            </a:r>
            <a:r>
              <a:rPr lang="en-US" altLang="zh-TW" dirty="0" err="1">
                <a:solidFill>
                  <a:prstClr val="black"/>
                </a:solidFill>
                <a:latin typeface="Consolas" panose="020B0609020204030204" pitchFamily="49" charset="0"/>
                <a:ea typeface="新細明體" panose="02020500000000000000" pitchFamily="18" charset="-120"/>
              </a:rPr>
              <a:t>tm_map</a:t>
            </a:r>
            <a:r>
              <a:rPr lang="en-US" altLang="zh-TW" dirty="0">
                <a:solidFill>
                  <a:prstClr val="black"/>
                </a:solidFill>
                <a:latin typeface="Consolas" panose="020B0609020204030204" pitchFamily="49" charset="0"/>
                <a:ea typeface="新細明體" panose="02020500000000000000" pitchFamily="18" charset="-120"/>
              </a:rPr>
              <a:t>(x1, </a:t>
            </a:r>
            <a:r>
              <a:rPr lang="en-US" altLang="zh-TW" dirty="0" err="1">
                <a:solidFill>
                  <a:prstClr val="black"/>
                </a:solidFill>
                <a:latin typeface="Consolas" panose="020B0609020204030204" pitchFamily="49" charset="0"/>
                <a:ea typeface="新細明體" panose="02020500000000000000" pitchFamily="18" charset="-120"/>
              </a:rPr>
              <a:t>removePunctuation</a:t>
            </a:r>
            <a:r>
              <a:rPr lang="en-US" altLang="zh-TW" dirty="0" smtClean="0">
                <a:solidFill>
                  <a:prstClr val="black"/>
                </a:solidFill>
                <a:latin typeface="Consolas" panose="020B0609020204030204" pitchFamily="49" charset="0"/>
                <a:ea typeface="新細明體" panose="02020500000000000000" pitchFamily="18" charset="-120"/>
              </a:rPr>
              <a:t>)</a:t>
            </a:r>
            <a:endParaRPr lang="zh-TW" altLang="en-US" dirty="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x1 &lt;- </a:t>
            </a:r>
            <a:r>
              <a:rPr lang="en-US" altLang="zh-TW" dirty="0" err="1">
                <a:solidFill>
                  <a:prstClr val="black"/>
                </a:solidFill>
                <a:latin typeface="Consolas" panose="020B0609020204030204" pitchFamily="49" charset="0"/>
                <a:ea typeface="新細明體" panose="02020500000000000000" pitchFamily="18" charset="-120"/>
              </a:rPr>
              <a:t>tm_map</a:t>
            </a:r>
            <a:r>
              <a:rPr lang="en-US" altLang="zh-TW" dirty="0">
                <a:solidFill>
                  <a:prstClr val="black"/>
                </a:solidFill>
                <a:latin typeface="Consolas" panose="020B0609020204030204" pitchFamily="49" charset="0"/>
                <a:ea typeface="新細明體" panose="02020500000000000000" pitchFamily="18" charset="-120"/>
              </a:rPr>
              <a:t>(x1, </a:t>
            </a:r>
            <a:r>
              <a:rPr lang="en-US" altLang="zh-TW" dirty="0" err="1" smtClean="0">
                <a:solidFill>
                  <a:prstClr val="black"/>
                </a:solidFill>
                <a:latin typeface="Consolas" panose="020B0609020204030204" pitchFamily="49" charset="0"/>
                <a:ea typeface="新細明體" panose="02020500000000000000" pitchFamily="18" charset="-120"/>
              </a:rPr>
              <a:t>stripWhitespace</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x2 </a:t>
            </a:r>
            <a:r>
              <a:rPr lang="en-US" altLang="zh-TW" dirty="0">
                <a:solidFill>
                  <a:prstClr val="black"/>
                </a:solidFill>
                <a:latin typeface="Consolas" panose="020B0609020204030204" pitchFamily="49" charset="0"/>
                <a:ea typeface="新細明體" panose="02020500000000000000" pitchFamily="18" charset="-120"/>
              </a:rPr>
              <a:t>&lt;- </a:t>
            </a:r>
            <a:r>
              <a:rPr lang="en-US" altLang="zh-TW" dirty="0" err="1">
                <a:solidFill>
                  <a:prstClr val="black"/>
                </a:solidFill>
                <a:latin typeface="Consolas" panose="020B0609020204030204" pitchFamily="49" charset="0"/>
                <a:ea typeface="新細明體" panose="02020500000000000000" pitchFamily="18" charset="-120"/>
              </a:rPr>
              <a:t>TermDocumentMatrix</a:t>
            </a:r>
            <a:r>
              <a:rPr lang="en-US" altLang="zh-TW" dirty="0">
                <a:solidFill>
                  <a:prstClr val="black"/>
                </a:solidFill>
                <a:latin typeface="Consolas" panose="020B0609020204030204" pitchFamily="49" charset="0"/>
                <a:ea typeface="新細明體" panose="02020500000000000000" pitchFamily="18" charset="-120"/>
              </a:rPr>
              <a:t>(x1</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endParaRPr lang="en-US" altLang="zh-TW" dirty="0">
              <a:solidFill>
                <a:prstClr val="black"/>
              </a:solidFill>
              <a:latin typeface="Consolas" panose="020B0609020204030204" pitchFamily="49" charset="0"/>
              <a:ea typeface="新細明體" panose="02020500000000000000" pitchFamily="18" charset="-120"/>
            </a:endParaRPr>
          </a:p>
        </p:txBody>
      </p:sp>
      <p:sp>
        <p:nvSpPr>
          <p:cNvPr id="16" name="矩形 9"/>
          <p:cNvSpPr>
            <a:spLocks noChangeArrowheads="1"/>
          </p:cNvSpPr>
          <p:nvPr/>
        </p:nvSpPr>
        <p:spPr bwMode="auto">
          <a:xfrm>
            <a:off x="447676" y="669238"/>
            <a:ext cx="3836300"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3669859"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smtClean="0"/>
              <a:t>安裝及加載套件包 </a:t>
            </a:r>
            <a:endParaRPr lang="zh-TW" altLang="en-US" dirty="0"/>
          </a:p>
        </p:txBody>
      </p:sp>
      <p:sp>
        <p:nvSpPr>
          <p:cNvPr id="11" name="矩形 7"/>
          <p:cNvSpPr>
            <a:spLocks noChangeArrowheads="1"/>
          </p:cNvSpPr>
          <p:nvPr/>
        </p:nvSpPr>
        <p:spPr bwMode="auto">
          <a:xfrm>
            <a:off x="7524750" y="1991552"/>
            <a:ext cx="1267089" cy="345031"/>
          </a:xfrm>
          <a:prstGeom prst="rect">
            <a:avLst/>
          </a:prstGeom>
          <a:solidFill>
            <a:srgbClr val="FFC000"/>
          </a:solidFill>
          <a:ln>
            <a:noFill/>
          </a:ln>
          <a:extLst/>
        </p:spPr>
        <p:txBody>
          <a:bodyPr anchor="ctr"/>
          <a:lstStyle/>
          <a:p>
            <a:pPr latinLnBrk="1"/>
            <a:r>
              <a:rPr lang="en-US" altLang="zh-TW" sz="1600" dirty="0" smtClean="0"/>
              <a:t>#</a:t>
            </a:r>
            <a:r>
              <a:rPr lang="zh-TW" altLang="en-US" sz="1600" dirty="0" smtClean="0"/>
              <a:t>轉成小寫</a:t>
            </a:r>
            <a:endParaRPr lang="zh-TW" altLang="zh-TW" sz="1600" dirty="0"/>
          </a:p>
        </p:txBody>
      </p:sp>
      <p:sp>
        <p:nvSpPr>
          <p:cNvPr id="12" name="矩形 7"/>
          <p:cNvSpPr>
            <a:spLocks noChangeArrowheads="1"/>
          </p:cNvSpPr>
          <p:nvPr/>
        </p:nvSpPr>
        <p:spPr bwMode="auto">
          <a:xfrm>
            <a:off x="7524749" y="2384599"/>
            <a:ext cx="1267089" cy="351846"/>
          </a:xfrm>
          <a:prstGeom prst="rect">
            <a:avLst/>
          </a:prstGeom>
          <a:solidFill>
            <a:srgbClr val="FFC000"/>
          </a:solidFill>
          <a:ln>
            <a:noFill/>
          </a:ln>
          <a:extLst/>
        </p:spPr>
        <p:txBody>
          <a:bodyPr anchor="ctr"/>
          <a:lstStyle/>
          <a:p>
            <a:pPr latinLnBrk="1"/>
            <a:r>
              <a:rPr lang="en-US" altLang="zh-TW" sz="1600" dirty="0" smtClean="0"/>
              <a:t>#</a:t>
            </a:r>
            <a:r>
              <a:rPr lang="zh-TW" altLang="en-US" sz="1600" dirty="0" smtClean="0"/>
              <a:t>移除數字</a:t>
            </a:r>
            <a:endParaRPr lang="zh-TW" altLang="zh-TW" sz="1600" dirty="0"/>
          </a:p>
        </p:txBody>
      </p:sp>
      <p:sp>
        <p:nvSpPr>
          <p:cNvPr id="13" name="矩形 7"/>
          <p:cNvSpPr>
            <a:spLocks noChangeArrowheads="1"/>
          </p:cNvSpPr>
          <p:nvPr/>
        </p:nvSpPr>
        <p:spPr bwMode="auto">
          <a:xfrm>
            <a:off x="6355705" y="3007182"/>
            <a:ext cx="2467381" cy="354615"/>
          </a:xfrm>
          <a:prstGeom prst="rect">
            <a:avLst/>
          </a:prstGeom>
          <a:solidFill>
            <a:srgbClr val="FFC000"/>
          </a:solidFill>
          <a:ln>
            <a:noFill/>
          </a:ln>
          <a:extLst/>
        </p:spPr>
        <p:txBody>
          <a:bodyPr anchor="ctr"/>
          <a:lstStyle/>
          <a:p>
            <a:pPr latinLnBrk="1"/>
            <a:r>
              <a:rPr lang="en-US" altLang="zh-TW" sz="1600" dirty="0" smtClean="0"/>
              <a:t>#</a:t>
            </a:r>
            <a:r>
              <a:rPr lang="zh-TW" altLang="en-US" sz="1600" dirty="0"/>
              <a:t>去除英文常用的停用詞</a:t>
            </a:r>
          </a:p>
        </p:txBody>
      </p:sp>
      <p:sp>
        <p:nvSpPr>
          <p:cNvPr id="14" name="矩形 7"/>
          <p:cNvSpPr>
            <a:spLocks noChangeArrowheads="1"/>
          </p:cNvSpPr>
          <p:nvPr/>
        </p:nvSpPr>
        <p:spPr bwMode="auto">
          <a:xfrm>
            <a:off x="7230897" y="3467108"/>
            <a:ext cx="1592189" cy="360389"/>
          </a:xfrm>
          <a:prstGeom prst="rect">
            <a:avLst/>
          </a:prstGeom>
          <a:solidFill>
            <a:srgbClr val="FFC000"/>
          </a:solidFill>
          <a:ln>
            <a:noFill/>
          </a:ln>
          <a:extLst/>
        </p:spPr>
        <p:txBody>
          <a:bodyPr anchor="ctr"/>
          <a:lstStyle/>
          <a:p>
            <a:pPr latinLnBrk="1"/>
            <a:r>
              <a:rPr lang="en-US" altLang="zh-TW" sz="1600" dirty="0" smtClean="0"/>
              <a:t>#</a:t>
            </a:r>
            <a:r>
              <a:rPr lang="zh-TW" altLang="en-US" sz="1600" dirty="0">
                <a:solidFill>
                  <a:prstClr val="black"/>
                </a:solidFill>
                <a:latin typeface="Consolas" panose="020B0609020204030204" pitchFamily="49" charset="0"/>
                <a:ea typeface="新細明體" panose="02020500000000000000" pitchFamily="18" charset="-120"/>
              </a:rPr>
              <a:t>去除標點符號</a:t>
            </a:r>
            <a:endParaRPr lang="zh-TW" altLang="en-US" sz="1600" dirty="0"/>
          </a:p>
        </p:txBody>
      </p:sp>
      <p:sp>
        <p:nvSpPr>
          <p:cNvPr id="17" name="矩形 7"/>
          <p:cNvSpPr>
            <a:spLocks noChangeArrowheads="1"/>
          </p:cNvSpPr>
          <p:nvPr/>
        </p:nvSpPr>
        <p:spPr bwMode="auto">
          <a:xfrm>
            <a:off x="7230897" y="3932808"/>
            <a:ext cx="1592189" cy="360389"/>
          </a:xfrm>
          <a:prstGeom prst="rect">
            <a:avLst/>
          </a:prstGeom>
          <a:solidFill>
            <a:srgbClr val="FFC000"/>
          </a:solidFill>
          <a:ln>
            <a:noFill/>
          </a:ln>
          <a:extLst/>
        </p:spPr>
        <p:txBody>
          <a:bodyPr anchor="ctr"/>
          <a:lstStyle/>
          <a:p>
            <a:pPr latinLnBrk="1"/>
            <a:r>
              <a:rPr lang="en-US" altLang="zh-TW" sz="1600" dirty="0" smtClean="0"/>
              <a:t>#</a:t>
            </a:r>
            <a:r>
              <a:rPr lang="zh-TW" altLang="en-US" sz="1600" dirty="0">
                <a:solidFill>
                  <a:prstClr val="black"/>
                </a:solidFill>
                <a:latin typeface="Consolas" panose="020B0609020204030204" pitchFamily="49" charset="0"/>
                <a:ea typeface="新細明體" panose="02020500000000000000" pitchFamily="18" charset="-120"/>
              </a:rPr>
              <a:t>去除多餘空格</a:t>
            </a:r>
            <a:endParaRPr lang="zh-TW" altLang="en-US" sz="1600" dirty="0"/>
          </a:p>
        </p:txBody>
      </p:sp>
      <p:sp>
        <p:nvSpPr>
          <p:cNvPr id="18" name="矩形 7"/>
          <p:cNvSpPr>
            <a:spLocks noChangeArrowheads="1"/>
          </p:cNvSpPr>
          <p:nvPr/>
        </p:nvSpPr>
        <p:spPr bwMode="auto">
          <a:xfrm>
            <a:off x="494046" y="4439261"/>
            <a:ext cx="8329040" cy="541703"/>
          </a:xfrm>
          <a:prstGeom prst="rect">
            <a:avLst/>
          </a:prstGeom>
          <a:solidFill>
            <a:srgbClr val="FFC000"/>
          </a:solidFill>
          <a:ln>
            <a:noFill/>
          </a:ln>
          <a:extLst/>
        </p:spPr>
        <p:txBody>
          <a:bodyPr anchor="ctr"/>
          <a:lstStyle/>
          <a:p>
            <a:pPr lvl="0" fontAlgn="auto">
              <a:spcBef>
                <a:spcPts val="0"/>
              </a:spcBef>
              <a:spcAft>
                <a:spcPts val="0"/>
              </a:spcAft>
            </a:pPr>
            <a:r>
              <a:rPr lang="en-US" altLang="zh-TW" sz="1600" dirty="0" smtClean="0"/>
              <a:t>#</a:t>
            </a:r>
            <a:r>
              <a:rPr lang="zh-TW" altLang="en-US" sz="1600" dirty="0" smtClean="0">
                <a:solidFill>
                  <a:prstClr val="black"/>
                </a:solidFill>
                <a:latin typeface="Consolas" panose="020B0609020204030204" pitchFamily="49" charset="0"/>
                <a:ea typeface="新細明體" panose="02020500000000000000" pitchFamily="18" charset="-120"/>
              </a:rPr>
              <a:t>矩陣</a:t>
            </a:r>
            <a:r>
              <a:rPr lang="zh-TW" altLang="en-US" sz="1600" dirty="0">
                <a:solidFill>
                  <a:prstClr val="black"/>
                </a:solidFill>
                <a:latin typeface="Consolas" panose="020B0609020204030204" pitchFamily="49" charset="0"/>
                <a:ea typeface="新細明體" panose="02020500000000000000" pitchFamily="18" charset="-120"/>
              </a:rPr>
              <a:t>中的數值對應的是每個文件下每個單詞出現的詞頻，此即為將文章以關鍵字為欄，字詞出現次數為列的資料型態。</a:t>
            </a:r>
          </a:p>
        </p:txBody>
      </p:sp>
      <p:grpSp>
        <p:nvGrpSpPr>
          <p:cNvPr id="19" name="组合 1"/>
          <p:cNvGrpSpPr>
            <a:grpSpLocks/>
          </p:cNvGrpSpPr>
          <p:nvPr/>
        </p:nvGrpSpPr>
        <p:grpSpPr bwMode="auto">
          <a:xfrm>
            <a:off x="5502988" y="189464"/>
            <a:ext cx="3816350" cy="406400"/>
            <a:chOff x="0" y="0"/>
            <a:chExt cx="3816672" cy="405750"/>
          </a:xfrm>
        </p:grpSpPr>
        <p:sp>
          <p:nvSpPr>
            <p:cNvPr id="20"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smtClean="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2"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1999976595"/>
      </p:ext>
    </p:extLst>
  </p:cSld>
  <p:clrMapOvr>
    <a:masterClrMapping/>
  </p:clrMapOvr>
  <p:transition spd="slow">
    <p:push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grpSp>
        <p:nvGrpSpPr>
          <p:cNvPr id="11267" name="组合 1"/>
          <p:cNvGrpSpPr>
            <a:grpSpLocks/>
          </p:cNvGrpSpPr>
          <p:nvPr/>
        </p:nvGrpSpPr>
        <p:grpSpPr bwMode="auto">
          <a:xfrm>
            <a:off x="5508078" y="224969"/>
            <a:ext cx="3816350" cy="406400"/>
            <a:chOff x="0" y="0"/>
            <a:chExt cx="3816672" cy="405750"/>
          </a:xfrm>
        </p:grpSpPr>
        <p:sp>
          <p:nvSpPr>
            <p:cNvPr id="11268"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1270"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3" name="矩形 22"/>
          <p:cNvSpPr/>
          <p:nvPr/>
        </p:nvSpPr>
        <p:spPr>
          <a:xfrm>
            <a:off x="457844" y="1423443"/>
            <a:ext cx="8218497" cy="19403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m &lt;- </a:t>
            </a:r>
            <a:r>
              <a:rPr lang="en-US" altLang="zh-TW" dirty="0" err="1">
                <a:solidFill>
                  <a:prstClr val="black"/>
                </a:solidFill>
                <a:latin typeface="Consolas" panose="020B0609020204030204" pitchFamily="49" charset="0"/>
                <a:ea typeface="新細明體" panose="02020500000000000000" pitchFamily="18" charset="-120"/>
              </a:rPr>
              <a:t>as.matrix</a:t>
            </a:r>
            <a:r>
              <a:rPr lang="en-US" altLang="zh-TW" dirty="0">
                <a:solidFill>
                  <a:prstClr val="black"/>
                </a:solidFill>
                <a:latin typeface="Consolas" panose="020B0609020204030204" pitchFamily="49" charset="0"/>
                <a:ea typeface="新細明體" panose="02020500000000000000" pitchFamily="18" charset="-120"/>
              </a:rPr>
              <a:t>(x2</a:t>
            </a:r>
            <a:r>
              <a:rPr lang="en-US" altLang="zh-TW" dirty="0" smtClean="0">
                <a:solidFill>
                  <a:prstClr val="black"/>
                </a:solidFill>
                <a:latin typeface="Consolas" panose="020B0609020204030204" pitchFamily="49" charset="0"/>
                <a:ea typeface="新細明體" panose="02020500000000000000" pitchFamily="18" charset="-120"/>
              </a:rPr>
              <a:t>)</a:t>
            </a: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n </a:t>
            </a:r>
            <a:r>
              <a:rPr lang="en-US" altLang="zh-TW" dirty="0">
                <a:solidFill>
                  <a:prstClr val="black"/>
                </a:solidFill>
                <a:latin typeface="Consolas" panose="020B0609020204030204" pitchFamily="49" charset="0"/>
                <a:ea typeface="新細明體" panose="02020500000000000000" pitchFamily="18" charset="-120"/>
              </a:rPr>
              <a:t>&lt;- sort(</a:t>
            </a:r>
            <a:r>
              <a:rPr lang="en-US" altLang="zh-TW" dirty="0" err="1">
                <a:solidFill>
                  <a:prstClr val="black"/>
                </a:solidFill>
                <a:latin typeface="Consolas" panose="020B0609020204030204" pitchFamily="49" charset="0"/>
                <a:ea typeface="新細明體" panose="02020500000000000000" pitchFamily="18" charset="-120"/>
              </a:rPr>
              <a:t>rowSums</a:t>
            </a:r>
            <a:r>
              <a:rPr lang="en-US" altLang="zh-TW" dirty="0">
                <a:solidFill>
                  <a:prstClr val="black"/>
                </a:solidFill>
                <a:latin typeface="Consolas" panose="020B0609020204030204" pitchFamily="49" charset="0"/>
                <a:ea typeface="新細明體" panose="02020500000000000000" pitchFamily="18" charset="-120"/>
              </a:rPr>
              <a:t>(m),</a:t>
            </a:r>
            <a:r>
              <a:rPr lang="en-US" altLang="zh-TW" dirty="0" smtClean="0">
                <a:solidFill>
                  <a:prstClr val="black"/>
                </a:solidFill>
                <a:latin typeface="Consolas" panose="020B0609020204030204" pitchFamily="49" charset="0"/>
                <a:ea typeface="新細明體" panose="02020500000000000000" pitchFamily="18" charset="-120"/>
              </a:rPr>
              <a:t>decreasing=TRUE)</a:t>
            </a: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endParaRPr lang="en-US" altLang="zh-TW" dirty="0">
              <a:solidFill>
                <a:prstClr val="black"/>
              </a:solidFill>
              <a:latin typeface="Consolas" panose="020B0609020204030204" pitchFamily="49" charset="0"/>
              <a:ea typeface="新細明體" panose="02020500000000000000" pitchFamily="18" charset="-120"/>
            </a:endParaRPr>
          </a:p>
          <a:p>
            <a:pPr lvl="0" fontAlgn="auto">
              <a:spcBef>
                <a:spcPts val="0"/>
              </a:spcBef>
              <a:spcAft>
                <a:spcPts val="0"/>
              </a:spcAft>
            </a:pPr>
            <a:r>
              <a:rPr lang="en-US" altLang="zh-TW" dirty="0" smtClean="0">
                <a:solidFill>
                  <a:prstClr val="black"/>
                </a:solidFill>
                <a:latin typeface="Consolas" panose="020B0609020204030204" pitchFamily="49" charset="0"/>
                <a:ea typeface="新細明體" panose="02020500000000000000" pitchFamily="18" charset="-120"/>
              </a:rPr>
              <a:t>v &lt;-</a:t>
            </a:r>
            <a:r>
              <a:rPr lang="en-US" altLang="zh-TW" dirty="0">
                <a:solidFill>
                  <a:prstClr val="black"/>
                </a:solidFill>
                <a:latin typeface="Consolas" panose="020B0609020204030204" pitchFamily="49" charset="0"/>
                <a:ea typeface="新細明體" panose="02020500000000000000" pitchFamily="18" charset="-120"/>
              </a:rPr>
              <a:t>sort(</a:t>
            </a:r>
            <a:r>
              <a:rPr lang="en-US" altLang="zh-TW" dirty="0" err="1">
                <a:solidFill>
                  <a:prstClr val="black"/>
                </a:solidFill>
                <a:latin typeface="Consolas" panose="020B0609020204030204" pitchFamily="49" charset="0"/>
                <a:ea typeface="新細明體" panose="02020500000000000000" pitchFamily="18" charset="-120"/>
              </a:rPr>
              <a:t>rowSums</a:t>
            </a:r>
            <a:r>
              <a:rPr lang="en-US" altLang="zh-TW" dirty="0">
                <a:solidFill>
                  <a:prstClr val="black"/>
                </a:solidFill>
                <a:latin typeface="Consolas" panose="020B0609020204030204" pitchFamily="49" charset="0"/>
                <a:ea typeface="新細明體" panose="02020500000000000000" pitchFamily="18" charset="-120"/>
              </a:rPr>
              <a:t>(m),decreasing=TRUE)</a:t>
            </a:r>
          </a:p>
          <a:p>
            <a:pPr lvl="0" fontAlgn="auto">
              <a:spcBef>
                <a:spcPts val="0"/>
              </a:spcBef>
              <a:spcAft>
                <a:spcPts val="0"/>
              </a:spcAft>
            </a:pPr>
            <a:r>
              <a:rPr lang="en-US" altLang="zh-TW" dirty="0">
                <a:solidFill>
                  <a:prstClr val="black"/>
                </a:solidFill>
                <a:latin typeface="Consolas" panose="020B0609020204030204" pitchFamily="49" charset="0"/>
                <a:ea typeface="新細明體" panose="02020500000000000000" pitchFamily="18" charset="-120"/>
              </a:rPr>
              <a:t>d &lt;- </a:t>
            </a:r>
            <a:r>
              <a:rPr lang="en-US" altLang="zh-TW" dirty="0" err="1">
                <a:solidFill>
                  <a:prstClr val="black"/>
                </a:solidFill>
                <a:latin typeface="Consolas" panose="020B0609020204030204" pitchFamily="49" charset="0"/>
                <a:ea typeface="新細明體" panose="02020500000000000000" pitchFamily="18" charset="-120"/>
              </a:rPr>
              <a:t>data.frame</a:t>
            </a:r>
            <a:r>
              <a:rPr lang="en-US" altLang="zh-TW" dirty="0">
                <a:solidFill>
                  <a:prstClr val="black"/>
                </a:solidFill>
                <a:latin typeface="Consolas" panose="020B0609020204030204" pitchFamily="49" charset="0"/>
                <a:ea typeface="新細明體" panose="02020500000000000000" pitchFamily="18" charset="-120"/>
              </a:rPr>
              <a:t>(word = names(v),</a:t>
            </a:r>
            <a:r>
              <a:rPr lang="en-US" altLang="zh-TW" dirty="0" err="1">
                <a:solidFill>
                  <a:prstClr val="black"/>
                </a:solidFill>
                <a:latin typeface="Consolas" panose="020B0609020204030204" pitchFamily="49" charset="0"/>
                <a:ea typeface="新細明體" panose="02020500000000000000" pitchFamily="18" charset="-120"/>
              </a:rPr>
              <a:t>freq</a:t>
            </a:r>
            <a:r>
              <a:rPr lang="en-US" altLang="zh-TW" dirty="0">
                <a:solidFill>
                  <a:prstClr val="black"/>
                </a:solidFill>
                <a:latin typeface="Consolas" panose="020B0609020204030204" pitchFamily="49" charset="0"/>
                <a:ea typeface="新細明體" panose="02020500000000000000" pitchFamily="18" charset="-120"/>
              </a:rPr>
              <a:t>=v)</a:t>
            </a:r>
          </a:p>
        </p:txBody>
      </p:sp>
      <p:sp>
        <p:nvSpPr>
          <p:cNvPr id="16" name="矩形 9"/>
          <p:cNvSpPr>
            <a:spLocks noChangeArrowheads="1"/>
          </p:cNvSpPr>
          <p:nvPr/>
        </p:nvSpPr>
        <p:spPr bwMode="auto">
          <a:xfrm>
            <a:off x="447676" y="669238"/>
            <a:ext cx="3836300" cy="648894"/>
          </a:xfrm>
          <a:prstGeom prst="rect">
            <a:avLst/>
          </a:prstGeom>
          <a:solidFill>
            <a:schemeClr val="bg2">
              <a:lumMod val="90000"/>
            </a:schemeClr>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5" name="矩形 7"/>
          <p:cNvSpPr>
            <a:spLocks noChangeArrowheads="1"/>
          </p:cNvSpPr>
          <p:nvPr/>
        </p:nvSpPr>
        <p:spPr bwMode="auto">
          <a:xfrm>
            <a:off x="542111" y="746430"/>
            <a:ext cx="3669859" cy="504858"/>
          </a:xfrm>
          <a:prstGeom prst="rect">
            <a:avLst/>
          </a:prstGeom>
          <a:solidFill>
            <a:srgbClr val="05AFC8"/>
          </a:solidFill>
          <a:ln>
            <a:noFill/>
          </a:ln>
          <a:extLst>
            <a:ext uri="{91240B29-F687-4F45-9708-019B960494DF}">
              <a14:hiddenLine xmlns:a14="http://schemas.microsoft.com/office/drawing/2010/main" w="101600" cap="flat" cmpd="sng">
                <a:solidFill>
                  <a:srgbClr val="395E8A"/>
                </a:solidFill>
                <a:bevel/>
                <a:headEnd/>
                <a:tailEnd/>
              </a14:hiddenLine>
            </a:ext>
          </a:extLst>
        </p:spPr>
        <p:txBody>
          <a:bodyPr anchor="ctr"/>
          <a:lstStyle/>
          <a:p>
            <a:pPr latinLnBrk="1"/>
            <a:r>
              <a:rPr lang="zh-TW" altLang="en-US" dirty="0" smtClean="0"/>
              <a:t>安裝及加載套件包 </a:t>
            </a:r>
            <a:endParaRPr lang="zh-TW" altLang="en-US" dirty="0"/>
          </a:p>
        </p:txBody>
      </p:sp>
      <p:sp>
        <p:nvSpPr>
          <p:cNvPr id="11" name="矩形 7"/>
          <p:cNvSpPr>
            <a:spLocks noChangeArrowheads="1"/>
          </p:cNvSpPr>
          <p:nvPr/>
        </p:nvSpPr>
        <p:spPr bwMode="auto">
          <a:xfrm>
            <a:off x="5796102" y="1466827"/>
            <a:ext cx="2995737" cy="345031"/>
          </a:xfrm>
          <a:prstGeom prst="rect">
            <a:avLst/>
          </a:prstGeom>
          <a:solidFill>
            <a:srgbClr val="FFC000"/>
          </a:solidFill>
          <a:ln>
            <a:noFill/>
          </a:ln>
          <a:extLst/>
        </p:spPr>
        <p:txBody>
          <a:bodyPr anchor="ctr"/>
          <a:lstStyle/>
          <a:p>
            <a:pPr lvl="0" fontAlgn="auto">
              <a:spcBef>
                <a:spcPts val="0"/>
              </a:spcBef>
              <a:spcAft>
                <a:spcPts val="0"/>
              </a:spcAft>
            </a:pPr>
            <a:r>
              <a:rPr lang="en-US" altLang="zh-TW" sz="1600" dirty="0" smtClean="0"/>
              <a:t>#</a:t>
            </a:r>
            <a:r>
              <a:rPr lang="zh-TW" altLang="en-US" sz="1600" dirty="0">
                <a:solidFill>
                  <a:prstClr val="black"/>
                </a:solidFill>
                <a:latin typeface="Consolas" panose="020B0609020204030204" pitchFamily="49" charset="0"/>
                <a:ea typeface="新細明體" panose="02020500000000000000" pitchFamily="18" charset="-120"/>
              </a:rPr>
              <a:t>轉換成 </a:t>
            </a:r>
            <a:r>
              <a:rPr lang="en-US" altLang="zh-TW" sz="1600" dirty="0">
                <a:solidFill>
                  <a:prstClr val="black"/>
                </a:solidFill>
                <a:latin typeface="Consolas" panose="020B0609020204030204" pitchFamily="49" charset="0"/>
                <a:ea typeface="新細明體" panose="02020500000000000000" pitchFamily="18" charset="-120"/>
              </a:rPr>
              <a:t>R </a:t>
            </a:r>
            <a:r>
              <a:rPr lang="zh-TW" altLang="en-US" sz="1600" dirty="0">
                <a:solidFill>
                  <a:prstClr val="black"/>
                </a:solidFill>
                <a:latin typeface="Consolas" panose="020B0609020204030204" pitchFamily="49" charset="0"/>
                <a:ea typeface="新細明體" panose="02020500000000000000" pitchFamily="18" charset="-120"/>
              </a:rPr>
              <a:t>最常見的矩陣</a:t>
            </a:r>
          </a:p>
        </p:txBody>
      </p:sp>
      <p:sp>
        <p:nvSpPr>
          <p:cNvPr id="12" name="矩形 7"/>
          <p:cNvSpPr>
            <a:spLocks noChangeArrowheads="1"/>
          </p:cNvSpPr>
          <p:nvPr/>
        </p:nvSpPr>
        <p:spPr bwMode="auto">
          <a:xfrm>
            <a:off x="3059875" y="2104215"/>
            <a:ext cx="5731964" cy="400775"/>
          </a:xfrm>
          <a:prstGeom prst="rect">
            <a:avLst/>
          </a:prstGeom>
          <a:solidFill>
            <a:srgbClr val="FFC000"/>
          </a:solidFill>
          <a:ln>
            <a:noFill/>
          </a:ln>
          <a:extLst/>
        </p:spPr>
        <p:txBody>
          <a:bodyPr anchor="ctr"/>
          <a:lstStyle/>
          <a:p>
            <a:pPr lvl="0" fontAlgn="auto">
              <a:spcBef>
                <a:spcPts val="0"/>
              </a:spcBef>
              <a:spcAft>
                <a:spcPts val="0"/>
              </a:spcAft>
            </a:pPr>
            <a:r>
              <a:rPr lang="en-US" altLang="zh-TW" sz="1600" dirty="0" smtClean="0"/>
              <a:t>#</a:t>
            </a:r>
            <a:r>
              <a:rPr lang="zh-TW" altLang="en-US" sz="1600" dirty="0">
                <a:solidFill>
                  <a:prstClr val="black"/>
                </a:solidFill>
                <a:latin typeface="Consolas" panose="020B0609020204030204" pitchFamily="49" charset="0"/>
                <a:ea typeface="新細明體" panose="02020500000000000000" pitchFamily="18" charset="-120"/>
              </a:rPr>
              <a:t>查看單詞的出現次數，則可以計算每列詞頻的和，然後排序</a:t>
            </a:r>
          </a:p>
        </p:txBody>
      </p:sp>
    </p:spTree>
    <p:extLst>
      <p:ext uri="{BB962C8B-B14F-4D97-AF65-F5344CB8AC3E}">
        <p14:creationId xmlns:p14="http://schemas.microsoft.com/office/powerpoint/2010/main" val="1671831826"/>
      </p:ext>
    </p:extLst>
  </p:cSld>
  <p:clrMapOvr>
    <a:masterClrMapping/>
  </p:clrMapOvr>
  <p:transition spd="slow">
    <p:push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2" name="圓角矩形 1"/>
          <p:cNvSpPr/>
          <p:nvPr/>
        </p:nvSpPr>
        <p:spPr bwMode="auto">
          <a:xfrm>
            <a:off x="484586" y="1164274"/>
            <a:ext cx="8218497" cy="432036"/>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r>
              <a:rPr lang="en-US" altLang="zh-TW" dirty="0" smtClean="0">
                <a:solidFill>
                  <a:schemeClr val="bg1"/>
                </a:solidFill>
                <a:latin typeface="Consolas" panose="020B0609020204030204" pitchFamily="49" charset="0"/>
              </a:rPr>
              <a:t>&gt; </a:t>
            </a:r>
            <a:r>
              <a:rPr lang="zh-TW" altLang="en-US" dirty="0" smtClean="0">
                <a:solidFill>
                  <a:schemeClr val="bg1"/>
                </a:solidFill>
                <a:latin typeface="Consolas" panose="020B0609020204030204" pitchFamily="49" charset="0"/>
              </a:rPr>
              <a:t>head</a:t>
            </a:r>
            <a:r>
              <a:rPr lang="zh-TW" altLang="en-US" dirty="0">
                <a:solidFill>
                  <a:schemeClr val="bg1"/>
                </a:solidFill>
                <a:latin typeface="Consolas" panose="020B0609020204030204" pitchFamily="49" charset="0"/>
              </a:rPr>
              <a:t>(d, 10)</a:t>
            </a:r>
            <a:endParaRPr lang="en-US" altLang="zh-TW" dirty="0">
              <a:solidFill>
                <a:schemeClr val="bg1"/>
              </a:solidFill>
              <a:latin typeface="Consolas" panose="020B0609020204030204" pitchFamily="49" charset="0"/>
            </a:endParaRPr>
          </a:p>
        </p:txBody>
      </p:sp>
      <p:sp>
        <p:nvSpPr>
          <p:cNvPr id="20" name="矩形 19"/>
          <p:cNvSpPr/>
          <p:nvPr/>
        </p:nvSpPr>
        <p:spPr>
          <a:xfrm>
            <a:off x="1403736" y="1365437"/>
            <a:ext cx="6655272" cy="3508653"/>
          </a:xfrm>
          <a:prstGeom prst="rect">
            <a:avLst/>
          </a:prstGeom>
        </p:spPr>
        <p:txBody>
          <a:bodyPr wrap="square">
            <a:spAutoFit/>
          </a:bodyPr>
          <a:lstStyle/>
          <a:p>
            <a:endParaRPr lang="zh-TW" altLang="en-US" sz="2400" dirty="0" smtClean="0"/>
          </a:p>
          <a:p>
            <a:r>
              <a:rPr lang="zh-TW" altLang="en-US" dirty="0" smtClean="0">
                <a:latin typeface="Consolas" panose="020B0609020204030204" pitchFamily="49" charset="0"/>
              </a:rPr>
              <a:t>                    word            freq</a:t>
            </a:r>
          </a:p>
          <a:p>
            <a:r>
              <a:rPr lang="zh-TW" altLang="en-US" dirty="0" smtClean="0">
                <a:latin typeface="Consolas" panose="020B0609020204030204" pitchFamily="49" charset="0"/>
              </a:rPr>
              <a:t>ebay                ebay             188</a:t>
            </a:r>
          </a:p>
          <a:p>
            <a:r>
              <a:rPr lang="zh-TW" altLang="en-US" dirty="0" smtClean="0">
                <a:latin typeface="Consolas" panose="020B0609020204030204" pitchFamily="49" charset="0"/>
              </a:rPr>
              <a:t>icahn              icahn             117</a:t>
            </a:r>
          </a:p>
          <a:p>
            <a:r>
              <a:rPr lang="en-US" altLang="zh-TW" dirty="0" smtClean="0">
                <a:latin typeface="Consolas" panose="020B0609020204030204" pitchFamily="49" charset="0"/>
              </a:rPr>
              <a:t>P</a:t>
            </a:r>
            <a:r>
              <a:rPr lang="zh-TW" altLang="en-US" dirty="0" smtClean="0">
                <a:latin typeface="Consolas" panose="020B0609020204030204" pitchFamily="49" charset="0"/>
              </a:rPr>
              <a:t>ercent          percent              91</a:t>
            </a:r>
          </a:p>
          <a:p>
            <a:r>
              <a:rPr lang="zh-TW" altLang="en-US" dirty="0" smtClean="0">
                <a:latin typeface="Consolas" panose="020B0609020204030204" pitchFamily="49" charset="0"/>
              </a:rPr>
              <a:t>company          company              84</a:t>
            </a:r>
          </a:p>
          <a:p>
            <a:r>
              <a:rPr lang="zh-TW" altLang="en-US" dirty="0" smtClean="0">
                <a:latin typeface="Consolas" panose="020B0609020204030204" pitchFamily="49" charset="0"/>
              </a:rPr>
              <a:t>sales              sales              69</a:t>
            </a:r>
          </a:p>
          <a:p>
            <a:r>
              <a:rPr lang="zh-TW" altLang="en-US" dirty="0" smtClean="0">
                <a:latin typeface="Consolas" panose="020B0609020204030204" pitchFamily="49" charset="0"/>
              </a:rPr>
              <a:t>market            market              68</a:t>
            </a:r>
          </a:p>
          <a:p>
            <a:r>
              <a:rPr lang="zh-TW" altLang="en-US" dirty="0" smtClean="0">
                <a:latin typeface="Consolas" panose="020B0609020204030204" pitchFamily="49" charset="0"/>
              </a:rPr>
              <a:t>said                said              66</a:t>
            </a:r>
          </a:p>
          <a:p>
            <a:r>
              <a:rPr lang="zh-TW" altLang="en-US" dirty="0" smtClean="0">
                <a:latin typeface="Consolas" panose="020B0609020204030204" pitchFamily="49" charset="0"/>
              </a:rPr>
              <a:t>stocks            stocks              64</a:t>
            </a:r>
          </a:p>
          <a:p>
            <a:r>
              <a:rPr lang="zh-TW" altLang="en-US" dirty="0" smtClean="0">
                <a:latin typeface="Consolas" panose="020B0609020204030204" pitchFamily="49" charset="0"/>
              </a:rPr>
              <a:t>new                  new              62</a:t>
            </a:r>
          </a:p>
          <a:p>
            <a:r>
              <a:rPr lang="zh-TW" altLang="en-US" dirty="0" smtClean="0">
                <a:latin typeface="Consolas" panose="020B0609020204030204" pitchFamily="49" charset="0"/>
              </a:rPr>
              <a:t>billion          billion              61</a:t>
            </a:r>
            <a:endParaRPr lang="zh-TW" altLang="en-US" dirty="0">
              <a:latin typeface="Consolas" panose="020B0609020204030204" pitchFamily="49" charset="0"/>
            </a:endParaRPr>
          </a:p>
        </p:txBody>
      </p:sp>
      <p:grpSp>
        <p:nvGrpSpPr>
          <p:cNvPr id="22" name="组合 1"/>
          <p:cNvGrpSpPr>
            <a:grpSpLocks/>
          </p:cNvGrpSpPr>
          <p:nvPr/>
        </p:nvGrpSpPr>
        <p:grpSpPr bwMode="auto">
          <a:xfrm>
            <a:off x="5502988" y="189464"/>
            <a:ext cx="3816350" cy="406400"/>
            <a:chOff x="0" y="0"/>
            <a:chExt cx="3816672" cy="405750"/>
          </a:xfrm>
        </p:grpSpPr>
        <p:sp>
          <p:nvSpPr>
            <p:cNvPr id="24"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6"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2923592783"/>
      </p:ext>
    </p:extLst>
  </p:cSld>
  <p:clrMapOvr>
    <a:masterClrMapping/>
  </p:clrMapOvr>
  <p:transition spd="slow">
    <p:push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sp>
        <p:nvSpPr>
          <p:cNvPr id="8199" name="TextBox 5"/>
          <p:cNvSpPr>
            <a:spLocks noChangeArrowheads="1"/>
          </p:cNvSpPr>
          <p:nvPr/>
        </p:nvSpPr>
        <p:spPr bwMode="auto">
          <a:xfrm>
            <a:off x="7369175" y="-56560"/>
            <a:ext cx="15128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dist"/>
            <a:r>
              <a:rPr lang="en-US" sz="5400" b="1" dirty="0">
                <a:solidFill>
                  <a:srgbClr val="05AFC8"/>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FC000"/>
                </a:solidFill>
                <a:latin typeface="微软雅黑" pitchFamily="34" charset="-122"/>
                <a:ea typeface="微软雅黑" pitchFamily="34" charset="-122"/>
                <a:sym typeface="微软雅黑" pitchFamily="34" charset="-122"/>
              </a:rPr>
              <a:t>·</a:t>
            </a:r>
            <a:r>
              <a:rPr lang="en-US" sz="5400" b="1" dirty="0">
                <a:solidFill>
                  <a:srgbClr val="3F3F3F"/>
                </a:solidFill>
                <a:latin typeface="微软雅黑" pitchFamily="34" charset="-122"/>
                <a:ea typeface="微软雅黑" pitchFamily="34" charset="-122"/>
                <a:sym typeface="微软雅黑" pitchFamily="34" charset="-122"/>
              </a:rPr>
              <a:t> </a:t>
            </a:r>
            <a:r>
              <a:rPr lang="en-US" sz="5400" b="1" dirty="0">
                <a:solidFill>
                  <a:srgbClr val="FA4453"/>
                </a:solidFill>
                <a:latin typeface="微软雅黑" pitchFamily="34" charset="-122"/>
                <a:ea typeface="微软雅黑" pitchFamily="34" charset="-122"/>
                <a:sym typeface="微软雅黑" pitchFamily="34" charset="-122"/>
              </a:rPr>
              <a:t>·</a:t>
            </a:r>
            <a:endParaRPr lang="zh-CN" altLang="en-US" sz="5400" b="1" dirty="0">
              <a:solidFill>
                <a:srgbClr val="FA4453"/>
              </a:solidFill>
              <a:latin typeface="微软雅黑" pitchFamily="34" charset="-122"/>
              <a:ea typeface="微软雅黑" pitchFamily="34" charset="-122"/>
              <a:sym typeface="微软雅黑" pitchFamily="34" charset="-122"/>
            </a:endParaRPr>
          </a:p>
        </p:txBody>
      </p:sp>
      <p:pic>
        <p:nvPicPr>
          <p:cNvPr id="16" name="圖片 15"/>
          <p:cNvPicPr>
            <a:picLocks noChangeAspect="1"/>
          </p:cNvPicPr>
          <p:nvPr/>
        </p:nvPicPr>
        <p:blipFill rotWithShape="1">
          <a:blip r:embed="rId2"/>
          <a:srcRect l="17721" r="17607"/>
          <a:stretch/>
        </p:blipFill>
        <p:spPr>
          <a:xfrm>
            <a:off x="2415137" y="1817241"/>
            <a:ext cx="4242287" cy="3212229"/>
          </a:xfrm>
          <a:prstGeom prst="rect">
            <a:avLst/>
          </a:prstGeom>
        </p:spPr>
      </p:pic>
      <p:sp>
        <p:nvSpPr>
          <p:cNvPr id="17" name="圓角矩形 16"/>
          <p:cNvSpPr/>
          <p:nvPr/>
        </p:nvSpPr>
        <p:spPr bwMode="auto">
          <a:xfrm>
            <a:off x="352818" y="817161"/>
            <a:ext cx="8218497" cy="945514"/>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r>
              <a:rPr lang="en-US" altLang="zh-TW" dirty="0" smtClean="0">
                <a:solidFill>
                  <a:schemeClr val="bg1"/>
                </a:solidFill>
                <a:latin typeface="Consolas" panose="020B0609020204030204" pitchFamily="49" charset="0"/>
              </a:rPr>
              <a:t>&gt; </a:t>
            </a:r>
            <a:r>
              <a:rPr lang="zh-TW" altLang="en-US" dirty="0" smtClean="0">
                <a:solidFill>
                  <a:schemeClr val="bg1"/>
                </a:solidFill>
                <a:latin typeface="Consolas" panose="020B0609020204030204" pitchFamily="49" charset="0"/>
              </a:rPr>
              <a:t>wordcloud</a:t>
            </a:r>
            <a:r>
              <a:rPr lang="zh-TW" altLang="en-US" dirty="0">
                <a:solidFill>
                  <a:schemeClr val="bg1"/>
                </a:solidFill>
                <a:latin typeface="Consolas" panose="020B0609020204030204" pitchFamily="49" charset="0"/>
              </a:rPr>
              <a:t>(words = d$word, freq = d$freq, </a:t>
            </a:r>
            <a:r>
              <a:rPr lang="zh-TW" altLang="en-US" dirty="0" smtClean="0">
                <a:solidFill>
                  <a:schemeClr val="bg1"/>
                </a:solidFill>
                <a:latin typeface="Consolas" panose="020B0609020204030204" pitchFamily="49" charset="0"/>
              </a:rPr>
              <a:t> min.freq=</a:t>
            </a:r>
            <a:r>
              <a:rPr lang="zh-TW" altLang="en-US" dirty="0">
                <a:solidFill>
                  <a:schemeClr val="bg1"/>
                </a:solidFill>
                <a:latin typeface="Consolas" panose="020B0609020204030204" pitchFamily="49" charset="0"/>
              </a:rPr>
              <a:t>1</a:t>
            </a:r>
            <a:r>
              <a:rPr lang="zh-TW" altLang="en-US" dirty="0" smtClean="0">
                <a:solidFill>
                  <a:schemeClr val="bg1"/>
                </a:solidFill>
                <a:latin typeface="Consolas" panose="020B0609020204030204" pitchFamily="49" charset="0"/>
              </a:rPr>
              <a:t>,</a:t>
            </a:r>
            <a:endParaRPr lang="en-US" altLang="zh-TW" dirty="0" smtClean="0">
              <a:solidFill>
                <a:schemeClr val="bg1"/>
              </a:solidFill>
              <a:latin typeface="Consolas" panose="020B0609020204030204" pitchFamily="49" charset="0"/>
            </a:endParaRPr>
          </a:p>
          <a:p>
            <a:r>
              <a:rPr lang="zh-TW" altLang="en-US" dirty="0" smtClean="0">
                <a:solidFill>
                  <a:schemeClr val="bg1"/>
                </a:solidFill>
                <a:latin typeface="Consolas" panose="020B0609020204030204" pitchFamily="49" charset="0"/>
              </a:rPr>
              <a:t>            max</a:t>
            </a:r>
            <a:r>
              <a:rPr lang="zh-TW" altLang="en-US" dirty="0">
                <a:solidFill>
                  <a:schemeClr val="bg1"/>
                </a:solidFill>
                <a:latin typeface="Consolas" panose="020B0609020204030204" pitchFamily="49" charset="0"/>
              </a:rPr>
              <a:t>.words=400, random.order</a:t>
            </a:r>
            <a:r>
              <a:rPr lang="zh-TW" altLang="en-US" dirty="0" smtClean="0">
                <a:solidFill>
                  <a:schemeClr val="bg1"/>
                </a:solidFill>
                <a:latin typeface="Consolas" panose="020B0609020204030204" pitchFamily="49" charset="0"/>
              </a:rPr>
              <a:t>=FALSE,</a:t>
            </a:r>
            <a:endParaRPr lang="en-US" altLang="zh-TW" dirty="0" smtClean="0">
              <a:solidFill>
                <a:schemeClr val="bg1"/>
              </a:solidFill>
              <a:latin typeface="Consolas" panose="020B0609020204030204" pitchFamily="49" charset="0"/>
            </a:endParaRPr>
          </a:p>
          <a:p>
            <a:r>
              <a:rPr lang="zh-TW" altLang="en-US" dirty="0" smtClean="0">
                <a:solidFill>
                  <a:schemeClr val="bg1"/>
                </a:solidFill>
                <a:latin typeface="Consolas" panose="020B0609020204030204" pitchFamily="49" charset="0"/>
              </a:rPr>
              <a:t>            rot</a:t>
            </a:r>
            <a:r>
              <a:rPr lang="zh-TW" altLang="en-US" dirty="0">
                <a:solidFill>
                  <a:schemeClr val="bg1"/>
                </a:solidFill>
                <a:latin typeface="Consolas" panose="020B0609020204030204" pitchFamily="49" charset="0"/>
              </a:rPr>
              <a:t>.per=0.35,colors=brewer.pal(8,"Dark2"))</a:t>
            </a:r>
          </a:p>
        </p:txBody>
      </p:sp>
      <p:sp>
        <p:nvSpPr>
          <p:cNvPr id="18" name="直接连接符 1"/>
          <p:cNvSpPr>
            <a:spLocks noChangeShapeType="1"/>
          </p:cNvSpPr>
          <p:nvPr/>
        </p:nvSpPr>
        <p:spPr bwMode="auto">
          <a:xfrm>
            <a:off x="179388" y="714375"/>
            <a:ext cx="8713787" cy="0"/>
          </a:xfrm>
          <a:prstGeom prst="line">
            <a:avLst/>
          </a:prstGeom>
          <a:noFill/>
          <a:ln w="9525" cap="flat" cmpd="sng">
            <a:solidFill>
              <a:srgbClr val="A5A5A5"/>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9" name="组合 1"/>
          <p:cNvGrpSpPr>
            <a:grpSpLocks/>
          </p:cNvGrpSpPr>
          <p:nvPr/>
        </p:nvGrpSpPr>
        <p:grpSpPr bwMode="auto">
          <a:xfrm>
            <a:off x="5335888" y="220442"/>
            <a:ext cx="3816350" cy="406400"/>
            <a:chOff x="0" y="0"/>
            <a:chExt cx="3816672" cy="405750"/>
          </a:xfrm>
        </p:grpSpPr>
        <p:sp>
          <p:nvSpPr>
            <p:cNvPr id="20"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2"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grpSp>
        <p:nvGrpSpPr>
          <p:cNvPr id="23" name="群組 22"/>
          <p:cNvGrpSpPr/>
          <p:nvPr/>
        </p:nvGrpSpPr>
        <p:grpSpPr>
          <a:xfrm>
            <a:off x="451002" y="232348"/>
            <a:ext cx="2967037" cy="384175"/>
            <a:chOff x="274638" y="987425"/>
            <a:chExt cx="2967037" cy="384175"/>
          </a:xfrm>
        </p:grpSpPr>
        <p:sp>
          <p:nvSpPr>
            <p:cNvPr id="24" name="矩形 6"/>
            <p:cNvSpPr>
              <a:spLocks noChangeArrowheads="1"/>
            </p:cNvSpPr>
            <p:nvPr/>
          </p:nvSpPr>
          <p:spPr bwMode="auto">
            <a:xfrm>
              <a:off x="517525" y="1020763"/>
              <a:ext cx="981215" cy="315912"/>
            </a:xfrm>
            <a:prstGeom prst="rect">
              <a:avLst/>
            </a:prstGeom>
            <a:solidFill>
              <a:srgbClr val="FFC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r>
                <a:rPr lang="zh-TW" altLang="en-US" b="1" dirty="0" smtClean="0">
                  <a:solidFill>
                    <a:srgbClr val="FFFFFF"/>
                  </a:solidFill>
                  <a:latin typeface="Microsoft YaHei" panose="020B0503020204020204" pitchFamily="34" charset="-122"/>
                  <a:ea typeface="Microsoft YaHei" panose="020B0503020204020204" pitchFamily="34" charset="-122"/>
                  <a:sym typeface="宋体" pitchFamily="2" charset="-122"/>
                </a:rPr>
                <a:t>文字</a:t>
              </a:r>
              <a:r>
                <a:rPr lang="zh-TW" altLang="en-US" b="1" dirty="0">
                  <a:solidFill>
                    <a:srgbClr val="FFFFFF"/>
                  </a:solidFill>
                  <a:latin typeface="Microsoft YaHei" panose="020B0503020204020204" pitchFamily="34" charset="-122"/>
                  <a:ea typeface="Microsoft YaHei" panose="020B0503020204020204" pitchFamily="34" charset="-122"/>
                  <a:sym typeface="宋体" pitchFamily="2" charset="-122"/>
                </a:rPr>
                <a:t>雲</a:t>
              </a:r>
              <a:endParaRPr lang="zh-CN" altLang="zh-CN" b="1" dirty="0">
                <a:solidFill>
                  <a:srgbClr val="FFFFFF"/>
                </a:solidFill>
                <a:latin typeface="Microsoft YaHei" panose="020B0503020204020204" pitchFamily="34" charset="-122"/>
                <a:ea typeface="Microsoft YaHei" panose="020B0503020204020204" pitchFamily="34" charset="-122"/>
                <a:sym typeface="宋体" pitchFamily="2" charset="-122"/>
              </a:endParaRPr>
            </a:p>
          </p:txBody>
        </p:sp>
        <p:sp>
          <p:nvSpPr>
            <p:cNvPr id="25" name="矩形 7"/>
            <p:cNvSpPr>
              <a:spLocks noChangeArrowheads="1"/>
            </p:cNvSpPr>
            <p:nvPr/>
          </p:nvSpPr>
          <p:spPr bwMode="auto">
            <a:xfrm>
              <a:off x="274638" y="1020763"/>
              <a:ext cx="242887" cy="315912"/>
            </a:xfrm>
            <a:prstGeom prst="rect">
              <a:avLst/>
            </a:prstGeom>
            <a:solidFill>
              <a:srgbClr val="3C3C37"/>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26" name="TextBox 8"/>
            <p:cNvSpPr>
              <a:spLocks noChangeArrowheads="1"/>
            </p:cNvSpPr>
            <p:nvPr/>
          </p:nvSpPr>
          <p:spPr bwMode="auto">
            <a:xfrm>
              <a:off x="539750" y="987425"/>
              <a:ext cx="27019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sz="1900" b="1" dirty="0">
                <a:solidFill>
                  <a:schemeClr val="bg1"/>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3894265300"/>
      </p:ext>
    </p:extLst>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1271" name="TextBox 5"/>
          <p:cNvSpPr>
            <a:spLocks noChangeArrowheads="1"/>
          </p:cNvSpPr>
          <p:nvPr/>
        </p:nvSpPr>
        <p:spPr bwMode="auto">
          <a:xfrm>
            <a:off x="7524750" y="-92075"/>
            <a:ext cx="1511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1286" name="流程图: 合并 38"/>
          <p:cNvSpPr>
            <a:spLocks noChangeArrowheads="1"/>
          </p:cNvSpPr>
          <p:nvPr/>
        </p:nvSpPr>
        <p:spPr bwMode="auto">
          <a:xfrm rot="16200000">
            <a:off x="431623" y="711200"/>
            <a:ext cx="360362" cy="241300"/>
          </a:xfrm>
          <a:prstGeom prst="flowChartMerge">
            <a:avLst/>
          </a:prstGeom>
          <a:noFill/>
          <a:ln w="6350" cap="flat" cmpd="sng">
            <a:solidFill>
              <a:schemeClr val="accent2"/>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23" name="矩形 22"/>
          <p:cNvSpPr/>
          <p:nvPr/>
        </p:nvSpPr>
        <p:spPr>
          <a:xfrm>
            <a:off x="407517" y="1670250"/>
            <a:ext cx="8302134" cy="606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sz="1600" dirty="0" smtClean="0">
                <a:solidFill>
                  <a:prstClr val="black"/>
                </a:solidFill>
                <a:latin typeface="Consolas" panose="020B0609020204030204" pitchFamily="49" charset="0"/>
                <a:ea typeface="新細明體" panose="02020500000000000000" pitchFamily="18" charset="-120"/>
              </a:rPr>
              <a:t>&gt;</a:t>
            </a: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smtClean="0">
                <a:solidFill>
                  <a:prstClr val="black"/>
                </a:solidFill>
                <a:latin typeface="Consolas" panose="020B0609020204030204" pitchFamily="49" charset="0"/>
                <a:ea typeface="新細明體" panose="02020500000000000000" pitchFamily="18" charset="-120"/>
              </a:rPr>
              <a:t>model </a:t>
            </a:r>
            <a:r>
              <a:rPr lang="en-US" altLang="zh-TW" sz="1600" dirty="0">
                <a:solidFill>
                  <a:prstClr val="black"/>
                </a:solidFill>
                <a:latin typeface="Consolas" panose="020B0609020204030204" pitchFamily="49" charset="0"/>
                <a:ea typeface="新細明體" panose="02020500000000000000" pitchFamily="18" charset="-120"/>
              </a:rPr>
              <a:t>= train_word2vec</a:t>
            </a:r>
            <a:r>
              <a:rPr lang="en-US" altLang="zh-TW" sz="1600" dirty="0" smtClean="0">
                <a:solidFill>
                  <a:prstClr val="black"/>
                </a:solidFill>
                <a:latin typeface="Consolas" panose="020B0609020204030204" pitchFamily="49" charset="0"/>
                <a:ea typeface="新細明體" panose="02020500000000000000" pitchFamily="18" charset="-120"/>
              </a:rPr>
              <a:t>("</a:t>
            </a:r>
            <a:r>
              <a:rPr lang="zh-TW" altLang="en-US" sz="1600" dirty="0" smtClean="0">
                <a:solidFill>
                  <a:prstClr val="black"/>
                </a:solidFill>
                <a:latin typeface="Consolas" panose="020B0609020204030204" pitchFamily="49" charset="0"/>
                <a:ea typeface="新細明體" panose="02020500000000000000" pitchFamily="18" charset="-120"/>
              </a:rPr>
              <a:t>新</a:t>
            </a:r>
            <a:r>
              <a:rPr lang="zh-TW" altLang="en-US" sz="1600" dirty="0">
                <a:solidFill>
                  <a:prstClr val="black"/>
                </a:solidFill>
                <a:latin typeface="Consolas" panose="020B0609020204030204" pitchFamily="49" charset="0"/>
                <a:ea typeface="新細明體" panose="02020500000000000000" pitchFamily="18" charset="-120"/>
              </a:rPr>
              <a:t>文字文件 </a:t>
            </a:r>
            <a:r>
              <a:rPr lang="en-US" altLang="zh-TW" sz="1600" dirty="0">
                <a:solidFill>
                  <a:prstClr val="black"/>
                </a:solidFill>
                <a:latin typeface="Consolas" panose="020B0609020204030204" pitchFamily="49" charset="0"/>
                <a:ea typeface="新細明體" panose="02020500000000000000" pitchFamily="18" charset="-120"/>
              </a:rPr>
              <a:t>(3).</a:t>
            </a:r>
            <a:r>
              <a:rPr lang="en-US" altLang="zh-TW" sz="1600" dirty="0" smtClean="0">
                <a:solidFill>
                  <a:prstClr val="black"/>
                </a:solidFill>
                <a:latin typeface="Consolas" panose="020B0609020204030204" pitchFamily="49" charset="0"/>
                <a:ea typeface="新細明體" panose="02020500000000000000" pitchFamily="18" charset="-120"/>
              </a:rPr>
              <a:t>txt", output="</a:t>
            </a:r>
            <a:r>
              <a:rPr lang="zh-TW" altLang="en-US" sz="1600" dirty="0" smtClean="0">
                <a:solidFill>
                  <a:prstClr val="black"/>
                </a:solidFill>
                <a:latin typeface="Consolas" panose="020B0609020204030204" pitchFamily="49" charset="0"/>
                <a:ea typeface="新細明體" panose="02020500000000000000" pitchFamily="18" charset="-120"/>
              </a:rPr>
              <a:t>新</a:t>
            </a:r>
            <a:r>
              <a:rPr lang="zh-TW" altLang="en-US" sz="1600" dirty="0">
                <a:solidFill>
                  <a:prstClr val="black"/>
                </a:solidFill>
                <a:latin typeface="Consolas" panose="020B0609020204030204" pitchFamily="49" charset="0"/>
                <a:ea typeface="新細明體" panose="02020500000000000000" pitchFamily="18" charset="-120"/>
              </a:rPr>
              <a:t>文字</a:t>
            </a:r>
            <a:r>
              <a:rPr lang="zh-TW" altLang="en-US" sz="1600" dirty="0" smtClean="0">
                <a:solidFill>
                  <a:prstClr val="black"/>
                </a:solidFill>
                <a:latin typeface="Consolas" panose="020B0609020204030204" pitchFamily="49" charset="0"/>
                <a:ea typeface="新細明體" panose="02020500000000000000" pitchFamily="18" charset="-120"/>
              </a:rPr>
              <a:t>文件 </a:t>
            </a:r>
            <a:r>
              <a:rPr lang="en-US" altLang="zh-TW" sz="1600" dirty="0" smtClean="0">
                <a:solidFill>
                  <a:prstClr val="black"/>
                </a:solidFill>
                <a:latin typeface="Consolas" panose="020B0609020204030204" pitchFamily="49" charset="0"/>
                <a:ea typeface="新細明體" panose="02020500000000000000" pitchFamily="18" charset="-120"/>
              </a:rPr>
              <a:t>(3).bin",</a:t>
            </a:r>
          </a:p>
          <a:p>
            <a:pPr lvl="0" fontAlgn="auto">
              <a:spcBef>
                <a:spcPts val="0"/>
              </a:spcBef>
              <a:spcAft>
                <a:spcPts val="0"/>
              </a:spcAft>
            </a:pPr>
            <a:r>
              <a:rPr lang="zh-TW" altLang="en-US" sz="1600" dirty="0">
                <a:solidFill>
                  <a:prstClr val="black"/>
                </a:solidFill>
                <a:latin typeface="Consolas" panose="020B0609020204030204" pitchFamily="49" charset="0"/>
                <a:ea typeface="新細明體" panose="02020500000000000000" pitchFamily="18" charset="-120"/>
              </a:rPr>
              <a:t> </a:t>
            </a: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smtClean="0">
                <a:solidFill>
                  <a:prstClr val="black"/>
                </a:solidFill>
                <a:latin typeface="Consolas" panose="020B0609020204030204" pitchFamily="49" charset="0"/>
                <a:ea typeface="新細明體" panose="02020500000000000000" pitchFamily="18" charset="-120"/>
              </a:rPr>
              <a:t>vectors = 100, window=12,force=T)</a:t>
            </a:r>
          </a:p>
          <a:p>
            <a:pPr lvl="0" fontAlgn="auto">
              <a:spcBef>
                <a:spcPts val="0"/>
              </a:spcBef>
              <a:spcAft>
                <a:spcPts val="0"/>
              </a:spcAft>
            </a:pPr>
            <a:endParaRPr lang="en-US" altLang="zh-TW" dirty="0" smtClean="0">
              <a:solidFill>
                <a:prstClr val="black"/>
              </a:solidFill>
              <a:latin typeface="Consolas" panose="020B0609020204030204" pitchFamily="49" charset="0"/>
              <a:ea typeface="新細明體" panose="02020500000000000000" pitchFamily="18" charset="-120"/>
            </a:endParaRPr>
          </a:p>
        </p:txBody>
      </p:sp>
      <p:sp>
        <p:nvSpPr>
          <p:cNvPr id="17" name="矩形 16"/>
          <p:cNvSpPr/>
          <p:nvPr/>
        </p:nvSpPr>
        <p:spPr>
          <a:xfrm>
            <a:off x="899695" y="587649"/>
            <a:ext cx="7809956" cy="1077218"/>
          </a:xfrm>
          <a:prstGeom prst="rect">
            <a:avLst/>
          </a:prstGeom>
        </p:spPr>
        <p:txBody>
          <a:bodyPr wrap="square">
            <a:spAutoFit/>
          </a:bodyPr>
          <a:lstStyle/>
          <a:p>
            <a:pPr>
              <a:spcAft>
                <a:spcPts val="0"/>
              </a:spcAft>
            </a:pPr>
            <a:r>
              <a:rPr lang="zh-TW" altLang="zh-TW" sz="1600" kern="100" dirty="0" smtClean="0">
                <a:latin typeface="+mn-ea"/>
                <a:ea typeface="+mn-ea"/>
                <a:cs typeface="Kokila"/>
              </a:rPr>
              <a:t>為了</a:t>
            </a:r>
            <a:r>
              <a:rPr lang="zh-TW" altLang="en-US" sz="1600" kern="100" dirty="0" smtClean="0">
                <a:latin typeface="+mn-ea"/>
                <a:ea typeface="+mn-ea"/>
                <a:cs typeface="Kokila"/>
              </a:rPr>
              <a:t>令我們能夠迅速的了</a:t>
            </a:r>
            <a:r>
              <a:rPr lang="zh-TW" altLang="en-US" sz="1600" kern="100" dirty="0">
                <a:latin typeface="+mn-ea"/>
                <a:ea typeface="+mn-ea"/>
                <a:cs typeface="Kokila"/>
              </a:rPr>
              <a:t>解</a:t>
            </a:r>
            <a:r>
              <a:rPr lang="zh-TW" altLang="zh-TW" sz="1600" kern="100" dirty="0" smtClean="0">
                <a:latin typeface="+mn-ea"/>
                <a:ea typeface="+mn-ea"/>
                <a:cs typeface="Kokila"/>
              </a:rPr>
              <a:t>這些</a:t>
            </a:r>
            <a:r>
              <a:rPr lang="zh-TW" altLang="zh-TW" sz="1600" kern="100" dirty="0">
                <a:latin typeface="+mn-ea"/>
                <a:ea typeface="+mn-ea"/>
                <a:cs typeface="Kokila"/>
              </a:rPr>
              <a:t>新聞的內容，我們用</a:t>
            </a:r>
            <a:r>
              <a:rPr lang="en-US" altLang="zh-TW" sz="1600" kern="100" dirty="0">
                <a:latin typeface="+mn-ea"/>
                <a:ea typeface="+mn-ea"/>
                <a:cs typeface="Kokila"/>
              </a:rPr>
              <a:t>word2vec</a:t>
            </a:r>
            <a:r>
              <a:rPr lang="zh-TW" altLang="zh-TW" sz="1600" kern="100" dirty="0">
                <a:latin typeface="+mn-ea"/>
                <a:ea typeface="+mn-ea"/>
                <a:cs typeface="Kokila"/>
              </a:rPr>
              <a:t>模型統計這些字周圍出現頻率最高的字，</a:t>
            </a:r>
            <a:r>
              <a:rPr lang="en-US" altLang="zh-TW" sz="1600" kern="100" dirty="0">
                <a:latin typeface="+mn-ea"/>
                <a:ea typeface="+mn-ea"/>
                <a:cs typeface="Kokila"/>
              </a:rPr>
              <a:t>word2vec</a:t>
            </a:r>
            <a:r>
              <a:rPr lang="zh-TW" altLang="zh-TW" sz="1600" kern="100" dirty="0">
                <a:latin typeface="+mn-ea"/>
                <a:ea typeface="+mn-ea"/>
                <a:cs typeface="Kokila"/>
              </a:rPr>
              <a:t>提供另一個觀點將文字轉換成結構化資料</a:t>
            </a:r>
            <a:r>
              <a:rPr lang="zh-TW" altLang="zh-TW" sz="1600" kern="100" dirty="0" smtClean="0">
                <a:latin typeface="+mn-ea"/>
                <a:ea typeface="+mn-ea"/>
                <a:cs typeface="Kokila"/>
              </a:rPr>
              <a:t>，然而</a:t>
            </a:r>
            <a:r>
              <a:rPr lang="en-US" altLang="zh-TW" sz="1600" kern="100" dirty="0" smtClean="0">
                <a:latin typeface="+mn-ea"/>
                <a:ea typeface="+mn-ea"/>
                <a:cs typeface="Kokila"/>
              </a:rPr>
              <a:t> word2vec </a:t>
            </a:r>
            <a:r>
              <a:rPr lang="zh-TW" altLang="zh-TW" sz="1600" kern="100" dirty="0">
                <a:latin typeface="+mn-ea"/>
                <a:ea typeface="+mn-ea"/>
                <a:cs typeface="Kokila"/>
              </a:rPr>
              <a:t>屬於一種非監督式學習，需要大量的樣本才可以得到較好的結果。我們以出現頻率最高的</a:t>
            </a:r>
            <a:r>
              <a:rPr lang="en-US" altLang="zh-TW" sz="1600" kern="100" dirty="0" err="1">
                <a:latin typeface="+mn-ea"/>
                <a:ea typeface="+mn-ea"/>
                <a:cs typeface="Kokila"/>
              </a:rPr>
              <a:t>ebay</a:t>
            </a:r>
            <a:r>
              <a:rPr lang="zh-TW" altLang="zh-TW" sz="1600" kern="100" dirty="0">
                <a:latin typeface="+mn-ea"/>
                <a:ea typeface="+mn-ea"/>
                <a:cs typeface="Kokila"/>
              </a:rPr>
              <a:t>，</a:t>
            </a:r>
            <a:r>
              <a:rPr lang="en-US" altLang="zh-TW" sz="1600" kern="100" dirty="0" err="1">
                <a:latin typeface="+mn-ea"/>
                <a:ea typeface="+mn-ea"/>
                <a:cs typeface="Kokila"/>
              </a:rPr>
              <a:t>icahn</a:t>
            </a:r>
            <a:r>
              <a:rPr lang="zh-TW" altLang="zh-TW" sz="1600" kern="100" dirty="0">
                <a:latin typeface="+mn-ea"/>
                <a:ea typeface="+mn-ea"/>
                <a:cs typeface="Kokila"/>
              </a:rPr>
              <a:t>，</a:t>
            </a:r>
            <a:r>
              <a:rPr lang="en-US" altLang="zh-TW" sz="1600" kern="100" dirty="0">
                <a:latin typeface="+mn-ea"/>
                <a:ea typeface="+mn-ea"/>
                <a:cs typeface="Kokila"/>
              </a:rPr>
              <a:t>company</a:t>
            </a:r>
            <a:r>
              <a:rPr lang="zh-TW" altLang="zh-TW" sz="1600" kern="100" dirty="0">
                <a:latin typeface="+mn-ea"/>
                <a:ea typeface="+mn-ea"/>
                <a:cs typeface="Kokila"/>
              </a:rPr>
              <a:t>這三個字為例，取周圍</a:t>
            </a:r>
            <a:r>
              <a:rPr lang="en-US" altLang="zh-TW" sz="1600" kern="100" dirty="0">
                <a:latin typeface="+mn-ea"/>
                <a:ea typeface="+mn-ea"/>
                <a:cs typeface="Kokila"/>
              </a:rPr>
              <a:t>20</a:t>
            </a:r>
            <a:r>
              <a:rPr lang="zh-TW" altLang="zh-TW" sz="1600" kern="100" dirty="0">
                <a:latin typeface="+mn-ea"/>
                <a:ea typeface="+mn-ea"/>
                <a:cs typeface="Kokila"/>
              </a:rPr>
              <a:t>個字。</a:t>
            </a:r>
          </a:p>
        </p:txBody>
      </p:sp>
      <p:sp>
        <p:nvSpPr>
          <p:cNvPr id="21" name="矩形 7"/>
          <p:cNvSpPr>
            <a:spLocks noChangeArrowheads="1"/>
          </p:cNvSpPr>
          <p:nvPr/>
        </p:nvSpPr>
        <p:spPr bwMode="auto">
          <a:xfrm>
            <a:off x="407517" y="2344960"/>
            <a:ext cx="8302134" cy="1804378"/>
          </a:xfrm>
          <a:prstGeom prst="rect">
            <a:avLst/>
          </a:prstGeom>
          <a:solidFill>
            <a:srgbClr val="FFC000"/>
          </a:solidFill>
          <a:ln>
            <a:noFill/>
          </a:ln>
          <a:extLst/>
        </p:spPr>
        <p:txBody>
          <a:bodyPr anchor="t"/>
          <a:lstStyle/>
          <a:p>
            <a:r>
              <a:rPr lang="zh-TW" altLang="en-US" sz="1600" dirty="0"/>
              <a:t>#train_file 用於訓練的單個.txt文件的路徑</a:t>
            </a:r>
          </a:p>
          <a:p>
            <a:r>
              <a:rPr lang="zh-TW" altLang="en-US" sz="1600" dirty="0"/>
              <a:t>#output_file 輸出文件的路徑</a:t>
            </a:r>
          </a:p>
          <a:p>
            <a:r>
              <a:rPr lang="zh-TW" altLang="en-US" sz="1600" dirty="0"/>
              <a:t>#vectors:要輸出的向量的數量</a:t>
            </a:r>
            <a:r>
              <a:rPr lang="zh-TW" altLang="en-US" sz="1600" dirty="0" smtClean="0"/>
              <a:t>。默認</a:t>
            </a:r>
            <a:r>
              <a:rPr lang="zh-TW" altLang="en-US" sz="1600" dirty="0"/>
              <a:t>為100.更多的向量通常意味著更</a:t>
            </a:r>
            <a:r>
              <a:rPr lang="zh-TW" altLang="en-US" sz="1600" dirty="0" smtClean="0"/>
              <a:t>高</a:t>
            </a:r>
            <a:endParaRPr lang="en-US" altLang="zh-TW" sz="1600" dirty="0" smtClean="0"/>
          </a:p>
          <a:p>
            <a:r>
              <a:rPr lang="zh-TW" altLang="en-US" sz="1600" dirty="0" smtClean="0"/>
              <a:t>精度，但</a:t>
            </a:r>
            <a:r>
              <a:rPr lang="zh-TW" altLang="en-US" sz="1600" dirty="0"/>
              <a:t>也更隨機的錯誤，更高的內存使用率和更慢的</a:t>
            </a:r>
            <a:r>
              <a:rPr lang="zh-TW" altLang="en-US" sz="1600" dirty="0" smtClean="0"/>
              <a:t>操作</a:t>
            </a:r>
            <a:r>
              <a:rPr lang="zh-TW" altLang="en-US" sz="1600" dirty="0"/>
              <a:t>。</a:t>
            </a:r>
            <a:r>
              <a:rPr lang="zh-TW" altLang="en-US" sz="1600" dirty="0" smtClean="0"/>
              <a:t>明智</a:t>
            </a:r>
            <a:r>
              <a:rPr lang="zh-TW" altLang="en-US" sz="1600" dirty="0"/>
              <a:t>的選擇可能在100-500之間</a:t>
            </a:r>
            <a:r>
              <a:rPr lang="zh-TW" altLang="en-US" sz="1600" dirty="0" smtClean="0"/>
              <a:t>。</a:t>
            </a:r>
            <a:endParaRPr lang="en-US" altLang="zh-TW" sz="1600" dirty="0" smtClean="0"/>
          </a:p>
          <a:p>
            <a:r>
              <a:rPr lang="zh-TW" altLang="en-US" sz="1600" dirty="0" smtClean="0"/>
              <a:t>#</a:t>
            </a:r>
            <a:r>
              <a:rPr lang="zh-TW" altLang="en-US" sz="1600" dirty="0"/>
              <a:t>默認情況下是skip-gram</a:t>
            </a:r>
            <a:r>
              <a:rPr lang="zh-TW" altLang="en-US" sz="1600" dirty="0" smtClean="0"/>
              <a:t>模型</a:t>
            </a:r>
            <a:endParaRPr lang="en-US" altLang="zh-TW" sz="1600" dirty="0" smtClean="0"/>
          </a:p>
          <a:p>
            <a:r>
              <a:rPr lang="zh-TW" altLang="en-US" sz="1600" dirty="0"/>
              <a:t>#window 用於訓練的窗口大小，12表示每個詞考慮前12個詞和後12個</a:t>
            </a:r>
            <a:r>
              <a:rPr lang="zh-TW" altLang="en-US" sz="1600" dirty="0" smtClean="0"/>
              <a:t>詞</a:t>
            </a:r>
            <a:endParaRPr lang="zh-TW" altLang="en-US" sz="1600" dirty="0"/>
          </a:p>
        </p:txBody>
      </p:sp>
      <p:sp>
        <p:nvSpPr>
          <p:cNvPr id="24" name="矩形 23"/>
          <p:cNvSpPr/>
          <p:nvPr/>
        </p:nvSpPr>
        <p:spPr>
          <a:xfrm>
            <a:off x="407517" y="4204865"/>
            <a:ext cx="8302134" cy="4320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fontAlgn="auto">
              <a:spcBef>
                <a:spcPts val="0"/>
              </a:spcBef>
              <a:spcAft>
                <a:spcPts val="0"/>
              </a:spcAft>
            </a:pPr>
            <a:r>
              <a:rPr lang="en-US" altLang="zh-TW" sz="1600" dirty="0" smtClean="0">
                <a:solidFill>
                  <a:prstClr val="black"/>
                </a:solidFill>
                <a:latin typeface="Consolas" panose="020B0609020204030204" pitchFamily="49" charset="0"/>
                <a:ea typeface="新細明體" panose="02020500000000000000" pitchFamily="18" charset="-120"/>
              </a:rPr>
              <a:t>&gt;</a:t>
            </a:r>
            <a:r>
              <a:rPr lang="zh-TW" altLang="en-US" sz="1600" dirty="0" smtClean="0">
                <a:solidFill>
                  <a:prstClr val="black"/>
                </a:solidFill>
                <a:latin typeface="Consolas" panose="020B0609020204030204" pitchFamily="49" charset="0"/>
                <a:ea typeface="新細明體" panose="02020500000000000000" pitchFamily="18" charset="-120"/>
              </a:rPr>
              <a:t> </a:t>
            </a:r>
            <a:r>
              <a:rPr lang="en-US" altLang="zh-TW" sz="1600" dirty="0" smtClean="0">
                <a:solidFill>
                  <a:prstClr val="black"/>
                </a:solidFill>
                <a:latin typeface="Consolas" panose="020B0609020204030204" pitchFamily="49" charset="0"/>
                <a:ea typeface="新細明體" panose="02020500000000000000" pitchFamily="18" charset="-120"/>
              </a:rPr>
              <a:t>vector </a:t>
            </a:r>
            <a:r>
              <a:rPr lang="en-US" altLang="zh-TW" sz="1600" dirty="0">
                <a:solidFill>
                  <a:prstClr val="black"/>
                </a:solidFill>
                <a:latin typeface="Consolas" panose="020B0609020204030204" pitchFamily="49" charset="0"/>
                <a:ea typeface="新細明體" panose="02020500000000000000" pitchFamily="18" charset="-120"/>
              </a:rPr>
              <a:t>= </a:t>
            </a:r>
            <a:r>
              <a:rPr lang="en-US" altLang="zh-TW" sz="1600" dirty="0" err="1">
                <a:solidFill>
                  <a:prstClr val="black"/>
                </a:solidFill>
                <a:latin typeface="Consolas" panose="020B0609020204030204" pitchFamily="49" charset="0"/>
                <a:ea typeface="新細明體" panose="02020500000000000000" pitchFamily="18" charset="-120"/>
              </a:rPr>
              <a:t>read.vectors</a:t>
            </a:r>
            <a:r>
              <a:rPr lang="en-US" altLang="zh-TW" sz="1600" dirty="0">
                <a:solidFill>
                  <a:prstClr val="black"/>
                </a:solidFill>
                <a:latin typeface="Consolas" panose="020B0609020204030204" pitchFamily="49" charset="0"/>
                <a:ea typeface="新細明體" panose="02020500000000000000" pitchFamily="18" charset="-120"/>
              </a:rPr>
              <a:t>("</a:t>
            </a:r>
            <a:r>
              <a:rPr lang="zh-TW" altLang="en-US" sz="1600" dirty="0">
                <a:solidFill>
                  <a:prstClr val="black"/>
                </a:solidFill>
                <a:latin typeface="Consolas" panose="020B0609020204030204" pitchFamily="49" charset="0"/>
                <a:ea typeface="新細明體" panose="02020500000000000000" pitchFamily="18" charset="-120"/>
              </a:rPr>
              <a:t>新文字文件 </a:t>
            </a:r>
            <a:r>
              <a:rPr lang="en-US" altLang="zh-TW" sz="1600" dirty="0">
                <a:solidFill>
                  <a:prstClr val="black"/>
                </a:solidFill>
                <a:latin typeface="Consolas" panose="020B0609020204030204" pitchFamily="49" charset="0"/>
                <a:ea typeface="新細明體" panose="02020500000000000000" pitchFamily="18" charset="-120"/>
              </a:rPr>
              <a:t>(3).bin</a:t>
            </a:r>
            <a:r>
              <a:rPr lang="en-US" altLang="zh-TW" sz="1600" dirty="0" smtClean="0">
                <a:solidFill>
                  <a:prstClr val="black"/>
                </a:solidFill>
                <a:latin typeface="Consolas" panose="020B0609020204030204" pitchFamily="49" charset="0"/>
                <a:ea typeface="新細明體" panose="02020500000000000000" pitchFamily="18" charset="-120"/>
              </a:rPr>
              <a:t>")</a:t>
            </a:r>
            <a:endParaRPr lang="en-US" altLang="zh-TW" sz="1600" dirty="0">
              <a:solidFill>
                <a:prstClr val="black"/>
              </a:solidFill>
              <a:latin typeface="Consolas" panose="020B0609020204030204" pitchFamily="49" charset="0"/>
              <a:ea typeface="新細明體" panose="02020500000000000000" pitchFamily="18" charset="-120"/>
            </a:endParaRPr>
          </a:p>
        </p:txBody>
      </p:sp>
      <p:sp>
        <p:nvSpPr>
          <p:cNvPr id="25" name="矩形 7"/>
          <p:cNvSpPr>
            <a:spLocks noChangeArrowheads="1"/>
          </p:cNvSpPr>
          <p:nvPr/>
        </p:nvSpPr>
        <p:spPr bwMode="auto">
          <a:xfrm>
            <a:off x="3043146" y="4694323"/>
            <a:ext cx="5688340" cy="335406"/>
          </a:xfrm>
          <a:prstGeom prst="rect">
            <a:avLst/>
          </a:prstGeom>
          <a:solidFill>
            <a:srgbClr val="FFC000"/>
          </a:solidFill>
          <a:ln>
            <a:noFill/>
          </a:ln>
          <a:extLst/>
        </p:spPr>
        <p:txBody>
          <a:bodyPr anchor="t"/>
          <a:lstStyle/>
          <a:p>
            <a:r>
              <a:rPr lang="zh-TW" altLang="en-US" sz="1600" dirty="0" smtClean="0"/>
              <a:t>#read</a:t>
            </a:r>
            <a:r>
              <a:rPr lang="zh-TW" altLang="en-US" sz="1600" dirty="0"/>
              <a:t>.vectors 從word2vec的文件中讀取先前訓練過的模型</a:t>
            </a:r>
          </a:p>
        </p:txBody>
      </p:sp>
      <p:grpSp>
        <p:nvGrpSpPr>
          <p:cNvPr id="26" name="组合 1"/>
          <p:cNvGrpSpPr>
            <a:grpSpLocks/>
          </p:cNvGrpSpPr>
          <p:nvPr/>
        </p:nvGrpSpPr>
        <p:grpSpPr bwMode="auto">
          <a:xfrm>
            <a:off x="5335888" y="220442"/>
            <a:ext cx="3816350" cy="406400"/>
            <a:chOff x="0" y="0"/>
            <a:chExt cx="3816672" cy="405750"/>
          </a:xfrm>
        </p:grpSpPr>
        <p:sp>
          <p:nvSpPr>
            <p:cNvPr id="27"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9"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1077597800"/>
      </p:ext>
    </p:extLst>
  </p:cSld>
  <p:clrMapOvr>
    <a:masterClrMapping/>
  </p:clrMapOvr>
  <p:transition spd="slow">
    <p:push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8199" name="TextBox 5"/>
          <p:cNvSpPr>
            <a:spLocks noChangeArrowheads="1"/>
          </p:cNvSpPr>
          <p:nvPr/>
        </p:nvSpPr>
        <p:spPr bwMode="auto">
          <a:xfrm>
            <a:off x="7369175" y="-34925"/>
            <a:ext cx="15128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dist"/>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7" name="圓角矩形 16"/>
          <p:cNvSpPr/>
          <p:nvPr/>
        </p:nvSpPr>
        <p:spPr bwMode="auto">
          <a:xfrm>
            <a:off x="359510" y="722112"/>
            <a:ext cx="8218497" cy="389339"/>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r>
              <a:rPr lang="en-US" altLang="zh-TW" dirty="0" smtClean="0">
                <a:solidFill>
                  <a:schemeClr val="bg1"/>
                </a:solidFill>
                <a:latin typeface="Consolas" panose="020B0609020204030204" pitchFamily="49" charset="0"/>
              </a:rPr>
              <a:t>&gt; </a:t>
            </a:r>
            <a:r>
              <a:rPr lang="zh-TW" altLang="en-US" dirty="0">
                <a:solidFill>
                  <a:schemeClr val="bg1"/>
                </a:solidFill>
                <a:latin typeface="Consolas" panose="020B0609020204030204" pitchFamily="49" charset="0"/>
              </a:rPr>
              <a:t>nearest_to(model,model[["ebay"]],n=20)</a:t>
            </a:r>
          </a:p>
        </p:txBody>
      </p:sp>
      <p:sp>
        <p:nvSpPr>
          <p:cNvPr id="10" name="矩形 9"/>
          <p:cNvSpPr/>
          <p:nvPr/>
        </p:nvSpPr>
        <p:spPr>
          <a:xfrm>
            <a:off x="326145" y="1149216"/>
            <a:ext cx="5647113" cy="2616101"/>
          </a:xfrm>
          <a:prstGeom prst="rect">
            <a:avLst/>
          </a:prstGeom>
        </p:spPr>
        <p:txBody>
          <a:bodyPr wrap="square">
            <a:spAutoFit/>
          </a:bodyPr>
          <a:lstStyle/>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err="1">
                <a:latin typeface="Consolas" panose="020B0609020204030204" pitchFamily="49" charset="0"/>
                <a:cs typeface="Kokila"/>
              </a:rPr>
              <a:t>ebay</a:t>
            </a:r>
            <a:r>
              <a:rPr lang="en-US" altLang="zh-TW" sz="1600" kern="100" dirty="0">
                <a:latin typeface="Consolas" panose="020B0609020204030204" pitchFamily="49" charset="0"/>
                <a:cs typeface="Kokila"/>
              </a:rPr>
              <a:t>       </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latin typeface="Consolas" panose="020B0609020204030204" pitchFamily="49" charset="0"/>
                <a:cs typeface="Kokila"/>
              </a:rPr>
              <a:t>online       </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a:latin typeface="Consolas" panose="020B0609020204030204" pitchFamily="49" charset="0"/>
                <a:cs typeface="Kokila"/>
              </a:rPr>
              <a:t>number  </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a:latin typeface="Consolas" panose="020B0609020204030204" pitchFamily="49" charset="0"/>
                <a:cs typeface="Kokila"/>
              </a:rPr>
              <a:t>billionaire (</a:t>
            </a:r>
            <a:r>
              <a:rPr lang="zh-TW" altLang="zh-TW" sz="1600" kern="100" dirty="0">
                <a:latin typeface="Consolas" panose="020B0609020204030204" pitchFamily="49" charset="0"/>
                <a:cs typeface="Kokila"/>
              </a:rPr>
              <a:t>億萬富翁</a:t>
            </a:r>
            <a:r>
              <a:rPr lang="en-US" altLang="zh-TW" sz="1600" kern="100" dirty="0">
                <a:latin typeface="Calibri" panose="020F0502020204030204" pitchFamily="34" charset="0"/>
                <a:cs typeface="Kokila"/>
              </a:rPr>
              <a:t>Icahn</a:t>
            </a:r>
            <a:r>
              <a:rPr lang="en-US" altLang="zh-TW" sz="1600" kern="100" dirty="0">
                <a:latin typeface="Consolas" panose="020B0609020204030204" pitchFamily="49" charset="0"/>
                <a:cs typeface="Kokila"/>
              </a:rPr>
              <a:t>,</a:t>
            </a:r>
            <a:r>
              <a:rPr lang="zh-TW" altLang="zh-TW" sz="1600" kern="100" dirty="0">
                <a:latin typeface="Consolas" panose="020B0609020204030204" pitchFamily="49" charset="0"/>
                <a:cs typeface="Kokila"/>
              </a:rPr>
              <a:t>億萬富翁服飾</a:t>
            </a:r>
            <a:r>
              <a:rPr lang="en-US" altLang="zh-TW" sz="1600" kern="100" dirty="0">
                <a:latin typeface="Consolas" panose="020B0609020204030204" pitchFamily="49" charset="0"/>
                <a:cs typeface="Kokila"/>
              </a:rPr>
              <a:t>)   </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a:latin typeface="Consolas" panose="020B0609020204030204" pitchFamily="49" charset="0"/>
                <a:cs typeface="Kokila"/>
              </a:rPr>
              <a:t>makes      </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a:latin typeface="Consolas" panose="020B0609020204030204" pitchFamily="49" charset="0"/>
                <a:cs typeface="Kokila"/>
              </a:rPr>
              <a:t>auction  (</a:t>
            </a:r>
            <a:r>
              <a:rPr lang="zh-TW" altLang="zh-TW" sz="1600" kern="100" dirty="0">
                <a:latin typeface="Consolas" panose="020B0609020204030204" pitchFamily="49" charset="0"/>
                <a:cs typeface="Kokila"/>
              </a:rPr>
              <a:t>拍賣</a:t>
            </a:r>
            <a:r>
              <a:rPr lang="en-US" altLang="zh-TW" sz="1600" kern="100" dirty="0">
                <a:latin typeface="Consolas" panose="020B0609020204030204" pitchFamily="49" charset="0"/>
                <a:cs typeface="Kokila"/>
              </a:rPr>
              <a:t>)</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a:latin typeface="Consolas" panose="020B0609020204030204" pitchFamily="49" charset="0"/>
                <a:cs typeface="Kokila"/>
              </a:rPr>
              <a:t>pay   </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err="1">
                <a:latin typeface="Consolas" panose="020B0609020204030204" pitchFamily="49" charset="0"/>
                <a:cs typeface="Kokila"/>
              </a:rPr>
              <a:t>nasdaqebay</a:t>
            </a:r>
            <a:r>
              <a:rPr lang="en-US" altLang="zh-TW" sz="1600" kern="100" dirty="0">
                <a:latin typeface="Consolas" panose="020B0609020204030204" pitchFamily="49" charset="0"/>
                <a:cs typeface="Kokila"/>
              </a:rPr>
              <a:t>   (</a:t>
            </a:r>
            <a:r>
              <a:rPr lang="zh-TW" altLang="zh-TW" sz="1600" kern="100" dirty="0">
                <a:latin typeface="Consolas" panose="020B0609020204030204" pitchFamily="49" charset="0"/>
                <a:cs typeface="Kokila"/>
              </a:rPr>
              <a:t>自動交易系統</a:t>
            </a:r>
            <a:r>
              <a:rPr lang="en-US" altLang="zh-TW" sz="1600" kern="100" dirty="0">
                <a:latin typeface="Consolas" panose="020B0609020204030204" pitchFamily="49" charset="0"/>
                <a:cs typeface="Kokila"/>
              </a:rPr>
              <a:t>)</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a:latin typeface="Consolas" panose="020B0609020204030204" pitchFamily="49" charset="0"/>
                <a:cs typeface="Kokila"/>
              </a:rPr>
              <a:t>separate    </a:t>
            </a:r>
            <a:endParaRPr lang="zh-TW" altLang="zh-TW" sz="1600" kern="100" dirty="0">
              <a:latin typeface="Calibri" panose="020F0502020204030204" pitchFamily="34" charset="0"/>
              <a:cs typeface="Kokila"/>
            </a:endParaRPr>
          </a:p>
          <a:p>
            <a:pPr latinLnBrk="1">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a:latin typeface="Consolas" panose="020B0609020204030204" pitchFamily="49" charset="0"/>
                <a:cs typeface="Kokila"/>
              </a:rPr>
              <a:t>disclosed      </a:t>
            </a:r>
            <a:endParaRPr lang="zh-TW" altLang="zh-TW" sz="1600" kern="100" dirty="0">
              <a:latin typeface="Calibri" panose="020F0502020204030204" pitchFamily="34" charset="0"/>
              <a:cs typeface="Kokila"/>
            </a:endParaRPr>
          </a:p>
        </p:txBody>
      </p:sp>
      <p:sp>
        <p:nvSpPr>
          <p:cNvPr id="11" name="文字方塊 10"/>
          <p:cNvSpPr txBox="1"/>
          <p:nvPr/>
        </p:nvSpPr>
        <p:spPr>
          <a:xfrm>
            <a:off x="4777370" y="1149215"/>
            <a:ext cx="4642881" cy="2616101"/>
          </a:xfrm>
          <a:prstGeom prst="rect">
            <a:avLst/>
          </a:prstGeom>
          <a:noFill/>
        </p:spPr>
        <p:txBody>
          <a:bodyPr wrap="square" rtlCol="0">
            <a:spAutoFit/>
          </a:bodyPr>
          <a:lstStyle/>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accused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regarding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err="1" smtClean="0">
                <a:solidFill>
                  <a:prstClr val="black"/>
                </a:solidFill>
                <a:latin typeface="Consolas" panose="020B0609020204030204" pitchFamily="49" charset="0"/>
                <a:ea typeface="新細明體" panose="02020500000000000000" pitchFamily="18" charset="-120"/>
                <a:cs typeface="Kokila"/>
              </a:rPr>
              <a:t>ebays</a:t>
            </a: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nominee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giant    (</a:t>
            </a:r>
            <a:r>
              <a:rPr lang="zh-TW" altLang="zh-TW" sz="1600" kern="100" dirty="0" smtClean="0">
                <a:solidFill>
                  <a:prstClr val="black"/>
                </a:solidFill>
                <a:latin typeface="Consolas" panose="020B0609020204030204" pitchFamily="49" charset="0"/>
                <a:ea typeface="新細明體" panose="02020500000000000000" pitchFamily="18" charset="-120"/>
                <a:cs typeface="Kokila"/>
              </a:rPr>
              <a:t>捷安特</a:t>
            </a: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proposed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letter  (</a:t>
            </a:r>
            <a:r>
              <a:rPr lang="zh-TW" altLang="zh-TW" sz="1600" kern="100" dirty="0" smtClean="0">
                <a:solidFill>
                  <a:prstClr val="black"/>
                </a:solidFill>
                <a:latin typeface="Consolas" panose="020B0609020204030204" pitchFamily="49" charset="0"/>
                <a:ea typeface="新細明體" panose="02020500000000000000" pitchFamily="18" charset="-120"/>
                <a:cs typeface="Kokila"/>
              </a:rPr>
              <a:t>常常寫信給股東會</a:t>
            </a: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board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meanwhile         </a:t>
            </a:r>
            <a:endParaRPr lang="zh-TW" altLang="zh-TW" sz="1600" kern="100" dirty="0" smtClean="0">
              <a:solidFill>
                <a:prstClr val="black"/>
              </a:solidFill>
              <a:latin typeface="Calibri" panose="020F0502020204030204" pitchFamily="34" charset="0"/>
              <a:ea typeface="新細明體" panose="02020500000000000000" pitchFamily="18" charset="-120"/>
              <a:cs typeface="Kokila"/>
            </a:endParaRPr>
          </a:p>
          <a:p>
            <a:pPr fontAlgn="auto" latinLnBrk="1">
              <a:spcBef>
                <a:spcPts val="0"/>
              </a:spcBef>
              <a:spcAft>
                <a:spcPts val="0"/>
              </a:spcAft>
              <a:buFontTx/>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marc (</a:t>
            </a:r>
            <a:r>
              <a:rPr lang="zh-TW" altLang="zh-TW" sz="1600" kern="100" dirty="0" smtClean="0">
                <a:solidFill>
                  <a:prstClr val="black"/>
                </a:solidFill>
                <a:latin typeface="Consolas" panose="020B0609020204030204" pitchFamily="49" charset="0"/>
                <a:ea typeface="新細明體" panose="02020500000000000000" pitchFamily="18" charset="-120"/>
                <a:cs typeface="Kokila"/>
              </a:rPr>
              <a:t>大股東的名字，也是一個知名品牌</a:t>
            </a:r>
            <a:r>
              <a:rPr lang="en-US" altLang="zh-TW" sz="1600" kern="100" dirty="0" smtClean="0">
                <a:solidFill>
                  <a:prstClr val="black"/>
                </a:solidFill>
                <a:latin typeface="Consolas" panose="020B0609020204030204" pitchFamily="49" charset="0"/>
                <a:ea typeface="新細明體" panose="02020500000000000000" pitchFamily="18" charset="-120"/>
                <a:cs typeface="Kokila"/>
              </a:rPr>
              <a:t>)</a:t>
            </a:r>
            <a:endParaRPr lang="zh-TW" altLang="zh-TW" sz="1600" kern="100" dirty="0">
              <a:solidFill>
                <a:prstClr val="black"/>
              </a:solidFill>
              <a:latin typeface="Calibri" panose="020F0502020204030204" pitchFamily="34" charset="0"/>
              <a:ea typeface="新細明體" panose="02020500000000000000" pitchFamily="18" charset="-120"/>
              <a:cs typeface="Kokila"/>
            </a:endParaRPr>
          </a:p>
        </p:txBody>
      </p:sp>
      <p:sp>
        <p:nvSpPr>
          <p:cNvPr id="12" name="矩形 11"/>
          <p:cNvSpPr/>
          <p:nvPr/>
        </p:nvSpPr>
        <p:spPr>
          <a:xfrm>
            <a:off x="644917" y="3765316"/>
            <a:ext cx="8091474" cy="1323439"/>
          </a:xfrm>
          <a:prstGeom prst="rect">
            <a:avLst/>
          </a:prstGeom>
        </p:spPr>
        <p:txBody>
          <a:bodyPr wrap="square">
            <a:spAutoFit/>
          </a:bodyPr>
          <a:lstStyle/>
          <a:p>
            <a:pPr>
              <a:spcAft>
                <a:spcPts val="0"/>
              </a:spcAft>
            </a:pPr>
            <a:r>
              <a:rPr lang="zh-TW" altLang="zh-TW" sz="1600" kern="100" dirty="0">
                <a:latin typeface="+mn-ea"/>
                <a:ea typeface="+mn-ea"/>
                <a:cs typeface="Kokila"/>
              </a:rPr>
              <a:t>根據上述的</a:t>
            </a:r>
            <a:r>
              <a:rPr lang="en-US" altLang="zh-TW" sz="1600" kern="100" dirty="0">
                <a:latin typeface="+mn-ea"/>
                <a:ea typeface="+mn-ea"/>
                <a:cs typeface="Kokila"/>
              </a:rPr>
              <a:t>online</a:t>
            </a:r>
            <a:r>
              <a:rPr lang="zh-TW" altLang="zh-TW" sz="1600" kern="100" dirty="0">
                <a:latin typeface="+mn-ea"/>
                <a:ea typeface="+mn-ea"/>
                <a:cs typeface="Kokila"/>
              </a:rPr>
              <a:t>，</a:t>
            </a:r>
            <a:r>
              <a:rPr lang="en-US" altLang="zh-TW" sz="1600" kern="100" dirty="0">
                <a:latin typeface="+mn-ea"/>
                <a:ea typeface="+mn-ea"/>
                <a:cs typeface="Kokila"/>
              </a:rPr>
              <a:t>auction</a:t>
            </a:r>
            <a:r>
              <a:rPr lang="zh-TW" altLang="zh-TW" sz="1600" kern="100" dirty="0">
                <a:latin typeface="+mn-ea"/>
                <a:ea typeface="+mn-ea"/>
                <a:cs typeface="Kokila"/>
              </a:rPr>
              <a:t>，</a:t>
            </a:r>
            <a:r>
              <a:rPr lang="en-US" altLang="zh-TW" sz="1600" kern="100" dirty="0" err="1">
                <a:latin typeface="+mn-ea"/>
                <a:ea typeface="+mn-ea"/>
                <a:cs typeface="Kokila"/>
              </a:rPr>
              <a:t>nasdaqebay</a:t>
            </a:r>
            <a:r>
              <a:rPr lang="zh-TW" altLang="zh-TW" sz="1600" kern="100" dirty="0">
                <a:latin typeface="+mn-ea"/>
                <a:ea typeface="+mn-ea"/>
                <a:cs typeface="Kokila"/>
              </a:rPr>
              <a:t>，</a:t>
            </a:r>
            <a:r>
              <a:rPr lang="en-US" altLang="zh-TW" sz="1600" kern="100" dirty="0">
                <a:latin typeface="+mn-ea"/>
                <a:ea typeface="+mn-ea"/>
                <a:cs typeface="Kokila"/>
              </a:rPr>
              <a:t>giant</a:t>
            </a:r>
            <a:r>
              <a:rPr lang="zh-TW" altLang="zh-TW" sz="1600" kern="100" dirty="0">
                <a:latin typeface="+mn-ea"/>
                <a:ea typeface="+mn-ea"/>
                <a:cs typeface="Kokila"/>
              </a:rPr>
              <a:t>，</a:t>
            </a:r>
            <a:r>
              <a:rPr lang="en-US" altLang="zh-TW" sz="1600" kern="100" dirty="0">
                <a:latin typeface="+mn-ea"/>
                <a:ea typeface="+mn-ea"/>
                <a:cs typeface="Kokila"/>
              </a:rPr>
              <a:t>pay</a:t>
            </a:r>
            <a:r>
              <a:rPr lang="zh-TW" altLang="zh-TW" sz="1600" kern="100" dirty="0">
                <a:latin typeface="+mn-ea"/>
                <a:ea typeface="+mn-ea"/>
                <a:cs typeface="Kokila"/>
              </a:rPr>
              <a:t>，</a:t>
            </a:r>
            <a:r>
              <a:rPr lang="en-US" altLang="zh-TW" sz="1600" kern="100" dirty="0">
                <a:latin typeface="+mn-ea"/>
                <a:ea typeface="+mn-ea"/>
                <a:cs typeface="Kokila"/>
              </a:rPr>
              <a:t>marc</a:t>
            </a:r>
            <a:r>
              <a:rPr lang="zh-TW" altLang="zh-TW" sz="1600" kern="100" dirty="0">
                <a:latin typeface="+mn-ea"/>
                <a:ea typeface="+mn-ea"/>
                <a:cs typeface="Kokila"/>
              </a:rPr>
              <a:t>，我們可以瞭解到</a:t>
            </a:r>
            <a:r>
              <a:rPr lang="en-US" altLang="zh-TW" sz="1600" kern="100" dirty="0">
                <a:solidFill>
                  <a:srgbClr val="222222"/>
                </a:solidFill>
                <a:latin typeface="+mn-ea"/>
                <a:ea typeface="+mn-ea"/>
                <a:cs typeface="Kokila"/>
              </a:rPr>
              <a:t>eBay</a:t>
            </a:r>
            <a:r>
              <a:rPr lang="zh-TW" altLang="zh-TW" sz="1600" kern="100" dirty="0">
                <a:solidFill>
                  <a:srgbClr val="222222"/>
                </a:solidFill>
                <a:latin typeface="+mn-ea"/>
                <a:ea typeface="+mn-ea"/>
                <a:cs typeface="Arial" panose="020B0604020202020204" pitchFamily="34" charset="0"/>
              </a:rPr>
              <a:t>是一個上網買賣物品的線上拍賣及購物</a:t>
            </a:r>
            <a:r>
              <a:rPr lang="zh-TW" altLang="zh-TW" sz="1600" kern="100" dirty="0" smtClean="0">
                <a:solidFill>
                  <a:srgbClr val="222222"/>
                </a:solidFill>
                <a:latin typeface="+mn-ea"/>
                <a:ea typeface="+mn-ea"/>
                <a:cs typeface="Arial" panose="020B0604020202020204" pitchFamily="34" charset="0"/>
              </a:rPr>
              <a:t>網站</a:t>
            </a:r>
            <a:r>
              <a:rPr lang="zh-TW" altLang="en-US" sz="1600" kern="100" dirty="0">
                <a:solidFill>
                  <a:srgbClr val="222222"/>
                </a:solidFill>
                <a:latin typeface="+mn-ea"/>
                <a:ea typeface="+mn-ea"/>
                <a:cs typeface="Arial" panose="020B0604020202020204" pitchFamily="34" charset="0"/>
              </a:rPr>
              <a:t>。</a:t>
            </a:r>
            <a:r>
              <a:rPr lang="zh-TW" altLang="zh-TW" sz="1600" kern="100" dirty="0" smtClean="0">
                <a:solidFill>
                  <a:srgbClr val="222222"/>
                </a:solidFill>
                <a:latin typeface="+mn-ea"/>
                <a:ea typeface="+mn-ea"/>
                <a:cs typeface="Arial" panose="020B0604020202020204" pitchFamily="34" charset="0"/>
              </a:rPr>
              <a:t>而</a:t>
            </a:r>
            <a:r>
              <a:rPr lang="zh-TW" altLang="zh-TW" sz="1600" kern="100" dirty="0">
                <a:solidFill>
                  <a:srgbClr val="222222"/>
                </a:solidFill>
                <a:latin typeface="+mn-ea"/>
                <a:ea typeface="+mn-ea"/>
                <a:cs typeface="Arial" panose="020B0604020202020204" pitchFamily="34" charset="0"/>
              </a:rPr>
              <a:t>透過</a:t>
            </a:r>
            <a:r>
              <a:rPr lang="en-US" altLang="zh-TW" sz="1600" kern="100" dirty="0">
                <a:latin typeface="+mn-ea"/>
                <a:ea typeface="+mn-ea"/>
                <a:cs typeface="Kokila"/>
              </a:rPr>
              <a:t>disclosed</a:t>
            </a:r>
            <a:r>
              <a:rPr lang="zh-TW" altLang="zh-TW" sz="1600" kern="100" dirty="0">
                <a:latin typeface="+mn-ea"/>
                <a:ea typeface="+mn-ea"/>
                <a:cs typeface="Kokila"/>
              </a:rPr>
              <a:t>，</a:t>
            </a:r>
            <a:r>
              <a:rPr lang="en-US" altLang="zh-TW" sz="1600" kern="100" dirty="0">
                <a:latin typeface="+mn-ea"/>
                <a:ea typeface="+mn-ea"/>
                <a:cs typeface="Kokila"/>
              </a:rPr>
              <a:t>accused</a:t>
            </a:r>
            <a:r>
              <a:rPr lang="zh-TW" altLang="zh-TW" sz="1600" kern="100" dirty="0">
                <a:latin typeface="+mn-ea"/>
                <a:ea typeface="+mn-ea"/>
                <a:cs typeface="Kokila"/>
              </a:rPr>
              <a:t>我們可以迅速推測</a:t>
            </a:r>
            <a:r>
              <a:rPr lang="en-US" altLang="zh-TW" sz="1600" kern="100" dirty="0">
                <a:solidFill>
                  <a:srgbClr val="222222"/>
                </a:solidFill>
                <a:latin typeface="+mn-ea"/>
                <a:ea typeface="+mn-ea"/>
                <a:cs typeface="Kokila"/>
              </a:rPr>
              <a:t>eBay</a:t>
            </a:r>
            <a:r>
              <a:rPr lang="zh-TW" altLang="zh-TW" sz="1600" kern="100" dirty="0">
                <a:solidFill>
                  <a:srgbClr val="222222"/>
                </a:solidFill>
                <a:latin typeface="+mn-ea"/>
                <a:ea typeface="+mn-ea"/>
                <a:cs typeface="Arial" panose="020B0604020202020204" pitchFamily="34" charset="0"/>
              </a:rPr>
              <a:t>應該是曾經被控告侵權過，果然發現</a:t>
            </a:r>
            <a:r>
              <a:rPr lang="en-US" altLang="zh-TW" sz="1600" kern="100" dirty="0">
                <a:solidFill>
                  <a:srgbClr val="222222"/>
                </a:solidFill>
                <a:latin typeface="+mn-ea"/>
                <a:ea typeface="+mn-ea"/>
                <a:cs typeface="Kokila"/>
              </a:rPr>
              <a:t>eBay</a:t>
            </a:r>
            <a:r>
              <a:rPr lang="zh-TW" altLang="zh-TW" sz="1600" kern="100" dirty="0">
                <a:solidFill>
                  <a:srgbClr val="222222"/>
                </a:solidFill>
                <a:latin typeface="+mn-ea"/>
                <a:ea typeface="+mn-ea"/>
                <a:cs typeface="Arial" panose="020B0604020202020204" pitchFamily="34" charset="0"/>
              </a:rPr>
              <a:t>曾經陷入</a:t>
            </a:r>
            <a:r>
              <a:rPr lang="zh-TW" altLang="zh-TW" sz="1600" kern="100" dirty="0" smtClean="0">
                <a:solidFill>
                  <a:srgbClr val="222222"/>
                </a:solidFill>
                <a:latin typeface="+mn-ea"/>
                <a:ea typeface="+mn-ea"/>
                <a:cs typeface="Arial" panose="020B0604020202020204" pitchFamily="34" charset="0"/>
              </a:rPr>
              <a:t>一個</a:t>
            </a:r>
            <a:r>
              <a:rPr lang="zh-TW" altLang="en-US" sz="1600" kern="100" dirty="0" smtClean="0">
                <a:solidFill>
                  <a:srgbClr val="222222"/>
                </a:solidFill>
                <a:latin typeface="+mn-ea"/>
                <a:ea typeface="+mn-ea"/>
                <a:cs typeface="Arial" panose="020B0604020202020204" pitchFamily="34" charset="0"/>
              </a:rPr>
              <a:t>重</a:t>
            </a:r>
            <a:r>
              <a:rPr lang="zh-TW" altLang="zh-TW" sz="1600" kern="100" dirty="0" smtClean="0">
                <a:solidFill>
                  <a:srgbClr val="222222"/>
                </a:solidFill>
                <a:latin typeface="+mn-ea"/>
                <a:ea typeface="+mn-ea"/>
                <a:cs typeface="Arial" panose="020B0604020202020204" pitchFamily="34" charset="0"/>
              </a:rPr>
              <a:t>大</a:t>
            </a:r>
            <a:r>
              <a:rPr lang="zh-TW" altLang="zh-TW" sz="1600" kern="100" dirty="0">
                <a:solidFill>
                  <a:srgbClr val="222222"/>
                </a:solidFill>
                <a:latin typeface="+mn-ea"/>
                <a:ea typeface="+mn-ea"/>
                <a:cs typeface="Arial" panose="020B0604020202020204" pitchFamily="34" charset="0"/>
              </a:rPr>
              <a:t>的侵權案裡</a:t>
            </a:r>
            <a:r>
              <a:rPr lang="zh-TW" altLang="zh-TW" sz="1600" kern="100" dirty="0" smtClean="0">
                <a:latin typeface="+mn-ea"/>
                <a:ea typeface="+mn-ea"/>
                <a:cs typeface="Kokila"/>
              </a:rPr>
              <a:t>。還有</a:t>
            </a:r>
            <a:r>
              <a:rPr lang="zh-TW" altLang="zh-TW" sz="1600" kern="100" dirty="0">
                <a:latin typeface="+mn-ea"/>
                <a:ea typeface="+mn-ea"/>
                <a:cs typeface="Kokila"/>
              </a:rPr>
              <a:t>就是透過</a:t>
            </a:r>
            <a:r>
              <a:rPr lang="en-US" altLang="zh-TW" sz="1600" kern="100" dirty="0">
                <a:latin typeface="+mn-ea"/>
                <a:ea typeface="+mn-ea"/>
                <a:cs typeface="Kokila"/>
              </a:rPr>
              <a:t>nominee</a:t>
            </a:r>
            <a:r>
              <a:rPr lang="zh-TW" altLang="zh-TW" sz="1600" kern="100" dirty="0">
                <a:latin typeface="+mn-ea"/>
                <a:ea typeface="+mn-ea"/>
                <a:cs typeface="Kokila"/>
              </a:rPr>
              <a:t>，</a:t>
            </a:r>
            <a:r>
              <a:rPr lang="en-US" altLang="zh-TW" sz="1600" kern="100" dirty="0">
                <a:latin typeface="+mn-ea"/>
                <a:ea typeface="+mn-ea"/>
                <a:cs typeface="Kokila"/>
              </a:rPr>
              <a:t>proposed</a:t>
            </a:r>
            <a:r>
              <a:rPr lang="zh-TW" altLang="zh-TW" sz="1600" kern="100" dirty="0">
                <a:latin typeface="+mn-ea"/>
                <a:ea typeface="+mn-ea"/>
                <a:cs typeface="Kokila"/>
              </a:rPr>
              <a:t>，</a:t>
            </a:r>
            <a:r>
              <a:rPr lang="en-US" altLang="zh-TW" sz="1600" kern="100" dirty="0">
                <a:latin typeface="+mn-ea"/>
                <a:ea typeface="+mn-ea"/>
                <a:cs typeface="Kokila"/>
              </a:rPr>
              <a:t>letter</a:t>
            </a:r>
            <a:r>
              <a:rPr lang="zh-TW" altLang="zh-TW" sz="1600" kern="100" dirty="0">
                <a:latin typeface="+mn-ea"/>
                <a:ea typeface="+mn-ea"/>
                <a:cs typeface="Kokila"/>
              </a:rPr>
              <a:t>，</a:t>
            </a:r>
            <a:r>
              <a:rPr lang="en-US" altLang="zh-TW" sz="1600" kern="100" dirty="0">
                <a:latin typeface="+mn-ea"/>
                <a:ea typeface="+mn-ea"/>
                <a:cs typeface="Kokila"/>
              </a:rPr>
              <a:t>board</a:t>
            </a:r>
            <a:r>
              <a:rPr lang="zh-TW" altLang="zh-TW" sz="1600" kern="100" dirty="0">
                <a:latin typeface="+mn-ea"/>
                <a:ea typeface="+mn-ea"/>
                <a:cs typeface="Kokila"/>
              </a:rPr>
              <a:t>，</a:t>
            </a:r>
            <a:r>
              <a:rPr lang="en-US" altLang="zh-TW" sz="1600" kern="100" dirty="0">
                <a:latin typeface="+mn-ea"/>
                <a:ea typeface="+mn-ea"/>
                <a:cs typeface="Kokila"/>
              </a:rPr>
              <a:t>marc</a:t>
            </a:r>
            <a:r>
              <a:rPr lang="zh-TW" altLang="zh-TW" sz="1600" kern="100" dirty="0">
                <a:latin typeface="+mn-ea"/>
                <a:ea typeface="+mn-ea"/>
                <a:cs typeface="Kokila"/>
              </a:rPr>
              <a:t>我們可以了解到應該是有一名叫</a:t>
            </a:r>
            <a:r>
              <a:rPr lang="en-US" altLang="zh-TW" sz="1600" kern="100" dirty="0">
                <a:latin typeface="+mn-ea"/>
                <a:ea typeface="+mn-ea"/>
                <a:cs typeface="Kokila"/>
              </a:rPr>
              <a:t>marc</a:t>
            </a:r>
            <a:r>
              <a:rPr lang="zh-TW" altLang="zh-TW" sz="1600" kern="100" dirty="0">
                <a:latin typeface="+mn-ea"/>
                <a:ea typeface="+mn-ea"/>
                <a:cs typeface="Kokila"/>
              </a:rPr>
              <a:t>的人被提名當了候選人，果不其然在網路上的新聞中</a:t>
            </a:r>
            <a:r>
              <a:rPr lang="en-US" altLang="zh-TW" sz="1600" kern="100" dirty="0">
                <a:latin typeface="+mn-ea"/>
                <a:ea typeface="+mn-ea"/>
                <a:cs typeface="Kokila"/>
              </a:rPr>
              <a:t>Marc</a:t>
            </a:r>
            <a:r>
              <a:rPr lang="zh-TW" altLang="zh-TW" sz="1600" kern="100" dirty="0">
                <a:latin typeface="+mn-ea"/>
                <a:ea typeface="+mn-ea"/>
                <a:cs typeface="Kokila"/>
              </a:rPr>
              <a:t>被提名進入了</a:t>
            </a:r>
            <a:r>
              <a:rPr lang="en-US" altLang="zh-TW" sz="1600" kern="100" dirty="0">
                <a:latin typeface="+mn-ea"/>
                <a:ea typeface="+mn-ea"/>
                <a:cs typeface="Kokila"/>
              </a:rPr>
              <a:t>eBay</a:t>
            </a:r>
            <a:r>
              <a:rPr lang="zh-TW" altLang="zh-TW" sz="1600" kern="100" dirty="0">
                <a:latin typeface="+mn-ea"/>
                <a:ea typeface="+mn-ea"/>
                <a:cs typeface="Kokila"/>
              </a:rPr>
              <a:t>的董事會。</a:t>
            </a:r>
          </a:p>
        </p:txBody>
      </p:sp>
      <p:sp>
        <p:nvSpPr>
          <p:cNvPr id="13" name="流程图: 合并 38"/>
          <p:cNvSpPr>
            <a:spLocks noChangeArrowheads="1"/>
          </p:cNvSpPr>
          <p:nvPr/>
        </p:nvSpPr>
        <p:spPr bwMode="auto">
          <a:xfrm rot="16200000">
            <a:off x="266614" y="3862613"/>
            <a:ext cx="360362" cy="241300"/>
          </a:xfrm>
          <a:prstGeom prst="flowChartMerge">
            <a:avLst/>
          </a:prstGeom>
          <a:noFill/>
          <a:ln w="6350" cap="flat" cmpd="sng">
            <a:solidFill>
              <a:schemeClr val="accent2"/>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grpSp>
        <p:nvGrpSpPr>
          <p:cNvPr id="20" name="组合 1"/>
          <p:cNvGrpSpPr>
            <a:grpSpLocks/>
          </p:cNvGrpSpPr>
          <p:nvPr/>
        </p:nvGrpSpPr>
        <p:grpSpPr bwMode="auto">
          <a:xfrm>
            <a:off x="5335888" y="220442"/>
            <a:ext cx="3816350" cy="406400"/>
            <a:chOff x="0" y="0"/>
            <a:chExt cx="3816672" cy="405750"/>
          </a:xfrm>
        </p:grpSpPr>
        <p:sp>
          <p:nvSpPr>
            <p:cNvPr id="21"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3"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2711935419"/>
      </p:ext>
    </p:extLst>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8199" name="TextBox 5"/>
          <p:cNvSpPr>
            <a:spLocks noChangeArrowheads="1"/>
          </p:cNvSpPr>
          <p:nvPr/>
        </p:nvSpPr>
        <p:spPr bwMode="auto">
          <a:xfrm>
            <a:off x="7369175" y="-34925"/>
            <a:ext cx="15128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dist"/>
            <a:r>
              <a:rPr lang="en-US" sz="5400" b="1">
                <a:solidFill>
                  <a:srgbClr val="05AFC8"/>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FC000"/>
                </a:solidFill>
                <a:latin typeface="微软雅黑" pitchFamily="34" charset="-122"/>
                <a:ea typeface="微软雅黑" pitchFamily="34" charset="-122"/>
                <a:sym typeface="微软雅黑" pitchFamily="34" charset="-122"/>
              </a:rPr>
              <a:t>·</a:t>
            </a:r>
            <a:r>
              <a:rPr lang="en-US" sz="5400" b="1">
                <a:solidFill>
                  <a:srgbClr val="3F3F3F"/>
                </a:solidFill>
                <a:latin typeface="微软雅黑" pitchFamily="34" charset="-122"/>
                <a:ea typeface="微软雅黑" pitchFamily="34" charset="-122"/>
                <a:sym typeface="微软雅黑" pitchFamily="34" charset="-122"/>
              </a:rPr>
              <a:t> </a:t>
            </a: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7" name="圓角矩形 16"/>
          <p:cNvSpPr/>
          <p:nvPr/>
        </p:nvSpPr>
        <p:spPr bwMode="auto">
          <a:xfrm>
            <a:off x="359510" y="722112"/>
            <a:ext cx="8218497" cy="389339"/>
          </a:xfrm>
          <a:prstGeom prst="roundRect">
            <a:avLst/>
          </a:prstGeom>
          <a:solidFill>
            <a:schemeClr val="tx1">
              <a:lumMod val="85000"/>
              <a:lumOff val="15000"/>
            </a:schemeClr>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r>
              <a:rPr lang="en-US" altLang="zh-TW" dirty="0">
                <a:solidFill>
                  <a:schemeClr val="bg1"/>
                </a:solidFill>
                <a:latin typeface="Consolas" panose="020B0609020204030204" pitchFamily="49" charset="0"/>
              </a:rPr>
              <a:t>&gt; </a:t>
            </a:r>
            <a:r>
              <a:rPr lang="en-US" altLang="zh-TW" dirty="0" err="1">
                <a:solidFill>
                  <a:schemeClr val="bg1"/>
                </a:solidFill>
                <a:latin typeface="Consolas" panose="020B0609020204030204" pitchFamily="49" charset="0"/>
              </a:rPr>
              <a:t>nearest_to</a:t>
            </a:r>
            <a:r>
              <a:rPr lang="en-US" altLang="zh-TW" dirty="0">
                <a:solidFill>
                  <a:schemeClr val="bg1"/>
                </a:solidFill>
                <a:latin typeface="Consolas" panose="020B0609020204030204" pitchFamily="49" charset="0"/>
              </a:rPr>
              <a:t>(</a:t>
            </a:r>
            <a:r>
              <a:rPr lang="en-US" altLang="zh-TW" dirty="0" err="1">
                <a:solidFill>
                  <a:schemeClr val="bg1"/>
                </a:solidFill>
                <a:latin typeface="Consolas" panose="020B0609020204030204" pitchFamily="49" charset="0"/>
              </a:rPr>
              <a:t>model,model</a:t>
            </a:r>
            <a:r>
              <a:rPr lang="en-US" altLang="zh-TW" dirty="0">
                <a:solidFill>
                  <a:schemeClr val="bg1"/>
                </a:solidFill>
                <a:latin typeface="Consolas" panose="020B0609020204030204" pitchFamily="49" charset="0"/>
              </a:rPr>
              <a:t>[["company"]],n=20)</a:t>
            </a:r>
          </a:p>
        </p:txBody>
      </p:sp>
      <p:sp>
        <p:nvSpPr>
          <p:cNvPr id="13" name="流程图: 合并 38"/>
          <p:cNvSpPr>
            <a:spLocks noChangeArrowheads="1"/>
          </p:cNvSpPr>
          <p:nvPr/>
        </p:nvSpPr>
        <p:spPr bwMode="auto">
          <a:xfrm rot="16200000">
            <a:off x="227807" y="3782142"/>
            <a:ext cx="360362" cy="241300"/>
          </a:xfrm>
          <a:prstGeom prst="flowChartMerge">
            <a:avLst/>
          </a:prstGeom>
          <a:noFill/>
          <a:ln w="6350" cap="flat" cmpd="sng">
            <a:solidFill>
              <a:schemeClr val="accent2"/>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14" name="矩形 13"/>
          <p:cNvSpPr/>
          <p:nvPr/>
        </p:nvSpPr>
        <p:spPr>
          <a:xfrm>
            <a:off x="567445" y="1111451"/>
            <a:ext cx="2076074" cy="2616101"/>
          </a:xfrm>
          <a:prstGeom prst="rect">
            <a:avLst/>
          </a:prstGeom>
        </p:spPr>
        <p:txBody>
          <a:bodyPr wrap="square">
            <a:spAutoFit/>
          </a:bodyPr>
          <a:lstStyle/>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company      </a:t>
            </a:r>
          </a:p>
          <a:p>
            <a:pPr fontAlgn="auto">
              <a:spcBef>
                <a:spcPts val="0"/>
              </a:spcBef>
              <a:spcAft>
                <a:spcPts val="0"/>
              </a:spcAft>
              <a:buFontTx/>
              <a:buNone/>
            </a:pPr>
            <a:r>
              <a:rPr lang="en-US" altLang="zh-TW" sz="1600" dirty="0" err="1" smtClean="0">
                <a:solidFill>
                  <a:prstClr val="black"/>
                </a:solidFill>
                <a:latin typeface="Consolas" panose="020B0609020204030204" pitchFamily="49" charset="0"/>
                <a:ea typeface="新細明體" panose="02020500000000000000" pitchFamily="18" charset="-120"/>
              </a:rPr>
              <a:t>paypals</a:t>
            </a:r>
            <a:r>
              <a:rPr lang="en-US" altLang="zh-TW" sz="1600" dirty="0" smtClean="0">
                <a:solidFill>
                  <a:prstClr val="black"/>
                </a:solidFill>
                <a:latin typeface="Consolas" panose="020B0609020204030204" pitchFamily="49" charset="0"/>
                <a:ea typeface="新細明體" panose="02020500000000000000" pitchFamily="18" charset="-120"/>
              </a:rPr>
              <a:t>       </a:t>
            </a:r>
          </a:p>
          <a:p>
            <a:pPr fontAlgn="auto">
              <a:spcBef>
                <a:spcPts val="0"/>
              </a:spcBef>
              <a:spcAft>
                <a:spcPts val="0"/>
              </a:spcAft>
              <a:buFontTx/>
              <a:buNone/>
            </a:pPr>
            <a:r>
              <a:rPr lang="en-US" altLang="zh-TW" sz="1600" dirty="0" err="1" smtClean="0">
                <a:solidFill>
                  <a:prstClr val="black"/>
                </a:solidFill>
                <a:latin typeface="Consolas" panose="020B0609020204030204" pitchFamily="49" charset="0"/>
                <a:ea typeface="新細明體" panose="02020500000000000000" pitchFamily="18" charset="-120"/>
              </a:rPr>
              <a:t>paypal</a:t>
            </a:r>
            <a:r>
              <a:rPr lang="en-US" altLang="zh-TW" sz="1600" dirty="0" smtClean="0">
                <a:solidFill>
                  <a:prstClr val="black"/>
                </a:solidFill>
                <a:latin typeface="Consolas" panose="020B0609020204030204" pitchFamily="49" charset="0"/>
                <a:ea typeface="新細明體" panose="02020500000000000000" pitchFamily="18" charset="-120"/>
              </a:rPr>
              <a:t>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auction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visa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services </a:t>
            </a:r>
          </a:p>
          <a:p>
            <a:pPr fontAlgn="auto">
              <a:spcBef>
                <a:spcPts val="0"/>
              </a:spcBef>
              <a:spcAft>
                <a:spcPts val="0"/>
              </a:spcAft>
              <a:buFontTx/>
              <a:buNone/>
            </a:pPr>
            <a:r>
              <a:rPr lang="en-US" altLang="zh-TW" sz="1600" dirty="0" err="1" smtClean="0">
                <a:solidFill>
                  <a:prstClr val="black"/>
                </a:solidFill>
                <a:latin typeface="Consolas" panose="020B0609020204030204" pitchFamily="49" charset="0"/>
                <a:ea typeface="新細明體" panose="02020500000000000000" pitchFamily="18" charset="-120"/>
              </a:rPr>
              <a:t>indepdent</a:t>
            </a:r>
            <a:r>
              <a:rPr lang="en-US" altLang="zh-TW" sz="1600" dirty="0" smtClean="0">
                <a:solidFill>
                  <a:prstClr val="black"/>
                </a:solidFill>
                <a:latin typeface="Consolas" panose="020B0609020204030204" pitchFamily="49" charset="0"/>
                <a:ea typeface="新細明體" panose="02020500000000000000" pitchFamily="18" charset="-120"/>
              </a:rPr>
              <a:t>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spin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google</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war </a:t>
            </a:r>
            <a:endParaRPr lang="zh-TW" altLang="en-US" sz="1600" dirty="0">
              <a:solidFill>
                <a:prstClr val="black"/>
              </a:solidFill>
              <a:latin typeface="Consolas" panose="020B0609020204030204" pitchFamily="49" charset="0"/>
              <a:ea typeface="新細明體" panose="02020500000000000000" pitchFamily="18" charset="-120"/>
            </a:endParaRPr>
          </a:p>
        </p:txBody>
      </p:sp>
      <p:sp>
        <p:nvSpPr>
          <p:cNvPr id="15" name="矩形 14"/>
          <p:cNvSpPr/>
          <p:nvPr/>
        </p:nvSpPr>
        <p:spPr>
          <a:xfrm>
            <a:off x="4585290" y="1106510"/>
            <a:ext cx="2671328" cy="2616101"/>
          </a:xfrm>
          <a:prstGeom prst="rect">
            <a:avLst/>
          </a:prstGeom>
        </p:spPr>
        <p:txBody>
          <a:bodyPr wrap="square">
            <a:spAutoFit/>
          </a:bodyPr>
          <a:lstStyle/>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payments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accused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disclosed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apple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separate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win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business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companies         </a:t>
            </a:r>
          </a:p>
          <a:p>
            <a:pPr fontAlgn="auto">
              <a:spcBef>
                <a:spcPts val="0"/>
              </a:spcBef>
              <a:spcAft>
                <a:spcPts val="0"/>
              </a:spcAft>
              <a:buFontTx/>
              <a:buNone/>
            </a:pPr>
            <a:r>
              <a:rPr lang="en-US" altLang="zh-TW" sz="1600" dirty="0" err="1" smtClean="0">
                <a:solidFill>
                  <a:prstClr val="black"/>
                </a:solidFill>
                <a:latin typeface="Consolas" panose="020B0609020204030204" pitchFamily="49" charset="0"/>
                <a:ea typeface="新細明體" panose="02020500000000000000" pitchFamily="18" charset="-120"/>
              </a:rPr>
              <a:t>ebay</a:t>
            </a:r>
            <a:r>
              <a:rPr lang="en-US" altLang="zh-TW" sz="1600" dirty="0" smtClean="0">
                <a:solidFill>
                  <a:prstClr val="black"/>
                </a:solidFill>
                <a:latin typeface="Consolas" panose="020B0609020204030204" pitchFamily="49" charset="0"/>
                <a:ea typeface="新細明體" panose="02020500000000000000" pitchFamily="18" charset="-120"/>
              </a:rPr>
              <a:t>  </a:t>
            </a:r>
          </a:p>
          <a:p>
            <a:pPr fontAlgn="auto">
              <a:spcBef>
                <a:spcPts val="0"/>
              </a:spcBef>
              <a:spcAft>
                <a:spcPts val="0"/>
              </a:spcAft>
              <a:buFontTx/>
              <a:buNone/>
            </a:pPr>
            <a:r>
              <a:rPr lang="en-US" altLang="zh-TW" sz="1600" dirty="0" smtClean="0">
                <a:solidFill>
                  <a:prstClr val="black"/>
                </a:solidFill>
                <a:latin typeface="Consolas" panose="020B0609020204030204" pitchFamily="49" charset="0"/>
                <a:ea typeface="新細明體" panose="02020500000000000000" pitchFamily="18" charset="-120"/>
              </a:rPr>
              <a:t>billionaire </a:t>
            </a:r>
            <a:endParaRPr lang="en-US" altLang="zh-TW" sz="1600" dirty="0">
              <a:solidFill>
                <a:prstClr val="black"/>
              </a:solidFill>
              <a:latin typeface="Consolas" panose="020B0609020204030204" pitchFamily="49" charset="0"/>
              <a:ea typeface="新細明體" panose="02020500000000000000" pitchFamily="18" charset="-120"/>
            </a:endParaRPr>
          </a:p>
        </p:txBody>
      </p:sp>
      <p:sp>
        <p:nvSpPr>
          <p:cNvPr id="16" name="矩形 15"/>
          <p:cNvSpPr/>
          <p:nvPr/>
        </p:nvSpPr>
        <p:spPr>
          <a:xfrm>
            <a:off x="528638" y="3573840"/>
            <a:ext cx="8593832" cy="1569660"/>
          </a:xfrm>
          <a:prstGeom prst="rect">
            <a:avLst/>
          </a:prstGeom>
        </p:spPr>
        <p:txBody>
          <a:bodyPr wrap="square">
            <a:spAutoFit/>
          </a:bodyPr>
          <a:lstStyle/>
          <a:p>
            <a:pPr fontAlgn="auto">
              <a:spcBef>
                <a:spcPts val="0"/>
              </a:spcBef>
              <a:spcAft>
                <a:spcPts val="0"/>
              </a:spcAft>
              <a:buFontTx/>
              <a:buNone/>
            </a:pPr>
            <a:r>
              <a:rPr lang="zh-TW" altLang="en-US" sz="1600" dirty="0" smtClean="0">
                <a:solidFill>
                  <a:prstClr val="black"/>
                </a:solidFill>
                <a:latin typeface="+mn-ea"/>
                <a:ea typeface="+mn-ea"/>
              </a:rPr>
              <a:t>藉由</a:t>
            </a:r>
            <a:r>
              <a:rPr lang="en-US" altLang="zh-TW" sz="1600" dirty="0" smtClean="0">
                <a:solidFill>
                  <a:prstClr val="black"/>
                </a:solidFill>
                <a:latin typeface="+mn-ea"/>
                <a:ea typeface="+mn-ea"/>
              </a:rPr>
              <a:t>eBay</a:t>
            </a:r>
            <a:r>
              <a:rPr lang="zh-TW" altLang="en-US" sz="1600" dirty="0" smtClean="0">
                <a:solidFill>
                  <a:prstClr val="black"/>
                </a:solidFill>
                <a:latin typeface="+mn-ea"/>
                <a:ea typeface="+mn-ea"/>
              </a:rPr>
              <a:t>，</a:t>
            </a:r>
            <a:r>
              <a:rPr lang="en-US" altLang="zh-TW" sz="1600" dirty="0" err="1" smtClean="0">
                <a:solidFill>
                  <a:prstClr val="black"/>
                </a:solidFill>
                <a:latin typeface="+mn-ea"/>
                <a:ea typeface="+mn-ea"/>
              </a:rPr>
              <a:t>paypal</a:t>
            </a:r>
            <a:r>
              <a:rPr lang="zh-TW" altLang="en-US" sz="1600" dirty="0" smtClean="0">
                <a:solidFill>
                  <a:prstClr val="black"/>
                </a:solidFill>
                <a:latin typeface="+mn-ea"/>
                <a:ea typeface="+mn-ea"/>
              </a:rPr>
              <a:t>，</a:t>
            </a:r>
            <a:r>
              <a:rPr lang="en-US" altLang="zh-TW" sz="1600" dirty="0" smtClean="0">
                <a:solidFill>
                  <a:prstClr val="black"/>
                </a:solidFill>
                <a:latin typeface="+mn-ea"/>
                <a:ea typeface="+mn-ea"/>
              </a:rPr>
              <a:t>visa</a:t>
            </a:r>
            <a:r>
              <a:rPr lang="zh-TW" altLang="en-US" sz="1600" dirty="0" smtClean="0">
                <a:solidFill>
                  <a:prstClr val="black"/>
                </a:solidFill>
                <a:latin typeface="+mn-ea"/>
                <a:ea typeface="+mn-ea"/>
              </a:rPr>
              <a:t>，</a:t>
            </a:r>
            <a:r>
              <a:rPr lang="en-US" altLang="zh-TW" sz="1600" dirty="0" err="1" smtClean="0">
                <a:solidFill>
                  <a:prstClr val="black"/>
                </a:solidFill>
                <a:latin typeface="+mn-ea"/>
                <a:ea typeface="+mn-ea"/>
              </a:rPr>
              <a:t>payments,apple</a:t>
            </a:r>
            <a:r>
              <a:rPr lang="zh-TW" altLang="en-US" sz="1600" dirty="0" smtClean="0">
                <a:solidFill>
                  <a:prstClr val="black"/>
                </a:solidFill>
                <a:latin typeface="+mn-ea"/>
                <a:ea typeface="+mn-ea"/>
              </a:rPr>
              <a:t>，眾所皆知</a:t>
            </a:r>
            <a:r>
              <a:rPr lang="en-US" altLang="zh-TW" sz="1600" dirty="0" err="1" smtClean="0">
                <a:solidFill>
                  <a:prstClr val="black"/>
                </a:solidFill>
                <a:latin typeface="+mn-ea"/>
                <a:ea typeface="+mn-ea"/>
              </a:rPr>
              <a:t>paypal</a:t>
            </a:r>
            <a:r>
              <a:rPr lang="zh-TW" altLang="en-US" sz="1600" dirty="0" smtClean="0">
                <a:solidFill>
                  <a:prstClr val="black"/>
                </a:solidFill>
                <a:latin typeface="+mn-ea"/>
                <a:ea typeface="+mn-ea"/>
              </a:rPr>
              <a:t>，</a:t>
            </a:r>
            <a:r>
              <a:rPr lang="en-US" altLang="zh-TW" sz="1600" dirty="0" smtClean="0">
                <a:solidFill>
                  <a:prstClr val="black"/>
                </a:solidFill>
                <a:latin typeface="+mn-ea"/>
                <a:ea typeface="+mn-ea"/>
              </a:rPr>
              <a:t>visa</a:t>
            </a:r>
            <a:r>
              <a:rPr lang="zh-TW" altLang="en-US" sz="1600" dirty="0" smtClean="0">
                <a:solidFill>
                  <a:prstClr val="black"/>
                </a:solidFill>
                <a:latin typeface="+mn-ea"/>
                <a:ea typeface="+mn-ea"/>
              </a:rPr>
              <a:t>，</a:t>
            </a:r>
            <a:r>
              <a:rPr lang="en-US" altLang="zh-TW" sz="1600" dirty="0" smtClean="0">
                <a:solidFill>
                  <a:prstClr val="black"/>
                </a:solidFill>
                <a:latin typeface="+mn-ea"/>
                <a:ea typeface="+mn-ea"/>
              </a:rPr>
              <a:t>apple</a:t>
            </a:r>
            <a:r>
              <a:rPr lang="zh-TW" altLang="en-US" sz="1600" dirty="0" smtClean="0">
                <a:solidFill>
                  <a:prstClr val="black"/>
                </a:solidFill>
                <a:latin typeface="+mn-ea"/>
                <a:ea typeface="+mn-ea"/>
              </a:rPr>
              <a:t>是</a:t>
            </a:r>
            <a:r>
              <a:rPr lang="en-US" altLang="zh-TW" sz="1600" dirty="0" smtClean="0">
                <a:solidFill>
                  <a:prstClr val="black"/>
                </a:solidFill>
                <a:latin typeface="+mn-ea"/>
                <a:ea typeface="+mn-ea"/>
              </a:rPr>
              <a:t>eBay</a:t>
            </a:r>
            <a:r>
              <a:rPr lang="zh-TW" altLang="en-US" sz="1600" dirty="0" smtClean="0">
                <a:solidFill>
                  <a:prstClr val="black"/>
                </a:solidFill>
                <a:latin typeface="+mn-ea"/>
                <a:ea typeface="+mn-ea"/>
              </a:rPr>
              <a:t>的支付  服務商，而</a:t>
            </a:r>
            <a:r>
              <a:rPr lang="en-US" altLang="zh-TW" sz="1600" dirty="0" err="1" smtClean="0">
                <a:solidFill>
                  <a:prstClr val="black"/>
                </a:solidFill>
                <a:latin typeface="+mn-ea"/>
                <a:ea typeface="+mn-ea"/>
              </a:rPr>
              <a:t>paypal</a:t>
            </a:r>
            <a:r>
              <a:rPr lang="zh-TW" altLang="en-US" sz="1600" dirty="0" smtClean="0">
                <a:solidFill>
                  <a:prstClr val="black"/>
                </a:solidFill>
                <a:latin typeface="+mn-ea"/>
                <a:ea typeface="+mn-ea"/>
              </a:rPr>
              <a:t>更是</a:t>
            </a:r>
            <a:r>
              <a:rPr lang="en-US" altLang="zh-TW" sz="1600" dirty="0" smtClean="0">
                <a:solidFill>
                  <a:prstClr val="black"/>
                </a:solidFill>
                <a:latin typeface="+mn-ea"/>
                <a:ea typeface="+mn-ea"/>
              </a:rPr>
              <a:t>eBay</a:t>
            </a:r>
            <a:r>
              <a:rPr lang="zh-TW" altLang="en-US" sz="1600" dirty="0" smtClean="0">
                <a:solidFill>
                  <a:prstClr val="black"/>
                </a:solidFill>
                <a:latin typeface="+mn-ea"/>
                <a:ea typeface="+mn-ea"/>
              </a:rPr>
              <a:t>在</a:t>
            </a:r>
            <a:r>
              <a:rPr lang="en-US" altLang="zh-TW" sz="1600" dirty="0" smtClean="0">
                <a:solidFill>
                  <a:prstClr val="black"/>
                </a:solidFill>
                <a:latin typeface="+mn-ea"/>
                <a:ea typeface="+mn-ea"/>
              </a:rPr>
              <a:t>2018</a:t>
            </a:r>
            <a:r>
              <a:rPr lang="zh-TW" altLang="en-US" sz="1600" dirty="0" smtClean="0">
                <a:solidFill>
                  <a:prstClr val="black"/>
                </a:solidFill>
                <a:latin typeface="+mn-ea"/>
                <a:ea typeface="+mn-ea"/>
              </a:rPr>
              <a:t>年的主要服務商。而我們又再度看到</a:t>
            </a:r>
            <a:r>
              <a:rPr lang="en-US" altLang="zh-TW" sz="1600" dirty="0" smtClean="0">
                <a:solidFill>
                  <a:prstClr val="black"/>
                </a:solidFill>
                <a:latin typeface="+mn-ea"/>
                <a:ea typeface="+mn-ea"/>
              </a:rPr>
              <a:t>separate</a:t>
            </a:r>
            <a:r>
              <a:rPr lang="zh-TW" altLang="en-US" sz="1600" dirty="0" smtClean="0">
                <a:solidFill>
                  <a:prstClr val="black"/>
                </a:solidFill>
                <a:latin typeface="+mn-ea"/>
                <a:ea typeface="+mn-ea"/>
              </a:rPr>
              <a:t>這個字，原因是在</a:t>
            </a:r>
            <a:r>
              <a:rPr lang="en-US" altLang="zh-TW" sz="1600" dirty="0" smtClean="0">
                <a:solidFill>
                  <a:prstClr val="black"/>
                </a:solidFill>
                <a:latin typeface="+mn-ea"/>
                <a:ea typeface="+mn-ea"/>
              </a:rPr>
              <a:t>2018</a:t>
            </a:r>
            <a:r>
              <a:rPr lang="zh-TW" altLang="en-US" sz="1600" dirty="0" smtClean="0">
                <a:solidFill>
                  <a:prstClr val="black"/>
                </a:solidFill>
                <a:latin typeface="+mn-ea"/>
                <a:ea typeface="+mn-ea"/>
              </a:rPr>
              <a:t>年</a:t>
            </a:r>
            <a:r>
              <a:rPr lang="en-US" altLang="zh-TW" sz="1600" dirty="0" smtClean="0">
                <a:solidFill>
                  <a:prstClr val="black"/>
                </a:solidFill>
                <a:latin typeface="+mn-ea"/>
                <a:ea typeface="+mn-ea"/>
              </a:rPr>
              <a:t>eBay</a:t>
            </a:r>
            <a:r>
              <a:rPr lang="zh-TW" altLang="en-US" sz="1600" dirty="0" smtClean="0">
                <a:solidFill>
                  <a:prstClr val="black"/>
                </a:solidFill>
                <a:latin typeface="+mn-ea"/>
                <a:ea typeface="+mn-ea"/>
              </a:rPr>
              <a:t>不再跟</a:t>
            </a:r>
            <a:r>
              <a:rPr lang="en-US" altLang="zh-TW" sz="1600" dirty="0" err="1" smtClean="0">
                <a:solidFill>
                  <a:prstClr val="black"/>
                </a:solidFill>
                <a:latin typeface="+mn-ea"/>
                <a:ea typeface="+mn-ea"/>
              </a:rPr>
              <a:t>paypal</a:t>
            </a:r>
            <a:r>
              <a:rPr lang="zh-TW" altLang="en-US" sz="1600" dirty="0" smtClean="0">
                <a:solidFill>
                  <a:prstClr val="black"/>
                </a:solidFill>
                <a:latin typeface="+mn-ea"/>
                <a:ea typeface="+mn-ea"/>
              </a:rPr>
              <a:t>合作了。這時通過</a:t>
            </a:r>
            <a:r>
              <a:rPr lang="en-US" altLang="zh-TW" sz="1600" dirty="0" smtClean="0">
                <a:solidFill>
                  <a:prstClr val="black"/>
                </a:solidFill>
                <a:latin typeface="+mn-ea"/>
                <a:ea typeface="+mn-ea"/>
              </a:rPr>
              <a:t>Google</a:t>
            </a:r>
            <a:r>
              <a:rPr lang="zh-TW" altLang="en-US" sz="1600" dirty="0" smtClean="0">
                <a:solidFill>
                  <a:prstClr val="black"/>
                </a:solidFill>
                <a:latin typeface="+mn-ea"/>
                <a:ea typeface="+mn-ea"/>
              </a:rPr>
              <a:t>，</a:t>
            </a:r>
            <a:r>
              <a:rPr lang="en-US" altLang="zh-TW" sz="1600" dirty="0" smtClean="0">
                <a:solidFill>
                  <a:prstClr val="black"/>
                </a:solidFill>
                <a:latin typeface="+mn-ea"/>
                <a:ea typeface="+mn-ea"/>
              </a:rPr>
              <a:t>war</a:t>
            </a:r>
            <a:r>
              <a:rPr lang="zh-TW" altLang="en-US" sz="1600" dirty="0" smtClean="0">
                <a:solidFill>
                  <a:prstClr val="black"/>
                </a:solidFill>
                <a:latin typeface="+mn-ea"/>
                <a:ea typeface="+mn-ea"/>
              </a:rPr>
              <a:t>，</a:t>
            </a:r>
            <a:r>
              <a:rPr lang="en-US" altLang="zh-TW" sz="1600" dirty="0" smtClean="0">
                <a:solidFill>
                  <a:prstClr val="black"/>
                </a:solidFill>
                <a:latin typeface="+mn-ea"/>
                <a:ea typeface="+mn-ea"/>
              </a:rPr>
              <a:t>accused</a:t>
            </a:r>
            <a:r>
              <a:rPr lang="zh-TW" altLang="en-US" sz="1600" dirty="0" smtClean="0">
                <a:solidFill>
                  <a:prstClr val="black"/>
                </a:solidFill>
                <a:latin typeface="+mn-ea"/>
                <a:ea typeface="+mn-ea"/>
              </a:rPr>
              <a:t>，</a:t>
            </a:r>
            <a:r>
              <a:rPr lang="en-US" altLang="zh-TW" sz="1600" dirty="0" smtClean="0">
                <a:solidFill>
                  <a:prstClr val="black"/>
                </a:solidFill>
                <a:latin typeface="+mn-ea"/>
                <a:ea typeface="+mn-ea"/>
              </a:rPr>
              <a:t>disclosed</a:t>
            </a:r>
            <a:r>
              <a:rPr lang="zh-TW" altLang="en-US" sz="1600" dirty="0" smtClean="0">
                <a:solidFill>
                  <a:prstClr val="black"/>
                </a:solidFill>
                <a:latin typeface="+mn-ea"/>
                <a:ea typeface="+mn-ea"/>
              </a:rPr>
              <a:t>這四個字能跟我們上面的分析相互輝映，在</a:t>
            </a:r>
            <a:r>
              <a:rPr lang="en-US" altLang="zh-TW" sz="1600" dirty="0" smtClean="0">
                <a:solidFill>
                  <a:prstClr val="black"/>
                </a:solidFill>
                <a:latin typeface="+mn-ea"/>
                <a:ea typeface="+mn-ea"/>
              </a:rPr>
              <a:t>eBay</a:t>
            </a:r>
            <a:r>
              <a:rPr lang="zh-TW" altLang="en-US" sz="1600" dirty="0" smtClean="0">
                <a:solidFill>
                  <a:prstClr val="black"/>
                </a:solidFill>
                <a:latin typeface="+mn-ea"/>
                <a:ea typeface="+mn-ea"/>
              </a:rPr>
              <a:t>這個字的分析中我們推測</a:t>
            </a:r>
            <a:r>
              <a:rPr lang="en-US" altLang="zh-TW" sz="1600" dirty="0" smtClean="0">
                <a:solidFill>
                  <a:prstClr val="black"/>
                </a:solidFill>
                <a:latin typeface="+mn-ea"/>
                <a:ea typeface="+mn-ea"/>
              </a:rPr>
              <a:t>eBay</a:t>
            </a:r>
            <a:r>
              <a:rPr lang="zh-TW" altLang="en-US" sz="1600" dirty="0" smtClean="0">
                <a:solidFill>
                  <a:prstClr val="black"/>
                </a:solidFill>
                <a:latin typeface="+mn-ea"/>
                <a:ea typeface="+mn-ea"/>
              </a:rPr>
              <a:t>曾經被控告侵權過，這次更明顯了，是被</a:t>
            </a:r>
            <a:r>
              <a:rPr lang="en-US" altLang="zh-TW" sz="1600" dirty="0" smtClean="0">
                <a:solidFill>
                  <a:prstClr val="black"/>
                </a:solidFill>
                <a:latin typeface="+mn-ea"/>
                <a:ea typeface="+mn-ea"/>
              </a:rPr>
              <a:t>google</a:t>
            </a:r>
            <a:r>
              <a:rPr lang="zh-TW" altLang="en-US" sz="1600" dirty="0" smtClean="0">
                <a:solidFill>
                  <a:prstClr val="black"/>
                </a:solidFill>
                <a:latin typeface="+mn-ea"/>
                <a:ea typeface="+mn-ea"/>
              </a:rPr>
              <a:t>控告的，這是一個非常大的事件。</a:t>
            </a:r>
            <a:endParaRPr lang="en-US" altLang="zh-TW" sz="1600" dirty="0" smtClean="0">
              <a:solidFill>
                <a:prstClr val="black"/>
              </a:solidFill>
              <a:latin typeface="+mn-ea"/>
              <a:ea typeface="+mn-ea"/>
            </a:endParaRPr>
          </a:p>
          <a:p>
            <a:pPr fontAlgn="auto">
              <a:spcBef>
                <a:spcPts val="0"/>
              </a:spcBef>
              <a:spcAft>
                <a:spcPts val="0"/>
              </a:spcAft>
              <a:buFontTx/>
              <a:buNone/>
            </a:pPr>
            <a:r>
              <a:rPr lang="zh-TW" altLang="en-US" sz="1600" dirty="0">
                <a:solidFill>
                  <a:prstClr val="black"/>
                </a:solidFill>
                <a:latin typeface="+mn-ea"/>
                <a:ea typeface="+mn-ea"/>
              </a:rPr>
              <a:t>分析到此時我們發現</a:t>
            </a:r>
            <a:r>
              <a:rPr lang="en-US" altLang="zh-TW" sz="1600" dirty="0">
                <a:solidFill>
                  <a:prstClr val="black"/>
                </a:solidFill>
                <a:latin typeface="+mn-ea"/>
                <a:ea typeface="+mn-ea"/>
              </a:rPr>
              <a:t>billionaire</a:t>
            </a:r>
            <a:r>
              <a:rPr lang="zh-TW" altLang="en-US" sz="1600" dirty="0">
                <a:solidFill>
                  <a:prstClr val="black"/>
                </a:solidFill>
                <a:latin typeface="+mn-ea"/>
                <a:ea typeface="+mn-ea"/>
              </a:rPr>
              <a:t>這個單字常常出現，但我們還不能具體了解它代表什麼</a:t>
            </a:r>
            <a:r>
              <a:rPr lang="zh-TW" altLang="en-US" sz="1600" dirty="0" smtClean="0">
                <a:solidFill>
                  <a:prstClr val="black"/>
                </a:solidFill>
                <a:latin typeface="+mn-ea"/>
                <a:ea typeface="+mn-ea"/>
              </a:rPr>
              <a:t>。</a:t>
            </a:r>
            <a:endParaRPr lang="en-US" altLang="zh-TW" sz="1600" dirty="0" smtClean="0">
              <a:solidFill>
                <a:prstClr val="black"/>
              </a:solidFill>
              <a:latin typeface="+mn-ea"/>
              <a:ea typeface="+mn-ea"/>
            </a:endParaRPr>
          </a:p>
        </p:txBody>
      </p:sp>
      <p:grpSp>
        <p:nvGrpSpPr>
          <p:cNvPr id="18" name="组合 1"/>
          <p:cNvGrpSpPr>
            <a:grpSpLocks/>
          </p:cNvGrpSpPr>
          <p:nvPr/>
        </p:nvGrpSpPr>
        <p:grpSpPr bwMode="auto">
          <a:xfrm>
            <a:off x="5335888" y="220442"/>
            <a:ext cx="3816350" cy="406400"/>
            <a:chOff x="0" y="0"/>
            <a:chExt cx="3816672" cy="405750"/>
          </a:xfrm>
        </p:grpSpPr>
        <p:sp>
          <p:nvSpPr>
            <p:cNvPr id="19"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4</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21"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研究結</a:t>
              </a:r>
              <a:r>
                <a:rPr lang="zh-TW" altLang="en-US" b="1" dirty="0">
                  <a:solidFill>
                    <a:srgbClr val="3F3F3F"/>
                  </a:solidFill>
                  <a:latin typeface="微软雅黑" pitchFamily="34" charset="-122"/>
                  <a:ea typeface="微软雅黑" pitchFamily="34" charset="-122"/>
                  <a:sym typeface="微软雅黑" pitchFamily="34" charset="-122"/>
                </a:rPr>
                <a:t>果</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1413733115"/>
      </p:ext>
    </p:extLst>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1"/>
          <p:cNvSpPr>
            <a:spLocks noChangeArrowheads="1"/>
          </p:cNvSpPr>
          <p:nvPr/>
        </p:nvSpPr>
        <p:spPr bwMode="auto">
          <a:xfrm>
            <a:off x="-28575" y="0"/>
            <a:ext cx="9144000" cy="5272088"/>
          </a:xfrm>
          <a:prstGeom prst="rect">
            <a:avLst/>
          </a:prstGeom>
          <a:solidFill>
            <a:srgbClr val="000000">
              <a:alpha val="12000"/>
            </a:srgbClr>
          </a:solidFill>
          <a:ln>
            <a:noFill/>
          </a:ln>
          <a:extLst>
            <a:ext uri="{91240B29-F687-4F45-9708-019B960494DF}">
              <a14:hiddenLine xmlns:a14="http://schemas.microsoft.com/office/drawing/2010/main" w="25400" cap="flat" cmpd="sng">
                <a:solidFill>
                  <a:srgbClr val="000000"/>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7171" name="矩形 58"/>
          <p:cNvSpPr>
            <a:spLocks noChangeArrowheads="1"/>
          </p:cNvSpPr>
          <p:nvPr/>
        </p:nvSpPr>
        <p:spPr bwMode="auto">
          <a:xfrm>
            <a:off x="0" y="5092700"/>
            <a:ext cx="9144000" cy="142875"/>
          </a:xfrm>
          <a:prstGeom prst="rect">
            <a:avLst/>
          </a:prstGeom>
          <a:solidFill>
            <a:srgbClr val="FFC000"/>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7172" name="流程图: 合并 38"/>
          <p:cNvSpPr>
            <a:spLocks noChangeArrowheads="1"/>
          </p:cNvSpPr>
          <p:nvPr/>
        </p:nvSpPr>
        <p:spPr bwMode="auto">
          <a:xfrm rot="5400000">
            <a:off x="5019675" y="860425"/>
            <a:ext cx="5329238" cy="3135312"/>
          </a:xfrm>
          <a:prstGeom prst="flowChartMerge">
            <a:avLst/>
          </a:prstGeom>
          <a:solidFill>
            <a:srgbClr val="F5CA45"/>
          </a:solidFill>
          <a:ln>
            <a:noFill/>
          </a:ln>
          <a:extLst/>
        </p:spPr>
        <p:txBody>
          <a:bodyPr anchor="ctr"/>
          <a:lstStyle/>
          <a:p>
            <a:pPr algn="ctr"/>
            <a:endParaRPr lang="zh-CN" altLang="zh-CN">
              <a:solidFill>
                <a:srgbClr val="FFFFFF"/>
              </a:solidFill>
              <a:latin typeface="宋体" pitchFamily="2" charset="-122"/>
              <a:sym typeface="宋体" pitchFamily="2" charset="-122"/>
            </a:endParaRPr>
          </a:p>
        </p:txBody>
      </p:sp>
      <p:sp>
        <p:nvSpPr>
          <p:cNvPr id="7173" name="流程图: 合并 40"/>
          <p:cNvSpPr>
            <a:spLocks noChangeArrowheads="1"/>
          </p:cNvSpPr>
          <p:nvPr/>
        </p:nvSpPr>
        <p:spPr bwMode="auto">
          <a:xfrm rot="5400000">
            <a:off x="5380831" y="1059657"/>
            <a:ext cx="4606925" cy="2735262"/>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7174" name="TextBox 41"/>
          <p:cNvSpPr>
            <a:spLocks noChangeArrowheads="1"/>
          </p:cNvSpPr>
          <p:nvPr/>
        </p:nvSpPr>
        <p:spPr bwMode="auto">
          <a:xfrm>
            <a:off x="6602413" y="1919288"/>
            <a:ext cx="1295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6000" b="1" dirty="0" smtClean="0">
                <a:solidFill>
                  <a:schemeClr val="bg1"/>
                </a:solidFill>
                <a:latin typeface="BatangChe" pitchFamily="49" charset="-127"/>
                <a:ea typeface="BatangChe" pitchFamily="49" charset="-127"/>
                <a:sym typeface="BatangChe" pitchFamily="49" charset="-127"/>
              </a:rPr>
              <a:t>05</a:t>
            </a:r>
            <a:endParaRPr lang="zh-CN" altLang="en-US" sz="6000" b="1" dirty="0">
              <a:solidFill>
                <a:schemeClr val="bg1"/>
              </a:solidFill>
              <a:latin typeface="BatangChe" pitchFamily="49" charset="-127"/>
              <a:ea typeface="BatangChe" pitchFamily="49" charset="-127"/>
              <a:sym typeface="BatangChe" pitchFamily="49" charset="-127"/>
            </a:endParaRPr>
          </a:p>
        </p:txBody>
      </p:sp>
      <p:sp>
        <p:nvSpPr>
          <p:cNvPr id="7175" name="流程图: 合并 43"/>
          <p:cNvSpPr>
            <a:spLocks noChangeArrowheads="1"/>
          </p:cNvSpPr>
          <p:nvPr/>
        </p:nvSpPr>
        <p:spPr bwMode="auto">
          <a:xfrm rot="16200000">
            <a:off x="2700338" y="2282825"/>
            <a:ext cx="431800" cy="2889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7176" name="TextBox 9"/>
          <p:cNvSpPr>
            <a:spLocks noChangeArrowheads="1"/>
          </p:cNvSpPr>
          <p:nvPr/>
        </p:nvSpPr>
        <p:spPr bwMode="auto">
          <a:xfrm>
            <a:off x="3254375" y="2165350"/>
            <a:ext cx="2879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sz="2800" dirty="0" smtClean="0">
                <a:solidFill>
                  <a:srgbClr val="000000"/>
                </a:solidFill>
                <a:latin typeface="+mn-ea"/>
                <a:ea typeface="+mn-ea"/>
                <a:sym typeface="微软雅黑" pitchFamily="34" charset="-122"/>
              </a:rPr>
              <a:t>探討與結論</a:t>
            </a:r>
            <a:endParaRPr lang="zh-CN" altLang="en-US" sz="2800" dirty="0">
              <a:solidFill>
                <a:srgbClr val="000000"/>
              </a:solidFill>
              <a:latin typeface="+mn-ea"/>
              <a:ea typeface="+mn-ea"/>
              <a:sym typeface="微软雅黑" pitchFamily="34" charset="-122"/>
            </a:endParaRPr>
          </a:p>
        </p:txBody>
      </p:sp>
    </p:spTree>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2290" name="TextBox 7"/>
          <p:cNvSpPr>
            <a:spLocks noChangeArrowheads="1"/>
          </p:cNvSpPr>
          <p:nvPr/>
        </p:nvSpPr>
        <p:spPr bwMode="auto">
          <a:xfrm>
            <a:off x="7721600" y="-92075"/>
            <a:ext cx="5143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5400" b="1">
                <a:solidFill>
                  <a:srgbClr val="05AFC8"/>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2292" name="TextBox 10"/>
          <p:cNvSpPr>
            <a:spLocks noChangeArrowheads="1"/>
          </p:cNvSpPr>
          <p:nvPr/>
        </p:nvSpPr>
        <p:spPr bwMode="auto">
          <a:xfrm>
            <a:off x="8091488" y="-92075"/>
            <a:ext cx="4937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FFC000"/>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2293" name="TextBox 11"/>
          <p:cNvSpPr>
            <a:spLocks noChangeArrowheads="1"/>
          </p:cNvSpPr>
          <p:nvPr/>
        </p:nvSpPr>
        <p:spPr bwMode="auto">
          <a:xfrm>
            <a:off x="8523288" y="-92075"/>
            <a:ext cx="4222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2295" name="矩形 1"/>
          <p:cNvSpPr>
            <a:spLocks noChangeArrowheads="1"/>
          </p:cNvSpPr>
          <p:nvPr/>
        </p:nvSpPr>
        <p:spPr bwMode="auto">
          <a:xfrm>
            <a:off x="683676" y="1131630"/>
            <a:ext cx="5278438" cy="3527425"/>
          </a:xfrm>
          <a:prstGeom prst="rect">
            <a:avLst/>
          </a:prstGeom>
          <a:solidFill>
            <a:srgbClr val="F5CA45"/>
          </a:solidFill>
          <a:ln>
            <a:noFill/>
          </a:ln>
          <a:extLst/>
        </p:spPr>
        <p:txBody>
          <a:bodyPr anchor="ctr"/>
          <a:lstStyle/>
          <a:p>
            <a:r>
              <a:rPr lang="zh-TW" altLang="en-US" dirty="0" smtClean="0">
                <a:solidFill>
                  <a:srgbClr val="FFFFFF"/>
                </a:solidFill>
                <a:latin typeface="微软雅黑" pitchFamily="34" charset="-122"/>
                <a:ea typeface="微软雅黑" pitchFamily="34" charset="-122"/>
                <a:sym typeface="微软雅黑" pitchFamily="34" charset="-122"/>
              </a:rPr>
              <a:t>         從</a:t>
            </a:r>
            <a:r>
              <a:rPr lang="en-US" altLang="zh-TW" dirty="0">
                <a:solidFill>
                  <a:srgbClr val="FFFFFF"/>
                </a:solidFill>
                <a:latin typeface="微软雅黑" pitchFamily="34" charset="-122"/>
                <a:ea typeface="微软雅黑" pitchFamily="34" charset="-122"/>
                <a:sym typeface="微软雅黑" pitchFamily="34" charset="-122"/>
              </a:rPr>
              <a:t>Confusion Table</a:t>
            </a:r>
            <a:r>
              <a:rPr lang="zh-TW" altLang="en-US" dirty="0">
                <a:solidFill>
                  <a:srgbClr val="FFFFFF"/>
                </a:solidFill>
                <a:latin typeface="微软雅黑" pitchFamily="34" charset="-122"/>
                <a:ea typeface="微软雅黑" pitchFamily="34" charset="-122"/>
                <a:sym typeface="微软雅黑" pitchFamily="34" charset="-122"/>
              </a:rPr>
              <a:t>可以看出不論有沒有做</a:t>
            </a:r>
            <a:r>
              <a:rPr lang="en-US" altLang="zh-TW" dirty="0" err="1">
                <a:solidFill>
                  <a:srgbClr val="FFFFFF"/>
                </a:solidFill>
                <a:latin typeface="微软雅黑" pitchFamily="34" charset="-122"/>
                <a:ea typeface="微软雅黑" pitchFamily="34" charset="-122"/>
                <a:sym typeface="微软雅黑" pitchFamily="34" charset="-122"/>
              </a:rPr>
              <a:t>tf-idf</a:t>
            </a:r>
            <a:r>
              <a:rPr lang="en-US" altLang="zh-TW" dirty="0">
                <a:solidFill>
                  <a:srgbClr val="FFFFFF"/>
                </a:solidFill>
                <a:latin typeface="微软雅黑" pitchFamily="34" charset="-122"/>
                <a:ea typeface="微软雅黑" pitchFamily="34" charset="-122"/>
                <a:sym typeface="微软雅黑" pitchFamily="34" charset="-122"/>
              </a:rPr>
              <a:t> </a:t>
            </a:r>
            <a:r>
              <a:rPr lang="zh-TW" altLang="en-US" dirty="0">
                <a:solidFill>
                  <a:srgbClr val="FFFFFF"/>
                </a:solidFill>
                <a:latin typeface="微软雅黑" pitchFamily="34" charset="-122"/>
                <a:ea typeface="微软雅黑" pitchFamily="34" charset="-122"/>
                <a:sym typeface="微软雅黑" pitchFamily="34" charset="-122"/>
              </a:rPr>
              <a:t>加權做資料修正，我們得到的模型對新聞標題都有</a:t>
            </a:r>
            <a:r>
              <a:rPr lang="en-US" altLang="zh-TW" dirty="0" smtClean="0">
                <a:solidFill>
                  <a:srgbClr val="FFFFFF"/>
                </a:solidFill>
                <a:latin typeface="微软雅黑" pitchFamily="34" charset="-122"/>
                <a:ea typeface="微软雅黑" pitchFamily="34" charset="-122"/>
                <a:sym typeface="微软雅黑" pitchFamily="34" charset="-122"/>
              </a:rPr>
              <a:t>0.7</a:t>
            </a:r>
            <a:r>
              <a:rPr lang="zh-TW" altLang="en-US" dirty="0" smtClean="0">
                <a:solidFill>
                  <a:srgbClr val="FFFFFF"/>
                </a:solidFill>
                <a:latin typeface="微软雅黑" pitchFamily="34" charset="-122"/>
                <a:ea typeface="微软雅黑" pitchFamily="34" charset="-122"/>
                <a:sym typeface="微软雅黑" pitchFamily="34" charset="-122"/>
              </a:rPr>
              <a:t>以上</a:t>
            </a:r>
            <a:r>
              <a:rPr lang="zh-TW" altLang="en-US" dirty="0">
                <a:solidFill>
                  <a:srgbClr val="FFFFFF"/>
                </a:solidFill>
                <a:latin typeface="微软雅黑" pitchFamily="34" charset="-122"/>
                <a:ea typeface="微软雅黑" pitchFamily="34" charset="-122"/>
                <a:sym typeface="微软雅黑" pitchFamily="34" charset="-122"/>
              </a:rPr>
              <a:t>的判斷力，因此我們認為這個模型能夠幫助我們快速的篩選出我們想要找的新聞</a:t>
            </a:r>
            <a:r>
              <a:rPr lang="zh-TW" altLang="en-US" dirty="0" smtClean="0">
                <a:solidFill>
                  <a:srgbClr val="FFFFFF"/>
                </a:solidFill>
                <a:latin typeface="微软雅黑" pitchFamily="34" charset="-122"/>
                <a:ea typeface="微软雅黑" pitchFamily="34" charset="-122"/>
                <a:sym typeface="微软雅黑" pitchFamily="34" charset="-122"/>
              </a:rPr>
              <a:t>種類</a:t>
            </a:r>
            <a:r>
              <a:rPr lang="zh-TW" altLang="en-US" dirty="0">
                <a:solidFill>
                  <a:srgbClr val="FFFFFF"/>
                </a:solidFill>
                <a:latin typeface="微软雅黑" pitchFamily="34" charset="-122"/>
                <a:ea typeface="微软雅黑" pitchFamily="34" charset="-122"/>
                <a:sym typeface="微软雅黑" pitchFamily="34" charset="-122"/>
              </a:rPr>
              <a:t>。</a:t>
            </a:r>
            <a:endParaRPr lang="en-US" altLang="zh-TW" dirty="0" smtClean="0">
              <a:solidFill>
                <a:srgbClr val="FFFFFF"/>
              </a:solidFill>
              <a:latin typeface="微软雅黑" pitchFamily="34" charset="-122"/>
              <a:ea typeface="微软雅黑" pitchFamily="34" charset="-122"/>
              <a:sym typeface="微软雅黑" pitchFamily="34" charset="-122"/>
            </a:endParaRPr>
          </a:p>
          <a:p>
            <a:r>
              <a:rPr lang="zh-TW" altLang="en-US" dirty="0" smtClean="0">
                <a:solidFill>
                  <a:srgbClr val="FFFFFF"/>
                </a:solidFill>
                <a:latin typeface="微软雅黑" pitchFamily="34" charset="-122"/>
                <a:ea typeface="微软雅黑" pitchFamily="34" charset="-122"/>
                <a:sym typeface="微软雅黑" pitchFamily="34" charset="-122"/>
              </a:rPr>
              <a:t>而</a:t>
            </a:r>
            <a:r>
              <a:rPr lang="zh-TW" altLang="en-US" dirty="0">
                <a:solidFill>
                  <a:srgbClr val="FFFFFF"/>
                </a:solidFill>
                <a:latin typeface="微软雅黑" pitchFamily="34" charset="-122"/>
                <a:ea typeface="微软雅黑" pitchFamily="34" charset="-122"/>
                <a:sym typeface="微软雅黑" pitchFamily="34" charset="-122"/>
              </a:rPr>
              <a:t>接下來利用字詞出現頻率的分析也能幫助我們了解選出新聞的內容摘要，比較可惜的地方是由於電腦的限制，我們沒辦法將全部資料放入模型之中進行分析，如果能改善此一問題，相信能提高模型判斷的準確度。</a:t>
            </a:r>
          </a:p>
        </p:txBody>
      </p:sp>
      <p:grpSp>
        <p:nvGrpSpPr>
          <p:cNvPr id="9" name="组合 1"/>
          <p:cNvGrpSpPr>
            <a:grpSpLocks/>
          </p:cNvGrpSpPr>
          <p:nvPr/>
        </p:nvGrpSpPr>
        <p:grpSpPr bwMode="auto">
          <a:xfrm>
            <a:off x="5335888" y="220442"/>
            <a:ext cx="3816350" cy="406400"/>
            <a:chOff x="0" y="0"/>
            <a:chExt cx="3816672" cy="405750"/>
          </a:xfrm>
        </p:grpSpPr>
        <p:sp>
          <p:nvSpPr>
            <p:cNvPr id="10"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smtClean="0">
                  <a:solidFill>
                    <a:srgbClr val="3F3F3F"/>
                  </a:solidFill>
                  <a:latin typeface="微软雅黑" pitchFamily="34" charset="-122"/>
                  <a:ea typeface="微软雅黑" pitchFamily="34" charset="-122"/>
                  <a:sym typeface="微软雅黑" pitchFamily="34" charset="-122"/>
                </a:rPr>
                <a:t>5</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2"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探討與結論</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p:cBhvr>
                                        <p:cTn id="7" dur="500"/>
                                        <p:tgtEl>
                                          <p:spTgt spid="12290">
                                            <p:txEl>
                                              <p:pRg st="0" end="0"/>
                                            </p:txEl>
                                          </p:spTgt>
                                        </p:tgtEl>
                                      </p:cBhvr>
                                    </p:animEffect>
                                  </p:childTnLst>
                                </p:cTn>
                              </p:par>
                              <p:par>
                                <p:cTn id="8" presetID="26" presetClass="emph" presetSubtype="0" fill="hold" grpId="1" nodeType="withEffect">
                                  <p:stCondLst>
                                    <p:cond delay="0"/>
                                  </p:stCondLst>
                                  <p:childTnLst>
                                    <p:animEffect>
                                      <p:cBhvr>
                                        <p:cTn id="9" dur="500" tmFilter="0, 0; .2, .5; .8, .5; 1, 0"/>
                                        <p:tgtEl>
                                          <p:spTgt spid="12290">
                                            <p:txEl>
                                              <p:pRg st="0" end="0"/>
                                            </p:txEl>
                                          </p:spTgt>
                                        </p:tgtEl>
                                      </p:cBhvr>
                                    </p:animEffect>
                                    <p:animScale>
                                      <p:cBhvr>
                                        <p:cTn id="10" dur="250" autoRev="1" fill="hold"/>
                                        <p:tgtEl>
                                          <p:spTgt spid="12290">
                                            <p:txEl>
                                              <p:pRg st="0" end="0"/>
                                            </p:txEl>
                                          </p:spTgt>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2292"/>
                                        </p:tgtEl>
                                        <p:attrNameLst>
                                          <p:attrName>style.visibility</p:attrName>
                                        </p:attrNameLst>
                                      </p:cBhvr>
                                      <p:to>
                                        <p:strVal val="visible"/>
                                      </p:to>
                                    </p:set>
                                    <p:animEffect>
                                      <p:cBhvr>
                                        <p:cTn id="13" dur="500"/>
                                        <p:tgtEl>
                                          <p:spTgt spid="12292"/>
                                        </p:tgtEl>
                                      </p:cBhvr>
                                    </p:animEffect>
                                  </p:childTnLst>
                                </p:cTn>
                              </p:par>
                              <p:par>
                                <p:cTn id="14" presetID="26" presetClass="emph" presetSubtype="0" fill="hold" grpId="2" nodeType="withEffect">
                                  <p:stCondLst>
                                    <p:cond delay="0"/>
                                  </p:stCondLst>
                                  <p:childTnLst>
                                    <p:animEffect>
                                      <p:cBhvr>
                                        <p:cTn id="15" dur="500" tmFilter="0, 0; .2, .5; .8, .5; 1, 0"/>
                                        <p:tgtEl>
                                          <p:spTgt spid="12292">
                                            <p:txEl>
                                              <p:pRg st="0" end="0"/>
                                            </p:txEl>
                                          </p:spTgt>
                                        </p:tgtEl>
                                      </p:cBhvr>
                                    </p:animEffect>
                                    <p:animScale>
                                      <p:cBhvr>
                                        <p:cTn id="16" dur="250" autoRev="1" fill="hold"/>
                                        <p:tgtEl>
                                          <p:spTgt spid="12292">
                                            <p:txEl>
                                              <p:pRg st="0" end="0"/>
                                            </p:txEl>
                                          </p:spTgt>
                                        </p:tgtEl>
                                      </p:cBhvr>
                                      <p:by x="105000" y="105000"/>
                                    </p:animScale>
                                  </p:childTnLst>
                                </p:cTn>
                              </p:par>
                              <p:par>
                                <p:cTn id="17" presetID="10" presetClass="entr" presetSubtype="0" fill="hold" grpId="0" nodeType="withEffect">
                                  <p:stCondLst>
                                    <p:cond delay="0"/>
                                  </p:stCondLst>
                                  <p:childTnLst>
                                    <p:set>
                                      <p:cBhvr>
                                        <p:cTn id="18" dur="1" fill="hold">
                                          <p:stCondLst>
                                            <p:cond delay="0"/>
                                          </p:stCondLst>
                                        </p:cTn>
                                        <p:tgtEl>
                                          <p:spTgt spid="12293"/>
                                        </p:tgtEl>
                                        <p:attrNameLst>
                                          <p:attrName>style.visibility</p:attrName>
                                        </p:attrNameLst>
                                      </p:cBhvr>
                                      <p:to>
                                        <p:strVal val="visible"/>
                                      </p:to>
                                    </p:set>
                                    <p:animEffect>
                                      <p:cBhvr>
                                        <p:cTn id="19" dur="500"/>
                                        <p:tgtEl>
                                          <p:spTgt spid="12293"/>
                                        </p:tgtEl>
                                      </p:cBhvr>
                                    </p:animEffect>
                                  </p:childTnLst>
                                </p:cTn>
                              </p:par>
                              <p:par>
                                <p:cTn id="20" presetID="26" presetClass="emph" presetSubtype="0" fill="hold" grpId="2" nodeType="withEffect">
                                  <p:stCondLst>
                                    <p:cond delay="0"/>
                                  </p:stCondLst>
                                  <p:childTnLst>
                                    <p:animEffect>
                                      <p:cBhvr>
                                        <p:cTn id="21" dur="500" tmFilter="0, 0; .2, .5; .8, .5; 1, 0"/>
                                        <p:tgtEl>
                                          <p:spTgt spid="12293">
                                            <p:txEl>
                                              <p:pRg st="0" end="0"/>
                                            </p:txEl>
                                          </p:spTgt>
                                        </p:tgtEl>
                                      </p:cBhvr>
                                    </p:animEffect>
                                    <p:animScale>
                                      <p:cBhvr>
                                        <p:cTn id="22" dur="250" autoRev="1" fill="hold"/>
                                        <p:tgtEl>
                                          <p:spTgt spid="12293">
                                            <p:txEl>
                                              <p:pRg st="0" end="0"/>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1" build="allAtOnce" bldLvl="0" autoUpdateAnimBg="0"/>
      <p:bldP spid="12292" grpId="0" bldLvl="0" autoUpdateAnimBg="0"/>
      <p:bldP spid="12292" grpId="2" build="allAtOnce" bldLvl="0" autoUpdateAnimBg="0"/>
      <p:bldP spid="12293" grpId="0" bldLvl="0" autoUpdateAnimBg="0"/>
      <p:bldP spid="12293" grpId="2" build="allAtOnce" bldLvl="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群組 1"/>
          <p:cNvGrpSpPr/>
          <p:nvPr/>
        </p:nvGrpSpPr>
        <p:grpSpPr>
          <a:xfrm rot="16200000">
            <a:off x="5039519" y="3796013"/>
            <a:ext cx="7200900" cy="1008063"/>
            <a:chOff x="971550" y="4156075"/>
            <a:chExt cx="7200900" cy="1008063"/>
          </a:xfrm>
          <a:solidFill>
            <a:srgbClr val="F2747E"/>
          </a:solidFill>
        </p:grpSpPr>
        <p:sp>
          <p:nvSpPr>
            <p:cNvPr id="5123" name="流程图: 合并 38"/>
            <p:cNvSpPr>
              <a:spLocks noChangeArrowheads="1"/>
            </p:cNvSpPr>
            <p:nvPr/>
          </p:nvSpPr>
          <p:spPr bwMode="auto">
            <a:xfrm rot="10800000">
              <a:off x="971550" y="4156075"/>
              <a:ext cx="7200900" cy="1008063"/>
            </a:xfrm>
            <a:prstGeom prst="flowChartMerge">
              <a:avLst/>
            </a:prstGeom>
            <a:grpFill/>
            <a:ln>
              <a:noFill/>
            </a:ln>
            <a:extLst>
              <a:ext uri="{91240B29-F687-4F45-9708-019B960494DF}">
                <a14:hiddenLine xmlns:a14="http://schemas.microsoft.com/office/drawing/2010/main" w="9525"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5124" name="流程图: 合并 40"/>
            <p:cNvSpPr>
              <a:spLocks noChangeArrowheads="1"/>
            </p:cNvSpPr>
            <p:nvPr/>
          </p:nvSpPr>
          <p:spPr bwMode="auto">
            <a:xfrm rot="10800000">
              <a:off x="1187450" y="4227513"/>
              <a:ext cx="6769100" cy="936625"/>
            </a:xfrm>
            <a:prstGeom prst="flowChartMerge">
              <a:avLst/>
            </a:prstGeom>
            <a:grpFill/>
            <a:ln w="6350" cap="flat" cmpd="sng">
              <a:solidFill>
                <a:srgbClr val="7F7F7F"/>
              </a:solidFill>
              <a:prstDash val="sysDash"/>
              <a:bevel/>
              <a:headEnd/>
              <a:tailEnd/>
            </a:ln>
            <a:extLst/>
          </p:spPr>
          <p:txBody>
            <a:bodyPr anchor="ctr"/>
            <a:lstStyle/>
            <a:p>
              <a:pPr algn="ctr"/>
              <a:endParaRPr lang="zh-CN" altLang="zh-CN">
                <a:solidFill>
                  <a:srgbClr val="000000"/>
                </a:solidFill>
                <a:latin typeface="宋体" pitchFamily="2" charset="-122"/>
                <a:sym typeface="宋体" pitchFamily="2" charset="-122"/>
              </a:endParaRPr>
            </a:p>
          </p:txBody>
        </p:sp>
      </p:grpSp>
      <p:sp>
        <p:nvSpPr>
          <p:cNvPr id="5126" name="流程图: 合并 43"/>
          <p:cNvSpPr>
            <a:spLocks noChangeArrowheads="1"/>
          </p:cNvSpPr>
          <p:nvPr/>
        </p:nvSpPr>
        <p:spPr bwMode="auto">
          <a:xfrm rot="10800000">
            <a:off x="3222529" y="2437796"/>
            <a:ext cx="431800" cy="288925"/>
          </a:xfrm>
          <a:prstGeom prst="flowChartMerge">
            <a:avLst/>
          </a:prstGeom>
          <a:noFill/>
          <a:ln w="6350" cap="flat" cmpd="sng">
            <a:solidFill>
              <a:srgbClr val="7F7F7F"/>
            </a:solidFill>
            <a:prstDash val="sysDash"/>
            <a:bevel/>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000000"/>
              </a:solidFill>
              <a:latin typeface="宋体" pitchFamily="2" charset="-122"/>
              <a:sym typeface="宋体" pitchFamily="2" charset="-122"/>
            </a:endParaRPr>
          </a:p>
        </p:txBody>
      </p:sp>
      <p:sp>
        <p:nvSpPr>
          <p:cNvPr id="5127" name="TextBox 48"/>
          <p:cNvSpPr>
            <a:spLocks noChangeArrowheads="1"/>
          </p:cNvSpPr>
          <p:nvPr/>
        </p:nvSpPr>
        <p:spPr bwMode="auto">
          <a:xfrm>
            <a:off x="1152525" y="2316163"/>
            <a:ext cx="68405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TW" altLang="en-US" sz="2800" b="1" dirty="0" smtClean="0">
                <a:solidFill>
                  <a:srgbClr val="000000"/>
                </a:solidFill>
                <a:latin typeface="+mj-ea"/>
                <a:ea typeface="+mj-ea"/>
                <a:sym typeface="微软雅黑" pitchFamily="34" charset="-122"/>
              </a:rPr>
              <a:t>參考來</a:t>
            </a:r>
            <a:r>
              <a:rPr lang="zh-TW" altLang="en-US" sz="2800" b="1" dirty="0">
                <a:solidFill>
                  <a:srgbClr val="000000"/>
                </a:solidFill>
                <a:latin typeface="+mj-ea"/>
                <a:ea typeface="+mj-ea"/>
                <a:sym typeface="微软雅黑" pitchFamily="34" charset="-122"/>
              </a:rPr>
              <a:t>源</a:t>
            </a:r>
            <a:endParaRPr lang="zh-CN" altLang="en-US" sz="2800" b="1" dirty="0">
              <a:solidFill>
                <a:srgbClr val="000000"/>
              </a:solidFill>
              <a:latin typeface="+mj-ea"/>
              <a:ea typeface="+mj-ea"/>
              <a:sym typeface="微软雅黑" pitchFamily="34" charset="-122"/>
            </a:endParaRPr>
          </a:p>
        </p:txBody>
      </p:sp>
      <p:grpSp>
        <p:nvGrpSpPr>
          <p:cNvPr id="11" name="群組 10"/>
          <p:cNvGrpSpPr/>
          <p:nvPr/>
        </p:nvGrpSpPr>
        <p:grpSpPr>
          <a:xfrm rot="5400000">
            <a:off x="-2107274" y="-433401"/>
            <a:ext cx="7200900" cy="2986352"/>
            <a:chOff x="971551" y="4156075"/>
            <a:chExt cx="7200900" cy="1008063"/>
          </a:xfrm>
          <a:solidFill>
            <a:srgbClr val="F2747E"/>
          </a:solidFill>
        </p:grpSpPr>
        <p:sp>
          <p:nvSpPr>
            <p:cNvPr id="12" name="流程图: 合并 38"/>
            <p:cNvSpPr>
              <a:spLocks noChangeArrowheads="1"/>
            </p:cNvSpPr>
            <p:nvPr/>
          </p:nvSpPr>
          <p:spPr bwMode="auto">
            <a:xfrm rot="10800000">
              <a:off x="971551" y="4156075"/>
              <a:ext cx="7200900" cy="1008063"/>
            </a:xfrm>
            <a:prstGeom prst="flowChartMerge">
              <a:avLst/>
            </a:prstGeom>
            <a:grpFill/>
            <a:ln>
              <a:noFill/>
            </a:ln>
            <a:extLst>
              <a:ext uri="{91240B29-F687-4F45-9708-019B960494DF}">
                <a14:hiddenLine xmlns:a14="http://schemas.microsoft.com/office/drawing/2010/main" w="9525" cap="flat" cmpd="sng">
                  <a:solidFill>
                    <a:srgbClr val="395E8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3" name="流程图: 合并 40"/>
            <p:cNvSpPr>
              <a:spLocks noChangeArrowheads="1"/>
            </p:cNvSpPr>
            <p:nvPr/>
          </p:nvSpPr>
          <p:spPr bwMode="auto">
            <a:xfrm rot="10800000">
              <a:off x="1187450" y="4227513"/>
              <a:ext cx="6769100" cy="936625"/>
            </a:xfrm>
            <a:prstGeom prst="flowChartMerge">
              <a:avLst/>
            </a:prstGeom>
            <a:grpFill/>
            <a:ln w="6350" cap="flat" cmpd="sng">
              <a:solidFill>
                <a:srgbClr val="7F7F7F"/>
              </a:solidFill>
              <a:prstDash val="sysDash"/>
              <a:bevel/>
              <a:headEnd/>
              <a:tailEnd/>
            </a:ln>
            <a:extLst/>
          </p:spPr>
          <p:txBody>
            <a:bodyPr anchor="ctr"/>
            <a:lstStyle/>
            <a:p>
              <a:pPr algn="ctr"/>
              <a:endParaRPr lang="zh-CN" altLang="zh-CN">
                <a:solidFill>
                  <a:srgbClr val="000000"/>
                </a:solidFill>
                <a:latin typeface="宋体" pitchFamily="2" charset="-122"/>
                <a:sym typeface="宋体" pitchFamily="2" charset="-122"/>
              </a:endParaRPr>
            </a:p>
          </p:txBody>
        </p:sp>
      </p:grpSp>
      <p:sp>
        <p:nvSpPr>
          <p:cNvPr id="14" name="TextBox 41"/>
          <p:cNvSpPr>
            <a:spLocks noChangeArrowheads="1"/>
          </p:cNvSpPr>
          <p:nvPr/>
        </p:nvSpPr>
        <p:spPr bwMode="auto">
          <a:xfrm>
            <a:off x="395554" y="551773"/>
            <a:ext cx="2590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6000" b="1" dirty="0" smtClean="0">
                <a:solidFill>
                  <a:schemeClr val="bg1"/>
                </a:solidFill>
                <a:latin typeface="BatangChe" pitchFamily="49" charset="-127"/>
                <a:ea typeface="BatangChe" pitchFamily="49" charset="-127"/>
                <a:sym typeface="BatangChe" pitchFamily="49" charset="-127"/>
              </a:rPr>
              <a:t>06</a:t>
            </a:r>
            <a:endParaRPr lang="zh-CN" altLang="en-US" sz="6000" b="1" dirty="0">
              <a:solidFill>
                <a:schemeClr val="bg1"/>
              </a:solidFill>
              <a:latin typeface="BatangChe" pitchFamily="49" charset="-127"/>
              <a:ea typeface="BatangChe" pitchFamily="49" charset="-127"/>
              <a:sym typeface="BatangChe" pitchFamily="49" charset="-127"/>
            </a:endParaRPr>
          </a:p>
        </p:txBody>
      </p:sp>
    </p:spTree>
    <p:extLst>
      <p:ext uri="{BB962C8B-B14F-4D97-AF65-F5344CB8AC3E}">
        <p14:creationId xmlns:p14="http://schemas.microsoft.com/office/powerpoint/2010/main" val="2364538174"/>
      </p:ext>
    </p:extLst>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2290" name="TextBox 7"/>
          <p:cNvSpPr>
            <a:spLocks noChangeArrowheads="1"/>
          </p:cNvSpPr>
          <p:nvPr/>
        </p:nvSpPr>
        <p:spPr bwMode="auto">
          <a:xfrm>
            <a:off x="7721600" y="-92075"/>
            <a:ext cx="5143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5400" b="1">
                <a:solidFill>
                  <a:srgbClr val="05AFC8"/>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2292" name="TextBox 10"/>
          <p:cNvSpPr>
            <a:spLocks noChangeArrowheads="1"/>
          </p:cNvSpPr>
          <p:nvPr/>
        </p:nvSpPr>
        <p:spPr bwMode="auto">
          <a:xfrm>
            <a:off x="8091488" y="-92075"/>
            <a:ext cx="4937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FFC000"/>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2293" name="TextBox 11"/>
          <p:cNvSpPr>
            <a:spLocks noChangeArrowheads="1"/>
          </p:cNvSpPr>
          <p:nvPr/>
        </p:nvSpPr>
        <p:spPr bwMode="auto">
          <a:xfrm>
            <a:off x="8523288" y="-92075"/>
            <a:ext cx="4222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5400" b="1">
                <a:solidFill>
                  <a:srgbClr val="FA4453"/>
                </a:solidFill>
                <a:latin typeface="微软雅黑" pitchFamily="34" charset="-122"/>
                <a:ea typeface="微软雅黑" pitchFamily="34" charset="-122"/>
                <a:sym typeface="微软雅黑" pitchFamily="34" charset="-122"/>
              </a:rPr>
              <a:t>·</a:t>
            </a:r>
            <a:endParaRPr lang="zh-CN" altLang="en-US" sz="5400" b="1">
              <a:solidFill>
                <a:srgbClr val="FA4453"/>
              </a:solidFill>
              <a:latin typeface="微软雅黑" pitchFamily="34" charset="-122"/>
              <a:ea typeface="微软雅黑" pitchFamily="34" charset="-122"/>
              <a:sym typeface="微软雅黑" pitchFamily="34" charset="-122"/>
            </a:endParaRPr>
          </a:p>
        </p:txBody>
      </p:sp>
      <p:sp>
        <p:nvSpPr>
          <p:cNvPr id="12295" name="矩形 1"/>
          <p:cNvSpPr>
            <a:spLocks noChangeArrowheads="1"/>
          </p:cNvSpPr>
          <p:nvPr/>
        </p:nvSpPr>
        <p:spPr bwMode="auto">
          <a:xfrm>
            <a:off x="683676" y="1131631"/>
            <a:ext cx="5278438" cy="2880240"/>
          </a:xfrm>
          <a:prstGeom prst="rect">
            <a:avLst/>
          </a:prstGeom>
          <a:solidFill>
            <a:srgbClr val="F2747E"/>
          </a:solidFill>
          <a:ln>
            <a:noFill/>
          </a:ln>
          <a:extLst/>
        </p:spPr>
        <p:txBody>
          <a:bodyPr anchor="t"/>
          <a:lstStyle/>
          <a:p>
            <a:r>
              <a:rPr lang="en-US" altLang="zh-TW" dirty="0" smtClean="0">
                <a:latin typeface="微软雅黑" pitchFamily="34" charset="-122"/>
                <a:ea typeface="微软雅黑" pitchFamily="34" charset="-122"/>
                <a:sym typeface="Wingdings" panose="05000000000000000000" pitchFamily="2" charset="2"/>
              </a:rPr>
              <a:t></a:t>
            </a:r>
            <a:r>
              <a:rPr lang="zh-TW" altLang="en-US" dirty="0" smtClean="0">
                <a:latin typeface="微软雅黑" pitchFamily="34" charset="-122"/>
                <a:ea typeface="微软雅黑" pitchFamily="34" charset="-122"/>
                <a:sym typeface="Wingdings" panose="05000000000000000000" pitchFamily="2" charset="2"/>
              </a:rPr>
              <a:t> </a:t>
            </a:r>
            <a:r>
              <a:rPr lang="en-US" altLang="zh-TW" dirty="0" smtClean="0">
                <a:latin typeface="微软雅黑" pitchFamily="34" charset="-122"/>
                <a:ea typeface="微软雅黑" pitchFamily="34" charset="-122"/>
                <a:sym typeface="微软雅黑" pitchFamily="34" charset="-122"/>
              </a:rPr>
              <a:t>Code</a:t>
            </a:r>
            <a:r>
              <a:rPr lang="zh-TW" altLang="en-US" dirty="0">
                <a:latin typeface="微软雅黑" pitchFamily="34" charset="-122"/>
                <a:ea typeface="微软雅黑" pitchFamily="34" charset="-122"/>
                <a:sym typeface="微软雅黑" pitchFamily="34" charset="-122"/>
              </a:rPr>
              <a:t>參考來源</a:t>
            </a:r>
            <a:r>
              <a:rPr lang="en-US" altLang="zh-TW" dirty="0">
                <a:latin typeface="微软雅黑" pitchFamily="34" charset="-122"/>
                <a:ea typeface="微软雅黑" pitchFamily="34" charset="-122"/>
                <a:sym typeface="微软雅黑" pitchFamily="34" charset="-122"/>
              </a:rPr>
              <a:t>:</a:t>
            </a:r>
          </a:p>
          <a:p>
            <a:endParaRPr lang="en-US" altLang="zh-TW" dirty="0" smtClean="0">
              <a:solidFill>
                <a:srgbClr val="FFFFFF"/>
              </a:solidFill>
              <a:latin typeface="微软雅黑" pitchFamily="34" charset="-122"/>
              <a:ea typeface="微软雅黑" pitchFamily="34" charset="-122"/>
              <a:sym typeface="微软雅黑" pitchFamily="34" charset="-122"/>
            </a:endParaRPr>
          </a:p>
          <a:p>
            <a:r>
              <a:rPr lang="en-US" altLang="zh-TW" dirty="0" smtClean="0">
                <a:solidFill>
                  <a:srgbClr val="FFFFFF"/>
                </a:solidFill>
                <a:latin typeface="微软雅黑" pitchFamily="34" charset="-122"/>
                <a:ea typeface="微软雅黑" pitchFamily="34" charset="-122"/>
                <a:sym typeface="微软雅黑" pitchFamily="34" charset="-122"/>
              </a:rPr>
              <a:t>https</a:t>
            </a:r>
            <a:r>
              <a:rPr lang="en-US" altLang="zh-TW" dirty="0">
                <a:solidFill>
                  <a:srgbClr val="FFFFFF"/>
                </a:solidFill>
                <a:latin typeface="微软雅黑" pitchFamily="34" charset="-122"/>
                <a:ea typeface="微软雅黑" pitchFamily="34" charset="-122"/>
                <a:sym typeface="微软雅黑" pitchFamily="34" charset="-122"/>
              </a:rPr>
              <a:t>://www.ocf.berkeley.edu/~janastas/supervised-learning-with-text-1-03-01-sheet.html</a:t>
            </a:r>
          </a:p>
          <a:p>
            <a:r>
              <a:rPr lang="en-US" altLang="zh-TW" dirty="0">
                <a:solidFill>
                  <a:srgbClr val="FFFFFF"/>
                </a:solidFill>
                <a:latin typeface="微软雅黑" pitchFamily="34" charset="-122"/>
                <a:ea typeface="微软雅黑" pitchFamily="34" charset="-122"/>
                <a:sym typeface="微软雅黑" pitchFamily="34" charset="-122"/>
              </a:rPr>
              <a:t>https://www.tidytextmining.com/ngrams.html</a:t>
            </a:r>
          </a:p>
          <a:p>
            <a:endParaRPr lang="en-US" altLang="zh-TW" dirty="0" smtClean="0">
              <a:solidFill>
                <a:srgbClr val="FFFFFF"/>
              </a:solidFill>
              <a:latin typeface="微软雅黑" pitchFamily="34" charset="-122"/>
              <a:ea typeface="微软雅黑" pitchFamily="34" charset="-122"/>
              <a:sym typeface="微软雅黑" pitchFamily="34" charset="-122"/>
            </a:endParaRPr>
          </a:p>
          <a:p>
            <a:r>
              <a:rPr lang="en-US" altLang="zh-TW" dirty="0" smtClean="0">
                <a:latin typeface="微软雅黑" pitchFamily="34" charset="-122"/>
                <a:ea typeface="微软雅黑" pitchFamily="34" charset="-122"/>
                <a:sym typeface="Wingdings" panose="05000000000000000000" pitchFamily="2" charset="2"/>
              </a:rPr>
              <a:t></a:t>
            </a:r>
            <a:r>
              <a:rPr lang="zh-TW" altLang="en-US" dirty="0" smtClean="0">
                <a:latin typeface="微软雅黑" pitchFamily="34" charset="-122"/>
                <a:ea typeface="微软雅黑" pitchFamily="34" charset="-122"/>
                <a:sym typeface="Wingdings" panose="05000000000000000000" pitchFamily="2" charset="2"/>
              </a:rPr>
              <a:t> </a:t>
            </a:r>
            <a:r>
              <a:rPr lang="en-US" altLang="zh-TW" dirty="0" smtClean="0">
                <a:latin typeface="微软雅黑" pitchFamily="34" charset="-122"/>
                <a:ea typeface="微软雅黑" pitchFamily="34" charset="-122"/>
                <a:sym typeface="微软雅黑" pitchFamily="34" charset="-122"/>
              </a:rPr>
              <a:t>2014</a:t>
            </a:r>
            <a:r>
              <a:rPr lang="zh-TW" altLang="en-US" dirty="0">
                <a:latin typeface="微软雅黑" pitchFamily="34" charset="-122"/>
                <a:ea typeface="微软雅黑" pitchFamily="34" charset="-122"/>
                <a:sym typeface="微软雅黑" pitchFamily="34" charset="-122"/>
              </a:rPr>
              <a:t>重要事件或是熱門關鍵字參考來源</a:t>
            </a:r>
            <a:r>
              <a:rPr lang="en-US" altLang="zh-TW" dirty="0">
                <a:latin typeface="微软雅黑" pitchFamily="34" charset="-122"/>
                <a:ea typeface="微软雅黑" pitchFamily="34" charset="-122"/>
                <a:sym typeface="微软雅黑" pitchFamily="34" charset="-122"/>
              </a:rPr>
              <a:t>:</a:t>
            </a:r>
          </a:p>
          <a:p>
            <a:endParaRPr lang="en-US" altLang="zh-TW" dirty="0" smtClean="0">
              <a:solidFill>
                <a:srgbClr val="FFFFFF"/>
              </a:solidFill>
              <a:latin typeface="微软雅黑" pitchFamily="34" charset="-122"/>
              <a:ea typeface="微软雅黑" pitchFamily="34" charset="-122"/>
              <a:sym typeface="微软雅黑" pitchFamily="34" charset="-122"/>
            </a:endParaRPr>
          </a:p>
          <a:p>
            <a:r>
              <a:rPr lang="en-US" altLang="zh-TW" dirty="0" smtClean="0">
                <a:solidFill>
                  <a:srgbClr val="FFFFFF"/>
                </a:solidFill>
                <a:latin typeface="微软雅黑" pitchFamily="34" charset="-122"/>
                <a:ea typeface="微软雅黑" pitchFamily="34" charset="-122"/>
                <a:sym typeface="微软雅黑" pitchFamily="34" charset="-122"/>
              </a:rPr>
              <a:t>https</a:t>
            </a:r>
            <a:r>
              <a:rPr lang="en-US" altLang="zh-TW" dirty="0">
                <a:solidFill>
                  <a:srgbClr val="FFFFFF"/>
                </a:solidFill>
                <a:latin typeface="微软雅黑" pitchFamily="34" charset="-122"/>
                <a:ea typeface="微软雅黑" pitchFamily="34" charset="-122"/>
                <a:sym typeface="微软雅黑" pitchFamily="34" charset="-122"/>
              </a:rPr>
              <a:t>://www.google.com.tw/trends/2014/</a:t>
            </a:r>
          </a:p>
          <a:p>
            <a:r>
              <a:rPr lang="en-US" altLang="zh-TW" dirty="0">
                <a:solidFill>
                  <a:srgbClr val="FFFFFF"/>
                </a:solidFill>
                <a:latin typeface="微软雅黑" pitchFamily="34" charset="-122"/>
                <a:ea typeface="微软雅黑" pitchFamily="34" charset="-122"/>
                <a:sym typeface="微软雅黑" pitchFamily="34" charset="-122"/>
              </a:rPr>
              <a:t>https://en.wikipedia.org/wiki/2014</a:t>
            </a:r>
          </a:p>
        </p:txBody>
      </p:sp>
      <p:grpSp>
        <p:nvGrpSpPr>
          <p:cNvPr id="9" name="组合 1"/>
          <p:cNvGrpSpPr>
            <a:grpSpLocks/>
          </p:cNvGrpSpPr>
          <p:nvPr/>
        </p:nvGrpSpPr>
        <p:grpSpPr bwMode="auto">
          <a:xfrm>
            <a:off x="5335888" y="220442"/>
            <a:ext cx="3816350" cy="406400"/>
            <a:chOff x="0" y="0"/>
            <a:chExt cx="3816672" cy="405750"/>
          </a:xfrm>
        </p:grpSpPr>
        <p:sp>
          <p:nvSpPr>
            <p:cNvPr id="10" name="直接连接符 2"/>
            <p:cNvSpPr>
              <a:spLocks noChangeShapeType="1"/>
            </p:cNvSpPr>
            <p:nvPr/>
          </p:nvSpPr>
          <p:spPr bwMode="auto">
            <a:xfrm flipV="1">
              <a:off x="782416" y="40650"/>
              <a:ext cx="1" cy="288032"/>
            </a:xfrm>
            <a:prstGeom prst="line">
              <a:avLst/>
            </a:prstGeom>
            <a:noFill/>
            <a:ln w="19050" cap="flat" cmpd="sng">
              <a:solidFill>
                <a:srgbClr val="595959"/>
              </a:solidFill>
              <a:bevel/>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TextBox 3"/>
            <p:cNvSpPr>
              <a:spLocks noChangeArrowheads="1"/>
            </p:cNvSpPr>
            <p:nvPr/>
          </p:nvSpPr>
          <p:spPr bwMode="auto">
            <a:xfrm>
              <a:off x="0" y="5640"/>
              <a:ext cx="7824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2000" b="1" dirty="0">
                  <a:solidFill>
                    <a:srgbClr val="3F3F3F"/>
                  </a:solidFill>
                  <a:latin typeface="微软雅黑" pitchFamily="34" charset="-122"/>
                  <a:ea typeface="微软雅黑" pitchFamily="34" charset="-122"/>
                  <a:sym typeface="微软雅黑" pitchFamily="34" charset="-122"/>
                </a:rPr>
                <a:t>6</a:t>
              </a:r>
              <a:endParaRPr lang="zh-CN" altLang="en-US" sz="2000" b="1" dirty="0">
                <a:solidFill>
                  <a:srgbClr val="3F3F3F"/>
                </a:solidFill>
                <a:latin typeface="微软雅黑" pitchFamily="34" charset="-122"/>
                <a:ea typeface="微软雅黑" pitchFamily="34" charset="-122"/>
                <a:sym typeface="微软雅黑" pitchFamily="34" charset="-122"/>
              </a:endParaRPr>
            </a:p>
          </p:txBody>
        </p:sp>
        <p:sp>
          <p:nvSpPr>
            <p:cNvPr id="12" name="TextBox 4"/>
            <p:cNvSpPr>
              <a:spLocks noChangeArrowheads="1"/>
            </p:cNvSpPr>
            <p:nvPr/>
          </p:nvSpPr>
          <p:spPr bwMode="auto">
            <a:xfrm>
              <a:off x="792336" y="0"/>
              <a:ext cx="30243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TW" altLang="en-US" b="1" dirty="0" smtClean="0">
                  <a:solidFill>
                    <a:srgbClr val="3F3F3F"/>
                  </a:solidFill>
                  <a:latin typeface="微软雅黑" pitchFamily="34" charset="-122"/>
                  <a:ea typeface="微软雅黑" pitchFamily="34" charset="-122"/>
                  <a:sym typeface="微软雅黑" pitchFamily="34" charset="-122"/>
                </a:rPr>
                <a:t>參考資料</a:t>
              </a:r>
              <a:endParaRPr lang="zh-CN" altLang="en-US" b="1" dirty="0">
                <a:solidFill>
                  <a:srgbClr val="3F3F3F"/>
                </a:solidFill>
                <a:latin typeface="微软雅黑" pitchFamily="34" charset="-122"/>
                <a:ea typeface="微软雅黑" pitchFamily="34" charset="-122"/>
                <a:sym typeface="微软雅黑" pitchFamily="34" charset="-122"/>
              </a:endParaRPr>
            </a:p>
          </p:txBody>
        </p:sp>
      </p:grpSp>
    </p:spTree>
    <p:extLst>
      <p:ext uri="{BB962C8B-B14F-4D97-AF65-F5344CB8AC3E}">
        <p14:creationId xmlns:p14="http://schemas.microsoft.com/office/powerpoint/2010/main" val="6083082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p:cBhvr>
                                        <p:cTn id="7" dur="500"/>
                                        <p:tgtEl>
                                          <p:spTgt spid="12290">
                                            <p:txEl>
                                              <p:pRg st="0" end="0"/>
                                            </p:txEl>
                                          </p:spTgt>
                                        </p:tgtEl>
                                      </p:cBhvr>
                                    </p:animEffect>
                                  </p:childTnLst>
                                </p:cTn>
                              </p:par>
                              <p:par>
                                <p:cTn id="8" presetID="26" presetClass="emph" presetSubtype="0" fill="hold" grpId="0" nodeType="withEffect">
                                  <p:stCondLst>
                                    <p:cond delay="0"/>
                                  </p:stCondLst>
                                  <p:childTnLst>
                                    <p:animEffect>
                                      <p:cBhvr>
                                        <p:cTn id="9" dur="500" tmFilter="0, 0; .2, .5; .8, .5; 1, 0"/>
                                        <p:tgtEl>
                                          <p:spTgt spid="12290">
                                            <p:txEl>
                                              <p:pRg st="0" end="0"/>
                                            </p:txEl>
                                          </p:spTgt>
                                        </p:tgtEl>
                                      </p:cBhvr>
                                    </p:animEffect>
                                    <p:animScale>
                                      <p:cBhvr>
                                        <p:cTn id="10" dur="250" autoRev="1" fill="hold"/>
                                        <p:tgtEl>
                                          <p:spTgt spid="12290">
                                            <p:txEl>
                                              <p:pRg st="0" end="0"/>
                                            </p:txEl>
                                          </p:spTgt>
                                        </p:tgtEl>
                                      </p:cBhvr>
                                      <p:by x="105000" y="105000"/>
                                    </p:animScale>
                                  </p:childTnLst>
                                </p:cTn>
                              </p:par>
                              <p:par>
                                <p:cTn id="11" presetID="10" presetClass="entr" presetSubtype="0" fill="hold" grpId="0" nodeType="withEffect">
                                  <p:stCondLst>
                                    <p:cond delay="0"/>
                                  </p:stCondLst>
                                  <p:childTnLst>
                                    <p:set>
                                      <p:cBhvr>
                                        <p:cTn id="12" dur="1" fill="hold">
                                          <p:stCondLst>
                                            <p:cond delay="0"/>
                                          </p:stCondLst>
                                        </p:cTn>
                                        <p:tgtEl>
                                          <p:spTgt spid="12292"/>
                                        </p:tgtEl>
                                        <p:attrNameLst>
                                          <p:attrName>style.visibility</p:attrName>
                                        </p:attrNameLst>
                                      </p:cBhvr>
                                      <p:to>
                                        <p:strVal val="visible"/>
                                      </p:to>
                                    </p:set>
                                    <p:animEffect>
                                      <p:cBhvr>
                                        <p:cTn id="13" dur="500"/>
                                        <p:tgtEl>
                                          <p:spTgt spid="12292"/>
                                        </p:tgtEl>
                                      </p:cBhvr>
                                    </p:animEffect>
                                  </p:childTnLst>
                                </p:cTn>
                              </p:par>
                              <p:par>
                                <p:cTn id="14" presetID="26" presetClass="emph" presetSubtype="0" fill="hold" grpId="1" nodeType="withEffect">
                                  <p:stCondLst>
                                    <p:cond delay="0"/>
                                  </p:stCondLst>
                                  <p:childTnLst>
                                    <p:animEffect>
                                      <p:cBhvr>
                                        <p:cTn id="15" dur="500" tmFilter="0, 0; .2, .5; .8, .5; 1, 0"/>
                                        <p:tgtEl>
                                          <p:spTgt spid="12292">
                                            <p:txEl>
                                              <p:pRg st="0" end="0"/>
                                            </p:txEl>
                                          </p:spTgt>
                                        </p:tgtEl>
                                      </p:cBhvr>
                                    </p:animEffect>
                                    <p:animScale>
                                      <p:cBhvr>
                                        <p:cTn id="16" dur="250" autoRev="1" fill="hold"/>
                                        <p:tgtEl>
                                          <p:spTgt spid="12292">
                                            <p:txEl>
                                              <p:pRg st="0" end="0"/>
                                            </p:txEl>
                                          </p:spTgt>
                                        </p:tgtEl>
                                      </p:cBhvr>
                                      <p:by x="105000" y="105000"/>
                                    </p:animScale>
                                  </p:childTnLst>
                                </p:cTn>
                              </p:par>
                              <p:par>
                                <p:cTn id="17" presetID="10" presetClass="entr" presetSubtype="0" fill="hold" grpId="0" nodeType="withEffect">
                                  <p:stCondLst>
                                    <p:cond delay="0"/>
                                  </p:stCondLst>
                                  <p:childTnLst>
                                    <p:set>
                                      <p:cBhvr>
                                        <p:cTn id="18" dur="1" fill="hold">
                                          <p:stCondLst>
                                            <p:cond delay="0"/>
                                          </p:stCondLst>
                                        </p:cTn>
                                        <p:tgtEl>
                                          <p:spTgt spid="12293"/>
                                        </p:tgtEl>
                                        <p:attrNameLst>
                                          <p:attrName>style.visibility</p:attrName>
                                        </p:attrNameLst>
                                      </p:cBhvr>
                                      <p:to>
                                        <p:strVal val="visible"/>
                                      </p:to>
                                    </p:set>
                                    <p:animEffect>
                                      <p:cBhvr>
                                        <p:cTn id="19" dur="500"/>
                                        <p:tgtEl>
                                          <p:spTgt spid="12293"/>
                                        </p:tgtEl>
                                      </p:cBhvr>
                                    </p:animEffect>
                                  </p:childTnLst>
                                </p:cTn>
                              </p:par>
                              <p:par>
                                <p:cTn id="20" presetID="26" presetClass="emph" presetSubtype="0" fill="hold" grpId="1" nodeType="withEffect">
                                  <p:stCondLst>
                                    <p:cond delay="0"/>
                                  </p:stCondLst>
                                  <p:childTnLst>
                                    <p:animEffect>
                                      <p:cBhvr>
                                        <p:cTn id="21" dur="500" tmFilter="0, 0; .2, .5; .8, .5; 1, 0"/>
                                        <p:tgtEl>
                                          <p:spTgt spid="12293">
                                            <p:txEl>
                                              <p:pRg st="0" end="0"/>
                                            </p:txEl>
                                          </p:spTgt>
                                        </p:tgtEl>
                                      </p:cBhvr>
                                    </p:animEffect>
                                    <p:animScale>
                                      <p:cBhvr>
                                        <p:cTn id="22" dur="250" autoRev="1" fill="hold"/>
                                        <p:tgtEl>
                                          <p:spTgt spid="12293">
                                            <p:txEl>
                                              <p:pRg st="0" end="0"/>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allAtOnce" bldLvl="0" autoUpdateAnimBg="0"/>
      <p:bldP spid="12292" grpId="0" bldLvl="0" autoUpdateAnimBg="0"/>
      <p:bldP spid="12292" grpId="1" build="allAtOnce" bldLvl="0" autoUpdateAnimBg="0"/>
      <p:bldP spid="12293" grpId="0" bldLvl="0" autoUpdateAnimBg="0"/>
      <p:bldP spid="12293" grpId="1" build="allAtOnce" bldLvl="0" autoUpdateAnimBg="0"/>
    </p:bldLst>
  </p:timing>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321</TotalTime>
  <Pages>0</Pages>
  <Words>2182</Words>
  <Characters>0</Characters>
  <Application>Microsoft Office PowerPoint</Application>
  <DocSecurity>0</DocSecurity>
  <PresentationFormat>如螢幕大小 (16:9)</PresentationFormat>
  <Lines>0</Lines>
  <Paragraphs>359</Paragraphs>
  <Slides>36</Slides>
  <Notes>7</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36</vt:i4>
      </vt:variant>
    </vt:vector>
  </HeadingPairs>
  <TitlesOfParts>
    <vt:vector size="49" baseType="lpstr">
      <vt:lpstr>Arial Unicode MS</vt:lpstr>
      <vt:lpstr>BatangChe</vt:lpstr>
      <vt:lpstr>Kokila</vt:lpstr>
      <vt:lpstr>Microsoft YaHei</vt:lpstr>
      <vt:lpstr>Microsoft YaHei</vt:lpstr>
      <vt:lpstr>SimSun</vt:lpstr>
      <vt:lpstr>方正小标宋简体</vt:lpstr>
      <vt:lpstr>新細明體</vt:lpstr>
      <vt:lpstr>Arial</vt:lpstr>
      <vt:lpstr>Calibri</vt:lpstr>
      <vt:lpstr>Consolas</vt:lpstr>
      <vt:lpstr>Wingdings</vt:lpstr>
      <vt:lpstr>Office 主题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杨睿</dc:creator>
  <cp:lastModifiedBy>怡禎 邱</cp:lastModifiedBy>
  <cp:revision>103</cp:revision>
  <dcterms:created xsi:type="dcterms:W3CDTF">1988-01-08T08:00:00Z</dcterms:created>
  <dcterms:modified xsi:type="dcterms:W3CDTF">2018-06-06T16:28:54Z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2052-9.1.0.4885</vt:lpwstr>
  </property>
</Properties>
</file>